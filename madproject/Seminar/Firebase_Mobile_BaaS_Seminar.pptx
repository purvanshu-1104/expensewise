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1"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4759589-7B43-72C3-04F1-905279BFDBBC}">
          <p14:sldIdLst>
            <p14:sldId id="256"/>
            <p14:sldId id="257"/>
            <p14:sldId id="258"/>
          </p14:sldIdLst>
        </p14:section>
        <p14:section name="Concepts and architecture" id="{53F34853-3DBF-E4F8-B472-F5FF13A8E382}">
          <p14:sldIdLst>
            <p14:sldId id="259"/>
            <p14:sldId id="260"/>
            <p14:sldId id="261"/>
            <p14:sldId id="262"/>
          </p14:sldIdLst>
        </p14:section>
        <p14:section name="Tools and applications" id="{147D837B-AD56-78F5-4678-B41CB5636FC3}">
          <p14:sldIdLst>
            <p14:sldId id="263"/>
            <p14:sldId id="264"/>
            <p14:sldId id="265"/>
          </p14:sldIdLst>
        </p14:section>
        <p14:section name="Demo" id="{FA9D5008-7652-A507-9898-3BAC2A381C1B}">
          <p14:sldIdLst>
            <p14:sldId id="266"/>
            <p14:sldId id="267"/>
          </p14:sldIdLst>
        </p14:section>
        <p14:section name="Outlook and wrap-up" id="{F61D870B-3844-AA77-BAD1-F14CF8998AD6}">
          <p14:sldIdLst>
            <p14:sldId id="268"/>
            <p14:sldId id="269"/>
            <p14:sldId id="270"/>
            <p14:sldId id="272"/>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955" y="38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72319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Our topic is Firebase, Google's Backend-as-a-Service platform for mobile apps. In the next few minutes we will cover what it is, how it works, how to use it, and a short demo. Introduce all group members here and say which part each will present.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plan. We divided the topic so every member presents one clearly defined part and can answer questions on it. Change the speaker boxes to match your group size and names.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Firebase is a Google platform that gives mobile and web developers ready-made backend services. BaaS means we do not build or run our own servers for common needs like login, database and push notifications; we call them from the app through SDKs. This is why small teams and students can build full apps quickly.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Firebase started in 2011 as a startup offering a realtime database. In 2014 it added Authentication and Hosting, and in October 2014 Google acquired it. Firebase Cloud Messaging later replaced Google Cloud Messaging for push notifications. In 2017 Cloud Firestore was launched as the newer database, and Crashlytics joined from Twitter's Fabric. Firestore became generally available in 2019. In 2026 the focus is SQL Connect and AI features. The Firebase CLI is currently on version 15.x.</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ideas define Firebase. Realtime sync: when data changes, all listening devices update. Offline support: the SDK caches data locally. Serverless scaling: Google handles the infrastructure. Cross-platform: the same backend serves Android, iOS, Flutter and web. Explain the word serverless simply: servers still exist, but we do not manage them.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Firebase products fall into three families. Build covers what the app needs to run: Authentication for login, Firestore and Realtime Database for data, Storage for files, Functions for backend code, Hosting for web, and AI Logic for generative AI. Release and monitor covers quality and security: App Check, Crashlytics for crash reports, Performance Monitoring, Test Lab and App Distribution. Engage covers growth: Analytics, Cloud Messaging for push notifications, Remote Config and A/B Testing.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 1) The mobile app uses the Firebase SDK. 2) Every request passes through Security Rules and App Check, which decide who is allowed to read or write and whether the request really comes from our app. 3) The chosen service, for example Firestore or Auth, does the work. 4) Changes stream back to all connected devices in real time, and Cloud Messaging can also push notifications. Everything runs on Google Cloud, which scales automatically.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Languages: Kotlin or Java for Android, Swift for iOS, Dart for Flutter, and JavaScript or TypeScript for React Native and Cloud Functions. SDKs: Firebase provides native Android and iOS SDKs, FlutterFire for Flutter, React Native Firebase, Unity and C++ SDKs, plus the Admin SDK and REST APIs for servers. Tools: the Firebase Console for managing the project, the CLI for deploying, the Emulator Suite for testing locally, Test Lab for device testing and Crashlytics for crash reports.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well-known companies use Firebase. Reported examples: Duolingo uses storage, Cloud Functions and messaging; The New York Times has used Cloud Firestore for an editorial tool; Trivago uses Firebase analytics. Alibaba, NPR and Venmo appear on Firebase's own list of app makers. These examples come from Firebase's website and third-party articles (see references), so describe them as reported rather than confirmed architectures.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Benefits: speed of development, built-in realtime and offline features, a free tier, strong cross-platform support and integration with Google Cloud. Challenges: lock-in, because moving away from Firebase takes work; costs, because Firestore bills per read and write on the Blaze pay-as-you-go plan; the free Spark plan has hard limits, and heavy features like Cloud Functions need Blaze; and NoSQL queries are more limited than SQL. Always check the official pricing page for current limits.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code. Step 1 signs the user in with Firebase Authentication. Step 2 writes a task document into the tasks collection in Firestore. Step 3 listens to the collection; the snapshots stream fires every time data changes, on every device. On the right are Security Rules: they allow a user to create a task only with their own user id, and to read or delete only their own tasks. Mention the rules are enforced on Google's servers. Before presenting, test this code in your own project, or run the demo from screenshots or a recording.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plan (about 2 minutes): create the Firebase project, register the app, run flutterfire configure, add the packages, then show the app on an emulator or device. Sign in, add a task, and show it appearing in the Firestore console and on a second device or emulator in real time. If a live demo is not possible, use screenshots or a recording. The phone drawings are placeholders for your real screenshots.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Recent news from Cloud Next and Google I/O 2026: Data Connect evolved into SQL Connect, bringing realtime sync to PostgreSQL. Firebase AI Logic supports the Gemini 3.x models directly from mobile and web apps. Phone Number Verification reached general availability in May 2026. Agent Skills let AI coding agents such as those in Android Studio and Antigravity set up Firebase. Cloud Functions gained experimental Dart support, and App Check added replay-attack protection. Also mention: Remote Config moved to usage-based pricing on 1 September 2026. Check the Firebase release notes for the latest changes.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opportunities: AI features built straight into apps, agent-assisted development, combining SQL with realtime updates, and passwordless sign-in. It is also worth knowing the alternatives: Supabase is open source and built on PostgreSQL, AWS Amplify fits the AWS ecosystem, and Appwrite is open source and self-hostable. Choosing a BaaS means weighing speed, cost and lock-in.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in your own words: what Firebase is, how apps talk to it, its main strengths, the cost and lock-in trade-offs, and where it is heading. Then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sources used for this seminar. Open them before presenting so you can answer questions about the facts and figures.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Listen carefully, answer concisely, and if you do not know an answer, say so honestly. Other group members can support on their sections.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lstStyle>
            <a:lvl1pPr marL="0" indent="0">
              <a:buNone/>
              <a:defRPr lang="en-US" sz="3200" b="1" dirty="0">
                <a:solidFill>
                  <a:schemeClr val="tx1"/>
                </a:solidFill>
              </a:defRPr>
            </a:lvl1pPr>
          </a:lstStyle>
          <a:p>
            <a:pPr marL="0" indent="0">
              <a:buNone/>
            </a:pPr>
            <a:endParaRPr lang="en-US" sz="3200" dirty="0"/>
          </a:p>
        </p:txBody>
      </p:sp>
      <p:sp>
        <p:nvSpPr>
          <p:cNvPr id="3" name="Text 0"/>
          <p:cNvSpPr/>
          <p:nvPr/>
        </p:nvSpPr>
        <p:spPr>
          <a:xfrm>
            <a:off x="457200" y="4773168"/>
            <a:ext cx="6400800" cy="228600"/>
          </a:xfrm>
          <a:prstGeom prst="rect">
            <a:avLst/>
          </a:prstGeom>
          <a:noFill/>
          <a:ln/>
        </p:spPr>
        <p:txBody>
          <a:bodyPr wrap="square" lIns="0" tIns="0" rIns="0" bIns="0" rtlCol="0" anchor="ctr"/>
          <a:lstStyle/>
          <a:p>
            <a:pPr marL="0" indent="0">
              <a:buNone/>
            </a:pPr>
            <a:r>
              <a:rPr lang="en-US" sz="1000" dirty="0">
                <a:solidFill>
                  <a:schemeClr val="tx2"/>
                </a:solidFill>
              </a:rPr>
              <a:t>Firebase and Mobile BaaS  |  Mobile Application Development Seminar</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a:spLocks noGrp="1"/>
          </p:cNvSpPr>
          <p:nvPr>
            <p:ph type="title" idx="101" hasCustomPrompt="1"/>
          </p:nvPr>
        </p:nvSpPr>
        <p:spPr>
          <a:xfrm>
            <a:off x="457200" y="274320"/>
            <a:ext cx="8229600" cy="731520"/>
          </a:xfrm>
          <a:prstGeom prst="rect">
            <a:avLst/>
          </a:prstGeom>
          <a:noFill/>
          <a:ln/>
        </p:spPr>
        <p:txBody>
          <a:bodyPr wrap="square" rtlCol="0"/>
          <a:lstStyle>
            <a:lvl1pPr marL="0" indent="0">
              <a:buNone/>
              <a:defRPr lang="en-US" sz="3200" b="1" dirty="0">
                <a:solidFill>
                  <a:schemeClr val="bg1"/>
                </a:solidFill>
              </a:defRPr>
            </a:lvl1pPr>
          </a:lstStyle>
          <a:p>
            <a:pPr marL="0" indent="0">
              <a:buNone/>
            </a:pPr>
            <a:endParaRPr lang="en-US" sz="3200" dirty="0"/>
          </a:p>
        </p:txBody>
      </p:sp>
      <p:sp>
        <p:nvSpPr>
          <p:cNvPr id="4" name="Text 1"/>
          <p:cNvSpPr/>
          <p:nvPr/>
        </p:nvSpPr>
        <p:spPr>
          <a:xfrm>
            <a:off x="457200" y="4773168"/>
            <a:ext cx="6400800" cy="228600"/>
          </a:xfrm>
          <a:prstGeom prst="rect">
            <a:avLst/>
          </a:prstGeom>
          <a:noFill/>
          <a:ln/>
        </p:spPr>
        <p:txBody>
          <a:bodyPr wrap="square" lIns="0" tIns="0" rIns="0" bIns="0" rtlCol="0" anchor="ctr"/>
          <a:lstStyle/>
          <a:p>
            <a:pPr marL="0" indent="0">
              <a:buNone/>
            </a:pPr>
            <a:r>
              <a:rPr lang="en-US" sz="1000" dirty="0">
                <a:solidFill>
                  <a:schemeClr val="accent6"/>
                </a:solidFill>
              </a:rPr>
              <a:t>Firebase and Mobile BaaS  |  Mobile Application Development Seminar</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a:spLocks noGrp="1"/>
          </p:cNvSpPr>
          <p:nvPr>
            <p:ph type="title" idx="101" hasCustomPrompt="1"/>
          </p:nvPr>
        </p:nvSpPr>
        <p:spPr>
          <a:xfrm>
            <a:off x="548640" y="822960"/>
            <a:ext cx="4937760" cy="2194560"/>
          </a:xfrm>
          <a:prstGeom prst="rect">
            <a:avLst/>
          </a:prstGeom>
          <a:noFill/>
          <a:ln/>
        </p:spPr>
        <p:txBody>
          <a:bodyPr wrap="square" rtlCol="0"/>
          <a:lstStyle>
            <a:lvl1pPr marL="0" indent="0" algn="l">
              <a:buNone/>
              <a:defRPr lang="en-US" sz="3800" b="1" dirty="0">
                <a:solidFill>
                  <a:schemeClr val="bg1"/>
                </a:solidFill>
              </a:defRPr>
            </a:lvl1pPr>
          </a:lstStyle>
          <a:p>
            <a:pPr marL="0" indent="0" algn="l">
              <a:buNone/>
            </a:pPr>
            <a:endParaRPr lang="en-US" sz="3800" dirty="0"/>
          </a:p>
        </p:txBody>
      </p:sp>
      <p:sp>
        <p:nvSpPr>
          <p:cNvPr id="4" name="Text 1"/>
          <p:cNvSpPr>
            <a:spLocks noGrp="1"/>
          </p:cNvSpPr>
          <p:nvPr>
            <p:ph type="body" idx="102" hasCustomPrompt="1"/>
          </p:nvPr>
        </p:nvSpPr>
        <p:spPr>
          <a:xfrm>
            <a:off x="548640" y="3246120"/>
            <a:ext cx="4937760" cy="1188720"/>
          </a:xfrm>
          <a:prstGeom prst="rect">
            <a:avLst/>
          </a:prstGeom>
          <a:noFill/>
          <a:ln/>
        </p:spPr>
        <p:txBody>
          <a:bodyPr wrap="square" rtlCol="0"/>
          <a:lstStyle>
            <a:lvl1pPr marL="0" indent="0">
              <a:buNone/>
              <a:defRPr lang="en-US" sz="1600" dirty="0">
                <a:solidFill>
                  <a:schemeClr val="accent2"/>
                </a:solidFill>
              </a:defRPr>
            </a:lvl1pPr>
          </a:lstStyle>
          <a:p>
            <a:pPr marL="0" indent="0">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16.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822960"/>
            <a:ext cx="4937760" cy="2194560"/>
          </a:xfrm>
          <a:prstGeom prst="rect">
            <a:avLst/>
          </a:prstGeom>
          <a:noFill/>
          <a:ln/>
        </p:spPr>
        <p:txBody>
          <a:bodyPr wrap="square" lIns="0" tIns="0" rIns="0" bIns="0" rtlCol="0" anchor="b"/>
          <a:lstStyle/>
          <a:p>
            <a:pPr marL="0" indent="0" algn="l">
              <a:buNone/>
            </a:pPr>
            <a:r>
              <a:rPr lang="en-US" sz="3800" b="1" dirty="0">
                <a:solidFill>
                  <a:schemeClr val="bg1"/>
                </a:solidFill>
              </a:rPr>
              <a:t>Firebase and Mobile Backend-as-a-Service</a:t>
            </a:r>
            <a:endParaRPr lang="en-US" sz="3800" dirty="0"/>
          </a:p>
        </p:txBody>
      </p:sp>
      <p:sp>
        <p:nvSpPr>
          <p:cNvPr id="3" name="Text 1"/>
          <p:cNvSpPr>
            <a:spLocks noGrp="1"/>
          </p:cNvSpPr>
          <p:nvPr>
            <p:ph type="body" idx="102" hasCustomPrompt="1"/>
          </p:nvPr>
        </p:nvSpPr>
        <p:spPr>
          <a:xfrm>
            <a:off x="548640" y="3246120"/>
            <a:ext cx="4937760" cy="1188720"/>
          </a:xfrm>
          <a:prstGeom prst="rect">
            <a:avLst/>
          </a:prstGeom>
          <a:noFill/>
          <a:ln/>
        </p:spPr>
        <p:txBody>
          <a:bodyPr wrap="square" lIns="0" tIns="0" rIns="0" bIns="0" rtlCol="0" anchor="t"/>
          <a:lstStyle/>
          <a:p>
            <a:pPr marL="0" indent="0">
              <a:spcAft>
                <a:spcPts val="800"/>
              </a:spcAft>
              <a:buNone/>
            </a:pPr>
            <a:r>
              <a:rPr lang="en-US" dirty="0"/>
              <a:t>S</a:t>
            </a:r>
            <a:r>
              <a:rPr lang="en-US" sz="1600" dirty="0">
                <a:solidFill>
                  <a:schemeClr val="accent2"/>
                </a:solidFill>
              </a:rPr>
              <a:t>eminar: Mobile Application Development</a:t>
            </a:r>
            <a:endParaRPr lang="en-US" sz="1600" dirty="0"/>
          </a:p>
          <a:p>
            <a:pPr marL="0" indent="0">
              <a:buNone/>
            </a:pPr>
            <a:r>
              <a:rPr lang="en-US" sz="1400" dirty="0">
                <a:solidFill>
                  <a:schemeClr val="accent6"/>
                </a:solidFill>
              </a:rPr>
              <a:t>Prepared by :   </a:t>
            </a:r>
            <a:r>
              <a:rPr lang="en-US" sz="1400" dirty="0" err="1">
                <a:solidFill>
                  <a:schemeClr val="accent6"/>
                </a:solidFill>
              </a:rPr>
              <a:t>Purvanshu</a:t>
            </a:r>
            <a:r>
              <a:rPr lang="en-US" sz="1400" dirty="0">
                <a:solidFill>
                  <a:schemeClr val="accent6"/>
                </a:solidFill>
              </a:rPr>
              <a:t> Patel(12302080601104)</a:t>
            </a:r>
          </a:p>
          <a:p>
            <a:pPr marL="0" indent="0">
              <a:buNone/>
            </a:pPr>
            <a:r>
              <a:rPr lang="en-US" sz="1400" dirty="0">
                <a:solidFill>
                  <a:schemeClr val="accent6"/>
                </a:solidFill>
              </a:rPr>
              <a:t>                           </a:t>
            </a:r>
            <a:r>
              <a:rPr lang="en-US" sz="1400" dirty="0" err="1">
                <a:solidFill>
                  <a:schemeClr val="accent6"/>
                </a:solidFill>
              </a:rPr>
              <a:t>Mandipsinh</a:t>
            </a:r>
            <a:r>
              <a:rPr lang="en-US" sz="1400" dirty="0">
                <a:solidFill>
                  <a:schemeClr val="accent6"/>
                </a:solidFill>
              </a:rPr>
              <a:t> </a:t>
            </a:r>
            <a:r>
              <a:rPr lang="en-US" sz="1400" dirty="0" err="1">
                <a:solidFill>
                  <a:schemeClr val="accent6"/>
                </a:solidFill>
              </a:rPr>
              <a:t>sindha</a:t>
            </a:r>
            <a:r>
              <a:rPr lang="en-US" sz="1400" dirty="0">
                <a:solidFill>
                  <a:schemeClr val="accent6"/>
                </a:solidFill>
              </a:rPr>
              <a:t>(12402080603007)</a:t>
            </a:r>
          </a:p>
          <a:p>
            <a:pPr marL="0" indent="0">
              <a:buNone/>
            </a:pPr>
            <a:r>
              <a:rPr lang="en-US" sz="1400" dirty="0">
                <a:solidFill>
                  <a:schemeClr val="accent6"/>
                </a:solidFill>
              </a:rPr>
              <a:t>                           Neel </a:t>
            </a:r>
            <a:r>
              <a:rPr lang="en-US" sz="1400" dirty="0" err="1">
                <a:solidFill>
                  <a:schemeClr val="accent6"/>
                </a:solidFill>
              </a:rPr>
              <a:t>Talaviya</a:t>
            </a:r>
            <a:r>
              <a:rPr lang="en-US" sz="1400" dirty="0">
                <a:solidFill>
                  <a:schemeClr val="accent6"/>
                </a:solidFill>
              </a:rPr>
              <a:t> (12302080601081)</a:t>
            </a:r>
          </a:p>
          <a:p>
            <a:pPr marL="0" indent="0">
              <a:buNone/>
            </a:pPr>
            <a:r>
              <a:rPr lang="en-US" sz="1400" dirty="0">
                <a:solidFill>
                  <a:schemeClr val="accent6"/>
                </a:solidFill>
              </a:rPr>
              <a:t>Class : IT-B</a:t>
            </a:r>
          </a:p>
          <a:p>
            <a:pPr marL="0" indent="0">
              <a:buNone/>
            </a:pPr>
            <a:r>
              <a:rPr lang="en-US" sz="1400" dirty="0">
                <a:solidFill>
                  <a:schemeClr val="accent6"/>
                </a:solidFill>
              </a:rPr>
              <a:t>Sem :7</a:t>
            </a:r>
            <a:endParaRPr lang="en-US" sz="1600" dirty="0"/>
          </a:p>
        </p:txBody>
      </p:sp>
      <p:sp>
        <p:nvSpPr>
          <p:cNvPr id="4" name="Hero circle 1"/>
          <p:cNvSpPr/>
          <p:nvPr/>
        </p:nvSpPr>
        <p:spPr>
          <a:xfrm>
            <a:off x="6400800" y="1371600"/>
            <a:ext cx="2194560" cy="2194560"/>
          </a:xfrm>
          <a:prstGeom prst="ellipse">
            <a:avLst/>
          </a:prstGeom>
          <a:solidFill>
            <a:schemeClr val="accent2"/>
          </a:solidFill>
          <a:ln/>
        </p:spPr>
      </p:sp>
      <p:pic>
        <p:nvPicPr>
          <p:cNvPr id="5" name="Hero icon 2" descr="Fire icon (Firebase flame)"/>
          <p:cNvPicPr>
            <a:picLocks noChangeAspect="1"/>
          </p:cNvPicPr>
          <p:nvPr/>
        </p:nvPicPr>
        <p:blipFill>
          <a:blip r:embed="rId3"/>
          <a:stretch>
            <a:fillRect/>
          </a:stretch>
        </p:blipFill>
        <p:spPr>
          <a:xfrm>
            <a:off x="6949440" y="1920240"/>
            <a:ext cx="1097280" cy="1097280"/>
          </a:xfrm>
          <a:prstGeom prst="rect">
            <a:avLst/>
          </a:prstGeom>
        </p:spPr>
      </p:pic>
      <p:sp>
        <p:nvSpPr>
          <p:cNvPr id="6" name="Icon circle 3"/>
          <p:cNvSpPr/>
          <p:nvPr/>
        </p:nvSpPr>
        <p:spPr>
          <a:xfrm>
            <a:off x="5669280" y="914400"/>
            <a:ext cx="731520" cy="731520"/>
          </a:xfrm>
          <a:prstGeom prst="ellipse">
            <a:avLst/>
          </a:prstGeom>
          <a:solidFill>
            <a:schemeClr val="accent4"/>
          </a:solidFill>
          <a:ln/>
        </p:spPr>
      </p:sp>
      <p:pic>
        <p:nvPicPr>
          <p:cNvPr id="7" name="Icon 4" descr="UserShield icon"/>
          <p:cNvPicPr>
            <a:picLocks noChangeAspect="1"/>
          </p:cNvPicPr>
          <p:nvPr/>
        </p:nvPicPr>
        <p:blipFill>
          <a:blip r:embed="rId4"/>
          <a:stretch>
            <a:fillRect/>
          </a:stretch>
        </p:blipFill>
        <p:spPr>
          <a:xfrm>
            <a:off x="5830214" y="1075334"/>
            <a:ext cx="409651" cy="409651"/>
          </a:xfrm>
          <a:prstGeom prst="rect">
            <a:avLst/>
          </a:prstGeom>
        </p:spPr>
      </p:pic>
      <p:sp>
        <p:nvSpPr>
          <p:cNvPr id="8" name="Icon circle 5"/>
          <p:cNvSpPr/>
          <p:nvPr/>
        </p:nvSpPr>
        <p:spPr>
          <a:xfrm>
            <a:off x="8138160" y="640080"/>
            <a:ext cx="731520" cy="731520"/>
          </a:xfrm>
          <a:prstGeom prst="ellipse">
            <a:avLst/>
          </a:prstGeom>
          <a:solidFill>
            <a:schemeClr val="accent3"/>
          </a:solidFill>
          <a:ln/>
        </p:spPr>
      </p:sp>
      <p:pic>
        <p:nvPicPr>
          <p:cNvPr id="9" name="Icon 6" descr="Database icon"/>
          <p:cNvPicPr>
            <a:picLocks noChangeAspect="1"/>
          </p:cNvPicPr>
          <p:nvPr/>
        </p:nvPicPr>
        <p:blipFill>
          <a:blip r:embed="rId5"/>
          <a:stretch>
            <a:fillRect/>
          </a:stretch>
        </p:blipFill>
        <p:spPr>
          <a:xfrm>
            <a:off x="8299094" y="801014"/>
            <a:ext cx="409651" cy="409651"/>
          </a:xfrm>
          <a:prstGeom prst="rect">
            <a:avLst/>
          </a:prstGeom>
        </p:spPr>
      </p:pic>
      <p:sp>
        <p:nvSpPr>
          <p:cNvPr id="10" name="Icon circle 7"/>
          <p:cNvSpPr/>
          <p:nvPr/>
        </p:nvSpPr>
        <p:spPr>
          <a:xfrm>
            <a:off x="5760720" y="3611880"/>
            <a:ext cx="731520" cy="731520"/>
          </a:xfrm>
          <a:prstGeom prst="ellipse">
            <a:avLst/>
          </a:prstGeom>
          <a:solidFill>
            <a:schemeClr val="accent1"/>
          </a:solidFill>
          <a:ln/>
        </p:spPr>
      </p:sp>
      <p:pic>
        <p:nvPicPr>
          <p:cNvPr id="11" name="Icon 8" descr="Bell icon"/>
          <p:cNvPicPr>
            <a:picLocks noChangeAspect="1"/>
          </p:cNvPicPr>
          <p:nvPr/>
        </p:nvPicPr>
        <p:blipFill>
          <a:blip r:embed="rId6"/>
          <a:stretch>
            <a:fillRect/>
          </a:stretch>
        </p:blipFill>
        <p:spPr>
          <a:xfrm>
            <a:off x="5921654" y="3772814"/>
            <a:ext cx="409651" cy="409651"/>
          </a:xfrm>
          <a:prstGeom prst="rect">
            <a:avLst/>
          </a:prstGeom>
        </p:spPr>
      </p:pic>
      <p:sp>
        <p:nvSpPr>
          <p:cNvPr id="12" name="Icon circle 9"/>
          <p:cNvSpPr/>
          <p:nvPr/>
        </p:nvSpPr>
        <p:spPr>
          <a:xfrm>
            <a:off x="8046720" y="3840480"/>
            <a:ext cx="731520" cy="731520"/>
          </a:xfrm>
          <a:prstGeom prst="ellipse">
            <a:avLst/>
          </a:prstGeom>
          <a:solidFill>
            <a:schemeClr val="accent4"/>
          </a:solidFill>
          <a:ln/>
        </p:spPr>
      </p:sp>
      <p:pic>
        <p:nvPicPr>
          <p:cNvPr id="13" name="Icon 10" descr="CloudUploadAlt icon"/>
          <p:cNvPicPr>
            <a:picLocks noChangeAspect="1"/>
          </p:cNvPicPr>
          <p:nvPr/>
        </p:nvPicPr>
        <p:blipFill>
          <a:blip r:embed="rId7"/>
          <a:stretch>
            <a:fillRect/>
          </a:stretch>
        </p:blipFill>
        <p:spPr>
          <a:xfrm>
            <a:off x="8207654" y="4001414"/>
            <a:ext cx="409651" cy="40965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200" b="1" dirty="0">
                <a:solidFill>
                  <a:schemeClr val="tx1"/>
                </a:solidFill>
              </a:rPr>
              <a:t>Roadmap and speaker split</a:t>
            </a:r>
            <a:endParaRPr lang="en-US" sz="3200" dirty="0"/>
          </a:p>
        </p:txBody>
      </p:sp>
      <p:sp>
        <p:nvSpPr>
          <p:cNvPr id="3" name="Card 11"/>
          <p:cNvSpPr/>
          <p:nvPr/>
        </p:nvSpPr>
        <p:spPr>
          <a:xfrm>
            <a:off x="457200" y="1234440"/>
            <a:ext cx="1517904" cy="2743200"/>
          </a:xfrm>
          <a:prstGeom prst="roundRect">
            <a:avLst>
              <a:gd name="adj" fmla="val 6024"/>
            </a:avLst>
          </a:prstGeom>
          <a:solidFill>
            <a:schemeClr val="bg2"/>
          </a:solidFill>
          <a:ln/>
          <a:effectLst>
            <a:outerShdw blurRad="76200" dist="25400" dir="5400000" algn="bl" rotWithShape="0">
              <a:srgbClr val="000000">
                <a:alpha val="12000"/>
              </a:srgbClr>
            </a:outerShdw>
          </a:effectLst>
        </p:spPr>
      </p:sp>
      <p:sp>
        <p:nvSpPr>
          <p:cNvPr id="4" name="Number badge 12"/>
          <p:cNvSpPr/>
          <p:nvPr/>
        </p:nvSpPr>
        <p:spPr>
          <a:xfrm>
            <a:off x="594360" y="1417320"/>
            <a:ext cx="502920" cy="502920"/>
          </a:xfrm>
          <a:prstGeom prst="ellipse">
            <a:avLst/>
          </a:prstGeom>
          <a:solidFill>
            <a:schemeClr val="accent2"/>
          </a:solidFill>
          <a:ln/>
        </p:spPr>
      </p:sp>
      <p:sp>
        <p:nvSpPr>
          <p:cNvPr id="5" name="Text 13"/>
          <p:cNvSpPr txBox="1"/>
          <p:nvPr/>
        </p:nvSpPr>
        <p:spPr>
          <a:xfrm>
            <a:off x="594360" y="1417320"/>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rPr>
              <a:t>1</a:t>
            </a:r>
            <a:endParaRPr lang="en-US" sz="1800" dirty="0"/>
          </a:p>
        </p:txBody>
      </p:sp>
      <p:sp>
        <p:nvSpPr>
          <p:cNvPr id="6" name="Text 14"/>
          <p:cNvSpPr txBox="1"/>
          <p:nvPr/>
        </p:nvSpPr>
        <p:spPr>
          <a:xfrm>
            <a:off x="594360" y="2057400"/>
            <a:ext cx="1280160" cy="320040"/>
          </a:xfrm>
          <a:prstGeom prst="rect">
            <a:avLst/>
          </a:prstGeom>
          <a:noFill/>
          <a:ln/>
        </p:spPr>
        <p:txBody>
          <a:bodyPr wrap="square" lIns="0" tIns="0" rIns="0" bIns="0" rtlCol="0" anchor="ctr"/>
          <a:lstStyle/>
          <a:p>
            <a:pPr marL="0" indent="0">
              <a:buNone/>
            </a:pPr>
            <a:r>
              <a:rPr lang="en-US" sz="1600" b="1" dirty="0">
                <a:solidFill>
                  <a:schemeClr val="tx1"/>
                </a:solidFill>
              </a:rPr>
              <a:t>Speaker 1</a:t>
            </a:r>
            <a:endParaRPr lang="en-US" sz="1600" dirty="0"/>
          </a:p>
        </p:txBody>
      </p:sp>
      <p:sp>
        <p:nvSpPr>
          <p:cNvPr id="7" name="Text 15"/>
          <p:cNvSpPr txBox="1"/>
          <p:nvPr/>
        </p:nvSpPr>
        <p:spPr>
          <a:xfrm>
            <a:off x="594360" y="2468880"/>
            <a:ext cx="1280160" cy="1645920"/>
          </a:xfrm>
          <a:prstGeom prst="rect">
            <a:avLst/>
          </a:prstGeom>
          <a:noFill/>
          <a:ln/>
        </p:spPr>
        <p:txBody>
          <a:bodyPr wrap="square" lIns="0" tIns="0" rIns="0" bIns="0" rtlCol="0" anchor="t"/>
          <a:lstStyle/>
          <a:p>
            <a:pPr marL="0" indent="0">
              <a:spcAft>
                <a:spcPts val="600"/>
              </a:spcAft>
              <a:buNone/>
            </a:pPr>
            <a:r>
              <a:rPr lang="en-US" sz="1400" dirty="0">
                <a:solidFill>
                  <a:schemeClr val="tx2"/>
                </a:solidFill>
              </a:rPr>
              <a:t>Introduction</a:t>
            </a:r>
            <a:endParaRPr lang="en-US" sz="1400" dirty="0"/>
          </a:p>
          <a:p>
            <a:pPr marL="0" indent="0">
              <a:spcAft>
                <a:spcPts val="600"/>
              </a:spcAft>
              <a:buNone/>
            </a:pPr>
            <a:r>
              <a:rPr lang="en-US" sz="1400" dirty="0">
                <a:solidFill>
                  <a:schemeClr val="tx2"/>
                </a:solidFill>
              </a:rPr>
              <a:t>History</a:t>
            </a:r>
            <a:endParaRPr lang="en-US" sz="1400" dirty="0"/>
          </a:p>
        </p:txBody>
      </p:sp>
      <p:sp>
        <p:nvSpPr>
          <p:cNvPr id="8" name="Card 16"/>
          <p:cNvSpPr/>
          <p:nvPr/>
        </p:nvSpPr>
        <p:spPr>
          <a:xfrm>
            <a:off x="2135124" y="1234440"/>
            <a:ext cx="1517904" cy="2743200"/>
          </a:xfrm>
          <a:prstGeom prst="roundRect">
            <a:avLst>
              <a:gd name="adj" fmla="val 6024"/>
            </a:avLst>
          </a:prstGeom>
          <a:solidFill>
            <a:schemeClr val="bg2"/>
          </a:solidFill>
          <a:ln/>
          <a:effectLst>
            <a:outerShdw blurRad="76200" dist="25400" dir="5400000" algn="bl" rotWithShape="0">
              <a:srgbClr val="000000">
                <a:alpha val="12000"/>
              </a:srgbClr>
            </a:outerShdw>
          </a:effectLst>
        </p:spPr>
      </p:sp>
      <p:sp>
        <p:nvSpPr>
          <p:cNvPr id="9" name="Number badge 17"/>
          <p:cNvSpPr/>
          <p:nvPr/>
        </p:nvSpPr>
        <p:spPr>
          <a:xfrm>
            <a:off x="2272284" y="1417320"/>
            <a:ext cx="502920" cy="502920"/>
          </a:xfrm>
          <a:prstGeom prst="ellipse">
            <a:avLst/>
          </a:prstGeom>
          <a:solidFill>
            <a:schemeClr val="accent2"/>
          </a:solidFill>
          <a:ln/>
        </p:spPr>
      </p:sp>
      <p:sp>
        <p:nvSpPr>
          <p:cNvPr id="10" name="Text 18"/>
          <p:cNvSpPr txBox="1"/>
          <p:nvPr/>
        </p:nvSpPr>
        <p:spPr>
          <a:xfrm>
            <a:off x="2272284" y="1417320"/>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rPr>
              <a:t>2</a:t>
            </a:r>
            <a:endParaRPr lang="en-US" sz="1800" dirty="0"/>
          </a:p>
        </p:txBody>
      </p:sp>
      <p:sp>
        <p:nvSpPr>
          <p:cNvPr id="11" name="Text 19"/>
          <p:cNvSpPr txBox="1"/>
          <p:nvPr/>
        </p:nvSpPr>
        <p:spPr>
          <a:xfrm>
            <a:off x="2272284" y="2057400"/>
            <a:ext cx="1280160" cy="320040"/>
          </a:xfrm>
          <a:prstGeom prst="rect">
            <a:avLst/>
          </a:prstGeom>
          <a:noFill/>
          <a:ln/>
        </p:spPr>
        <p:txBody>
          <a:bodyPr wrap="square" lIns="0" tIns="0" rIns="0" bIns="0" rtlCol="0" anchor="ctr"/>
          <a:lstStyle/>
          <a:p>
            <a:pPr marL="0" indent="0">
              <a:buNone/>
            </a:pPr>
            <a:r>
              <a:rPr lang="en-US" sz="1600" b="1" dirty="0">
                <a:solidFill>
                  <a:schemeClr val="tx1"/>
                </a:solidFill>
              </a:rPr>
              <a:t>Speaker 2</a:t>
            </a:r>
            <a:endParaRPr lang="en-US" sz="1600" dirty="0"/>
          </a:p>
        </p:txBody>
      </p:sp>
      <p:sp>
        <p:nvSpPr>
          <p:cNvPr id="12" name="Text 20"/>
          <p:cNvSpPr txBox="1"/>
          <p:nvPr/>
        </p:nvSpPr>
        <p:spPr>
          <a:xfrm>
            <a:off x="2272284" y="2468880"/>
            <a:ext cx="1280160" cy="1645920"/>
          </a:xfrm>
          <a:prstGeom prst="rect">
            <a:avLst/>
          </a:prstGeom>
          <a:noFill/>
          <a:ln/>
        </p:spPr>
        <p:txBody>
          <a:bodyPr wrap="square" lIns="0" tIns="0" rIns="0" bIns="0" rtlCol="0" anchor="t"/>
          <a:lstStyle/>
          <a:p>
            <a:pPr marL="0" indent="0">
              <a:spcAft>
                <a:spcPts val="600"/>
              </a:spcAft>
              <a:buNone/>
            </a:pPr>
            <a:r>
              <a:rPr lang="en-US" sz="1400" dirty="0">
                <a:solidFill>
                  <a:schemeClr val="tx2"/>
                </a:solidFill>
              </a:rPr>
              <a:t>Concepts</a:t>
            </a:r>
            <a:endParaRPr lang="en-US" sz="1400" dirty="0"/>
          </a:p>
          <a:p>
            <a:pPr marL="0" indent="0">
              <a:spcAft>
                <a:spcPts val="600"/>
              </a:spcAft>
              <a:buNone/>
            </a:pPr>
            <a:r>
              <a:rPr lang="en-US" sz="1400" dirty="0">
                <a:solidFill>
                  <a:schemeClr val="tx2"/>
                </a:solidFill>
              </a:rPr>
              <a:t>Architecture</a:t>
            </a:r>
            <a:endParaRPr lang="en-US" sz="1400" dirty="0"/>
          </a:p>
        </p:txBody>
      </p:sp>
      <p:sp>
        <p:nvSpPr>
          <p:cNvPr id="13" name="Card 21"/>
          <p:cNvSpPr/>
          <p:nvPr/>
        </p:nvSpPr>
        <p:spPr>
          <a:xfrm>
            <a:off x="3813048" y="1234440"/>
            <a:ext cx="1517904" cy="2743200"/>
          </a:xfrm>
          <a:prstGeom prst="roundRect">
            <a:avLst>
              <a:gd name="adj" fmla="val 6024"/>
            </a:avLst>
          </a:prstGeom>
          <a:solidFill>
            <a:schemeClr val="bg2"/>
          </a:solidFill>
          <a:ln/>
          <a:effectLst>
            <a:outerShdw blurRad="76200" dist="25400" dir="5400000" algn="bl" rotWithShape="0">
              <a:srgbClr val="000000">
                <a:alpha val="12000"/>
              </a:srgbClr>
            </a:outerShdw>
          </a:effectLst>
        </p:spPr>
      </p:sp>
      <p:sp>
        <p:nvSpPr>
          <p:cNvPr id="14" name="Number badge 22"/>
          <p:cNvSpPr/>
          <p:nvPr/>
        </p:nvSpPr>
        <p:spPr>
          <a:xfrm>
            <a:off x="3950208" y="1417320"/>
            <a:ext cx="502920" cy="502920"/>
          </a:xfrm>
          <a:prstGeom prst="ellipse">
            <a:avLst/>
          </a:prstGeom>
          <a:solidFill>
            <a:schemeClr val="accent2"/>
          </a:solidFill>
          <a:ln/>
        </p:spPr>
      </p:sp>
      <p:sp>
        <p:nvSpPr>
          <p:cNvPr id="15" name="Text 23"/>
          <p:cNvSpPr txBox="1"/>
          <p:nvPr/>
        </p:nvSpPr>
        <p:spPr>
          <a:xfrm>
            <a:off x="3950208" y="1417320"/>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rPr>
              <a:t>3</a:t>
            </a:r>
            <a:endParaRPr lang="en-US" sz="1800" dirty="0"/>
          </a:p>
        </p:txBody>
      </p:sp>
      <p:sp>
        <p:nvSpPr>
          <p:cNvPr id="16" name="Text 24"/>
          <p:cNvSpPr txBox="1"/>
          <p:nvPr/>
        </p:nvSpPr>
        <p:spPr>
          <a:xfrm>
            <a:off x="3950208" y="2057400"/>
            <a:ext cx="1280160" cy="320040"/>
          </a:xfrm>
          <a:prstGeom prst="rect">
            <a:avLst/>
          </a:prstGeom>
          <a:noFill/>
          <a:ln/>
        </p:spPr>
        <p:txBody>
          <a:bodyPr wrap="square" lIns="0" tIns="0" rIns="0" bIns="0" rtlCol="0" anchor="ctr"/>
          <a:lstStyle/>
          <a:p>
            <a:pPr marL="0" indent="0">
              <a:buNone/>
            </a:pPr>
            <a:r>
              <a:rPr lang="en-US" sz="1600" b="1" dirty="0">
                <a:solidFill>
                  <a:schemeClr val="tx1"/>
                </a:solidFill>
              </a:rPr>
              <a:t>Speaker 3</a:t>
            </a:r>
            <a:endParaRPr lang="en-US" sz="1600" dirty="0"/>
          </a:p>
        </p:txBody>
      </p:sp>
      <p:sp>
        <p:nvSpPr>
          <p:cNvPr id="17" name="Text 25"/>
          <p:cNvSpPr txBox="1"/>
          <p:nvPr/>
        </p:nvSpPr>
        <p:spPr>
          <a:xfrm>
            <a:off x="3950208" y="2468880"/>
            <a:ext cx="1280160" cy="1645920"/>
          </a:xfrm>
          <a:prstGeom prst="rect">
            <a:avLst/>
          </a:prstGeom>
          <a:noFill/>
          <a:ln/>
        </p:spPr>
        <p:txBody>
          <a:bodyPr wrap="square" lIns="0" tIns="0" rIns="0" bIns="0" rtlCol="0" anchor="t"/>
          <a:lstStyle/>
          <a:p>
            <a:pPr marL="0" indent="0">
              <a:spcAft>
                <a:spcPts val="600"/>
              </a:spcAft>
              <a:buNone/>
            </a:pPr>
            <a:r>
              <a:rPr lang="en-US" sz="1400" dirty="0">
                <a:solidFill>
                  <a:schemeClr val="tx2"/>
                </a:solidFill>
              </a:rPr>
              <a:t>Tools</a:t>
            </a:r>
            <a:endParaRPr lang="en-US" sz="1400" dirty="0"/>
          </a:p>
          <a:p>
            <a:pPr marL="0" indent="0">
              <a:spcAft>
                <a:spcPts val="600"/>
              </a:spcAft>
              <a:buNone/>
            </a:pPr>
            <a:r>
              <a:rPr lang="en-US" sz="1400" dirty="0">
                <a:solidFill>
                  <a:schemeClr val="tx2"/>
                </a:solidFill>
              </a:rPr>
              <a:t>Applications</a:t>
            </a:r>
            <a:endParaRPr lang="en-US" sz="1400" dirty="0"/>
          </a:p>
        </p:txBody>
      </p:sp>
      <p:sp>
        <p:nvSpPr>
          <p:cNvPr id="18" name="Card 26"/>
          <p:cNvSpPr/>
          <p:nvPr/>
        </p:nvSpPr>
        <p:spPr>
          <a:xfrm>
            <a:off x="5490972" y="1234440"/>
            <a:ext cx="1517904" cy="2743200"/>
          </a:xfrm>
          <a:prstGeom prst="roundRect">
            <a:avLst>
              <a:gd name="adj" fmla="val 6024"/>
            </a:avLst>
          </a:prstGeom>
          <a:solidFill>
            <a:schemeClr val="bg2"/>
          </a:solidFill>
          <a:ln/>
          <a:effectLst>
            <a:outerShdw blurRad="76200" dist="25400" dir="5400000" algn="bl" rotWithShape="0">
              <a:srgbClr val="000000">
                <a:alpha val="12000"/>
              </a:srgbClr>
            </a:outerShdw>
          </a:effectLst>
        </p:spPr>
      </p:sp>
      <p:sp>
        <p:nvSpPr>
          <p:cNvPr id="19" name="Number badge 27"/>
          <p:cNvSpPr/>
          <p:nvPr/>
        </p:nvSpPr>
        <p:spPr>
          <a:xfrm>
            <a:off x="5628132" y="1417320"/>
            <a:ext cx="502920" cy="502920"/>
          </a:xfrm>
          <a:prstGeom prst="ellipse">
            <a:avLst/>
          </a:prstGeom>
          <a:solidFill>
            <a:schemeClr val="accent2"/>
          </a:solidFill>
          <a:ln/>
        </p:spPr>
      </p:sp>
      <p:sp>
        <p:nvSpPr>
          <p:cNvPr id="20" name="Text 28"/>
          <p:cNvSpPr txBox="1"/>
          <p:nvPr/>
        </p:nvSpPr>
        <p:spPr>
          <a:xfrm>
            <a:off x="5628132" y="1417320"/>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rPr>
              <a:t>4</a:t>
            </a:r>
            <a:endParaRPr lang="en-US" sz="1800" dirty="0"/>
          </a:p>
        </p:txBody>
      </p:sp>
      <p:sp>
        <p:nvSpPr>
          <p:cNvPr id="21" name="Text 29"/>
          <p:cNvSpPr txBox="1"/>
          <p:nvPr/>
        </p:nvSpPr>
        <p:spPr>
          <a:xfrm>
            <a:off x="5628132" y="2057400"/>
            <a:ext cx="1280160" cy="320040"/>
          </a:xfrm>
          <a:prstGeom prst="rect">
            <a:avLst/>
          </a:prstGeom>
          <a:noFill/>
          <a:ln/>
        </p:spPr>
        <p:txBody>
          <a:bodyPr wrap="square" lIns="0" tIns="0" rIns="0" bIns="0" rtlCol="0" anchor="ctr"/>
          <a:lstStyle/>
          <a:p>
            <a:pPr marL="0" indent="0">
              <a:buNone/>
            </a:pPr>
            <a:r>
              <a:rPr lang="en-US" sz="1600" b="1" dirty="0">
                <a:solidFill>
                  <a:schemeClr val="tx1"/>
                </a:solidFill>
              </a:rPr>
              <a:t>Speaker 4</a:t>
            </a:r>
            <a:endParaRPr lang="en-US" sz="1600" dirty="0"/>
          </a:p>
        </p:txBody>
      </p:sp>
      <p:sp>
        <p:nvSpPr>
          <p:cNvPr id="22" name="Text 30"/>
          <p:cNvSpPr txBox="1"/>
          <p:nvPr/>
        </p:nvSpPr>
        <p:spPr>
          <a:xfrm>
            <a:off x="5628132" y="2468880"/>
            <a:ext cx="1280160" cy="1645920"/>
          </a:xfrm>
          <a:prstGeom prst="rect">
            <a:avLst/>
          </a:prstGeom>
          <a:noFill/>
          <a:ln/>
        </p:spPr>
        <p:txBody>
          <a:bodyPr wrap="square" lIns="0" tIns="0" rIns="0" bIns="0" rtlCol="0" anchor="t"/>
          <a:lstStyle/>
          <a:p>
            <a:pPr marL="0" indent="0">
              <a:spcAft>
                <a:spcPts val="600"/>
              </a:spcAft>
              <a:buNone/>
            </a:pPr>
            <a:r>
              <a:rPr lang="en-US" sz="1400" dirty="0">
                <a:solidFill>
                  <a:schemeClr val="tx2"/>
                </a:solidFill>
              </a:rPr>
              <a:t>Benefits</a:t>
            </a:r>
            <a:endParaRPr lang="en-US" sz="1400" dirty="0"/>
          </a:p>
          <a:p>
            <a:pPr marL="0" indent="0">
              <a:spcAft>
                <a:spcPts val="600"/>
              </a:spcAft>
              <a:buNone/>
            </a:pPr>
            <a:r>
              <a:rPr lang="en-US" sz="1400" dirty="0">
                <a:solidFill>
                  <a:schemeClr val="tx2"/>
                </a:solidFill>
              </a:rPr>
              <a:t>Challenges</a:t>
            </a:r>
            <a:endParaRPr lang="en-US" sz="1400" dirty="0"/>
          </a:p>
          <a:p>
            <a:pPr marL="0" indent="0">
              <a:spcAft>
                <a:spcPts val="600"/>
              </a:spcAft>
              <a:buNone/>
            </a:pPr>
            <a:r>
              <a:rPr lang="en-US" sz="1400" dirty="0">
                <a:solidFill>
                  <a:schemeClr val="tx2"/>
                </a:solidFill>
              </a:rPr>
              <a:t>Demo</a:t>
            </a:r>
            <a:endParaRPr lang="en-US" sz="1400" dirty="0"/>
          </a:p>
        </p:txBody>
      </p:sp>
      <p:sp>
        <p:nvSpPr>
          <p:cNvPr id="23" name="Card 31"/>
          <p:cNvSpPr/>
          <p:nvPr/>
        </p:nvSpPr>
        <p:spPr>
          <a:xfrm>
            <a:off x="7168896" y="1234440"/>
            <a:ext cx="1517904" cy="2743200"/>
          </a:xfrm>
          <a:prstGeom prst="roundRect">
            <a:avLst>
              <a:gd name="adj" fmla="val 6024"/>
            </a:avLst>
          </a:prstGeom>
          <a:solidFill>
            <a:schemeClr val="bg2"/>
          </a:solidFill>
          <a:ln/>
          <a:effectLst>
            <a:outerShdw blurRad="76200" dist="25400" dir="5400000" algn="bl" rotWithShape="0">
              <a:srgbClr val="000000">
                <a:alpha val="12000"/>
              </a:srgbClr>
            </a:outerShdw>
          </a:effectLst>
        </p:spPr>
      </p:sp>
      <p:sp>
        <p:nvSpPr>
          <p:cNvPr id="24" name="Number badge 32"/>
          <p:cNvSpPr/>
          <p:nvPr/>
        </p:nvSpPr>
        <p:spPr>
          <a:xfrm>
            <a:off x="7306056" y="1417320"/>
            <a:ext cx="502920" cy="502920"/>
          </a:xfrm>
          <a:prstGeom prst="ellipse">
            <a:avLst/>
          </a:prstGeom>
          <a:solidFill>
            <a:schemeClr val="accent2"/>
          </a:solidFill>
          <a:ln/>
        </p:spPr>
      </p:sp>
      <p:sp>
        <p:nvSpPr>
          <p:cNvPr id="25" name="Text 33"/>
          <p:cNvSpPr txBox="1"/>
          <p:nvPr/>
        </p:nvSpPr>
        <p:spPr>
          <a:xfrm>
            <a:off x="7306056" y="1417320"/>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rPr>
              <a:t>5</a:t>
            </a:r>
            <a:endParaRPr lang="en-US" sz="1800" dirty="0"/>
          </a:p>
        </p:txBody>
      </p:sp>
      <p:sp>
        <p:nvSpPr>
          <p:cNvPr id="26" name="Text 34"/>
          <p:cNvSpPr txBox="1"/>
          <p:nvPr/>
        </p:nvSpPr>
        <p:spPr>
          <a:xfrm>
            <a:off x="7306056" y="2057400"/>
            <a:ext cx="1280160" cy="320040"/>
          </a:xfrm>
          <a:prstGeom prst="rect">
            <a:avLst/>
          </a:prstGeom>
          <a:noFill/>
          <a:ln/>
        </p:spPr>
        <p:txBody>
          <a:bodyPr wrap="square" lIns="0" tIns="0" rIns="0" bIns="0" rtlCol="0" anchor="ctr"/>
          <a:lstStyle/>
          <a:p>
            <a:pPr marL="0" indent="0">
              <a:buNone/>
            </a:pPr>
            <a:r>
              <a:rPr lang="en-US" sz="1600" b="1" dirty="0">
                <a:solidFill>
                  <a:schemeClr val="tx1"/>
                </a:solidFill>
              </a:rPr>
              <a:t>Speaker 5</a:t>
            </a:r>
            <a:endParaRPr lang="en-US" sz="1600" dirty="0"/>
          </a:p>
        </p:txBody>
      </p:sp>
      <p:sp>
        <p:nvSpPr>
          <p:cNvPr id="27" name="Text 35"/>
          <p:cNvSpPr txBox="1"/>
          <p:nvPr/>
        </p:nvSpPr>
        <p:spPr>
          <a:xfrm>
            <a:off x="7306056" y="2468880"/>
            <a:ext cx="1280160" cy="1645920"/>
          </a:xfrm>
          <a:prstGeom prst="rect">
            <a:avLst/>
          </a:prstGeom>
          <a:noFill/>
          <a:ln/>
        </p:spPr>
        <p:txBody>
          <a:bodyPr wrap="square" lIns="0" tIns="0" rIns="0" bIns="0" rtlCol="0" anchor="t"/>
          <a:lstStyle/>
          <a:p>
            <a:pPr marL="0" indent="0">
              <a:spcAft>
                <a:spcPts val="600"/>
              </a:spcAft>
              <a:buNone/>
            </a:pPr>
            <a:r>
              <a:rPr lang="en-US" sz="1400" dirty="0">
                <a:solidFill>
                  <a:schemeClr val="tx2"/>
                </a:solidFill>
              </a:rPr>
              <a:t>Recent trends</a:t>
            </a:r>
            <a:endParaRPr lang="en-US" sz="1400" dirty="0"/>
          </a:p>
          <a:p>
            <a:pPr marL="0" indent="0">
              <a:spcAft>
                <a:spcPts val="600"/>
              </a:spcAft>
              <a:buNone/>
            </a:pPr>
            <a:r>
              <a:rPr lang="en-US" sz="1400" dirty="0">
                <a:solidFill>
                  <a:schemeClr val="tx2"/>
                </a:solidFill>
              </a:rPr>
              <a:t>Future</a:t>
            </a:r>
            <a:endParaRPr lang="en-US" sz="1400" dirty="0"/>
          </a:p>
          <a:p>
            <a:pPr marL="0" indent="0">
              <a:spcAft>
                <a:spcPts val="600"/>
              </a:spcAft>
              <a:buNone/>
            </a:pPr>
            <a:r>
              <a:rPr lang="en-US" sz="1400" dirty="0">
                <a:solidFill>
                  <a:schemeClr val="tx2"/>
                </a:solidFill>
              </a:rPr>
              <a:t>Summary</a:t>
            </a:r>
            <a:endParaRPr lang="en-US" sz="1400" dirty="0"/>
          </a:p>
        </p:txBody>
      </p:sp>
      <p:sp>
        <p:nvSpPr>
          <p:cNvPr id="28" name="Text 36"/>
          <p:cNvSpPr txBox="1"/>
          <p:nvPr/>
        </p:nvSpPr>
        <p:spPr>
          <a:xfrm>
            <a:off x="457200" y="4206240"/>
            <a:ext cx="8229600" cy="274320"/>
          </a:xfrm>
          <a:prstGeom prst="rect">
            <a:avLst/>
          </a:prstGeom>
          <a:noFill/>
          <a:ln/>
        </p:spPr>
        <p:txBody>
          <a:bodyPr wrap="square" lIns="0" tIns="0" rIns="0" bIns="0" rtlCol="0" anchor="ctr"/>
          <a:lstStyle/>
          <a:p>
            <a:pPr marL="0" indent="0">
              <a:buNone/>
            </a:pPr>
            <a:r>
              <a:rPr lang="en-US" sz="1200" i="1" dirty="0">
                <a:solidFill>
                  <a:schemeClr val="tx2"/>
                </a:solidFill>
              </a:rPr>
              <a:t>Edit the split to match your group size. Every member presents one clear part.</a:t>
            </a:r>
            <a:endParaRPr lang="en-US" sz="1200" dirty="0"/>
          </a:p>
        </p:txBody>
      </p:sp>
      <p:sp>
        <p:nvSpPr>
          <p:cNvPr id="29"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200" b="1" dirty="0">
                <a:solidFill>
                  <a:schemeClr val="tx1"/>
                </a:solidFill>
              </a:rPr>
              <a:t>What is Firebase?</a:t>
            </a:r>
            <a:endParaRPr lang="en-US" sz="3200" dirty="0"/>
          </a:p>
        </p:txBody>
      </p:sp>
      <p:sp>
        <p:nvSpPr>
          <p:cNvPr id="3" name="Card 37"/>
          <p:cNvSpPr/>
          <p:nvPr/>
        </p:nvSpPr>
        <p:spPr>
          <a:xfrm>
            <a:off x="457200" y="1188720"/>
            <a:ext cx="4206240" cy="3337560"/>
          </a:xfrm>
          <a:prstGeom prst="roundRect">
            <a:avLst>
              <a:gd name="adj" fmla="val 2740"/>
            </a:avLst>
          </a:prstGeom>
          <a:solidFill>
            <a:schemeClr val="bg2"/>
          </a:solidFill>
          <a:ln/>
          <a:effectLst>
            <a:outerShdw blurRad="76200" dist="25400" dir="5400000" algn="bl" rotWithShape="0">
              <a:srgbClr val="000000">
                <a:alpha val="12000"/>
              </a:srgbClr>
            </a:outerShdw>
          </a:effectLst>
        </p:spPr>
      </p:sp>
      <p:sp>
        <p:nvSpPr>
          <p:cNvPr id="4" name="Text 38"/>
          <p:cNvSpPr txBox="1"/>
          <p:nvPr/>
        </p:nvSpPr>
        <p:spPr>
          <a:xfrm>
            <a:off x="731520" y="1417320"/>
            <a:ext cx="3657600" cy="2926080"/>
          </a:xfrm>
          <a:prstGeom prst="rect">
            <a:avLst/>
          </a:prstGeom>
          <a:noFill/>
          <a:ln/>
        </p:spPr>
        <p:txBody>
          <a:bodyPr wrap="square" lIns="0" tIns="0" rIns="0" bIns="0" rtlCol="0" anchor="t"/>
          <a:lstStyle/>
          <a:p>
            <a:pPr marL="0" indent="0">
              <a:spcAft>
                <a:spcPts val="400"/>
              </a:spcAft>
              <a:buNone/>
            </a:pPr>
            <a:r>
              <a:rPr lang="en-US" sz="1200" b="1" dirty="0">
                <a:solidFill>
                  <a:schemeClr val="tx2"/>
                </a:solidFill>
              </a:rPr>
              <a:t>DEFINITION</a:t>
            </a:r>
            <a:endParaRPr lang="en-US" sz="1200" dirty="0"/>
          </a:p>
          <a:p>
            <a:pPr marL="0" indent="0">
              <a:spcAft>
                <a:spcPts val="1400"/>
              </a:spcAft>
              <a:buNone/>
            </a:pPr>
            <a:r>
              <a:rPr lang="en-US" sz="1600" dirty="0">
                <a:solidFill>
                  <a:schemeClr val="tx1"/>
                </a:solidFill>
              </a:rPr>
              <a:t>Firebase is Google's platform of ready-made backend services for building, releasing and running mobile and web apps.</a:t>
            </a:r>
            <a:endParaRPr lang="en-US" sz="1200" dirty="0"/>
          </a:p>
          <a:p>
            <a:pPr marL="0" indent="0">
              <a:spcAft>
                <a:spcPts val="400"/>
              </a:spcAft>
              <a:buNone/>
            </a:pPr>
            <a:r>
              <a:rPr lang="en-US" sz="1200" b="1" dirty="0">
                <a:solidFill>
                  <a:schemeClr val="tx2"/>
                </a:solidFill>
              </a:rPr>
              <a:t>WHAT "BaaS" MEANS</a:t>
            </a:r>
            <a:endParaRPr lang="en-US" sz="1200" dirty="0"/>
          </a:p>
          <a:p>
            <a:pPr marL="0" indent="0">
              <a:buNone/>
            </a:pPr>
            <a:r>
              <a:rPr lang="en-US" sz="1600" dirty="0">
                <a:solidFill>
                  <a:schemeClr val="tx1"/>
                </a:solidFill>
              </a:rPr>
              <a:t>Backend-as-a-Service: login, database, file storage and push messages are hosted for you. The app uses them through SDKs (ready-made code libraries).</a:t>
            </a:r>
            <a:endParaRPr lang="en-US" sz="1200" dirty="0"/>
          </a:p>
        </p:txBody>
      </p:sp>
      <p:sp>
        <p:nvSpPr>
          <p:cNvPr id="5" name="Text 39"/>
          <p:cNvSpPr txBox="1"/>
          <p:nvPr/>
        </p:nvSpPr>
        <p:spPr>
          <a:xfrm>
            <a:off x="5029200" y="1188720"/>
            <a:ext cx="3657600" cy="365760"/>
          </a:xfrm>
          <a:prstGeom prst="rect">
            <a:avLst/>
          </a:prstGeom>
          <a:noFill/>
          <a:ln/>
        </p:spPr>
        <p:txBody>
          <a:bodyPr wrap="square" lIns="0" tIns="0" rIns="0" bIns="0" rtlCol="0" anchor="ctr"/>
          <a:lstStyle/>
          <a:p>
            <a:pPr marL="0" indent="0">
              <a:buNone/>
            </a:pPr>
            <a:r>
              <a:rPr lang="en-US" sz="1800" b="1" dirty="0">
                <a:solidFill>
                  <a:schemeClr val="tx1"/>
                </a:solidFill>
              </a:rPr>
              <a:t>Why mobile developers use it</a:t>
            </a:r>
            <a:endParaRPr lang="en-US" sz="1800" dirty="0"/>
          </a:p>
        </p:txBody>
      </p:sp>
      <p:sp>
        <p:nvSpPr>
          <p:cNvPr id="6" name="Icon circle 40"/>
          <p:cNvSpPr/>
          <p:nvPr/>
        </p:nvSpPr>
        <p:spPr>
          <a:xfrm>
            <a:off x="5029200" y="1691640"/>
            <a:ext cx="548640" cy="548640"/>
          </a:xfrm>
          <a:prstGeom prst="ellipse">
            <a:avLst/>
          </a:prstGeom>
          <a:solidFill>
            <a:schemeClr val="accent2"/>
          </a:solidFill>
          <a:ln/>
        </p:spPr>
      </p:sp>
      <p:pic>
        <p:nvPicPr>
          <p:cNvPr id="7" name="Icon 41" descr="Rocket icon"/>
          <p:cNvPicPr>
            <a:picLocks noChangeAspect="1"/>
          </p:cNvPicPr>
          <p:nvPr/>
        </p:nvPicPr>
        <p:blipFill>
          <a:blip r:embed="rId3"/>
          <a:stretch>
            <a:fillRect/>
          </a:stretch>
        </p:blipFill>
        <p:spPr>
          <a:xfrm>
            <a:off x="5149901" y="1812341"/>
            <a:ext cx="307238" cy="307238"/>
          </a:xfrm>
          <a:prstGeom prst="rect">
            <a:avLst/>
          </a:prstGeom>
        </p:spPr>
      </p:pic>
      <p:sp>
        <p:nvSpPr>
          <p:cNvPr id="8" name="Text 42"/>
          <p:cNvSpPr txBox="1"/>
          <p:nvPr/>
        </p:nvSpPr>
        <p:spPr>
          <a:xfrm>
            <a:off x="5760720" y="1691640"/>
            <a:ext cx="2926080" cy="548640"/>
          </a:xfrm>
          <a:prstGeom prst="rect">
            <a:avLst/>
          </a:prstGeom>
          <a:noFill/>
          <a:ln/>
        </p:spPr>
        <p:txBody>
          <a:bodyPr wrap="square" lIns="0" tIns="0" rIns="0" bIns="0" rtlCol="0" anchor="ctr"/>
          <a:lstStyle/>
          <a:p>
            <a:pPr marL="0" indent="0">
              <a:buNone/>
            </a:pPr>
            <a:r>
              <a:rPr lang="en-US" sz="1600" dirty="0">
                <a:solidFill>
                  <a:schemeClr val="tx1"/>
                </a:solidFill>
              </a:rPr>
              <a:t>Launch faster: no servers to set up</a:t>
            </a:r>
            <a:endParaRPr lang="en-US" sz="1600" dirty="0"/>
          </a:p>
        </p:txBody>
      </p:sp>
      <p:sp>
        <p:nvSpPr>
          <p:cNvPr id="9" name="Icon circle 43"/>
          <p:cNvSpPr/>
          <p:nvPr/>
        </p:nvSpPr>
        <p:spPr>
          <a:xfrm>
            <a:off x="5029200" y="2423160"/>
            <a:ext cx="548640" cy="548640"/>
          </a:xfrm>
          <a:prstGeom prst="ellipse">
            <a:avLst/>
          </a:prstGeom>
          <a:solidFill>
            <a:schemeClr val="accent2"/>
          </a:solidFill>
          <a:ln/>
        </p:spPr>
      </p:sp>
      <p:pic>
        <p:nvPicPr>
          <p:cNvPr id="10" name="Icon 44" descr="SyncAlt icon"/>
          <p:cNvPicPr>
            <a:picLocks noChangeAspect="1"/>
          </p:cNvPicPr>
          <p:nvPr/>
        </p:nvPicPr>
        <p:blipFill>
          <a:blip r:embed="rId4"/>
          <a:stretch>
            <a:fillRect/>
          </a:stretch>
        </p:blipFill>
        <p:spPr>
          <a:xfrm>
            <a:off x="5149901" y="2543861"/>
            <a:ext cx="307238" cy="307238"/>
          </a:xfrm>
          <a:prstGeom prst="rect">
            <a:avLst/>
          </a:prstGeom>
        </p:spPr>
      </p:pic>
      <p:sp>
        <p:nvSpPr>
          <p:cNvPr id="11" name="Text 45"/>
          <p:cNvSpPr txBox="1"/>
          <p:nvPr/>
        </p:nvSpPr>
        <p:spPr>
          <a:xfrm>
            <a:off x="5760720" y="2423160"/>
            <a:ext cx="2926080" cy="548640"/>
          </a:xfrm>
          <a:prstGeom prst="rect">
            <a:avLst/>
          </a:prstGeom>
          <a:noFill/>
          <a:ln/>
        </p:spPr>
        <p:txBody>
          <a:bodyPr wrap="square" lIns="0" tIns="0" rIns="0" bIns="0" rtlCol="0" anchor="ctr"/>
          <a:lstStyle/>
          <a:p>
            <a:pPr marL="0" indent="0">
              <a:buNone/>
            </a:pPr>
            <a:r>
              <a:rPr lang="en-US" sz="1600" dirty="0">
                <a:solidFill>
                  <a:schemeClr val="tx1"/>
                </a:solidFill>
              </a:rPr>
              <a:t>Data syncs live across devices</a:t>
            </a:r>
            <a:endParaRPr lang="en-US" sz="1600" dirty="0"/>
          </a:p>
        </p:txBody>
      </p:sp>
      <p:sp>
        <p:nvSpPr>
          <p:cNvPr id="12" name="Icon circle 46"/>
          <p:cNvSpPr/>
          <p:nvPr/>
        </p:nvSpPr>
        <p:spPr>
          <a:xfrm>
            <a:off x="5029200" y="3154680"/>
            <a:ext cx="548640" cy="548640"/>
          </a:xfrm>
          <a:prstGeom prst="ellipse">
            <a:avLst/>
          </a:prstGeom>
          <a:solidFill>
            <a:schemeClr val="accent2"/>
          </a:solidFill>
          <a:ln/>
        </p:spPr>
      </p:sp>
      <p:pic>
        <p:nvPicPr>
          <p:cNvPr id="13" name="Icon 47" descr="MobileAlt icon"/>
          <p:cNvPicPr>
            <a:picLocks noChangeAspect="1"/>
          </p:cNvPicPr>
          <p:nvPr/>
        </p:nvPicPr>
        <p:blipFill>
          <a:blip r:embed="rId5"/>
          <a:stretch>
            <a:fillRect/>
          </a:stretch>
        </p:blipFill>
        <p:spPr>
          <a:xfrm>
            <a:off x="5149901" y="3275381"/>
            <a:ext cx="307238" cy="307238"/>
          </a:xfrm>
          <a:prstGeom prst="rect">
            <a:avLst/>
          </a:prstGeom>
        </p:spPr>
      </p:pic>
      <p:sp>
        <p:nvSpPr>
          <p:cNvPr id="14" name="Text 48"/>
          <p:cNvSpPr txBox="1"/>
          <p:nvPr/>
        </p:nvSpPr>
        <p:spPr>
          <a:xfrm>
            <a:off x="5760720" y="3154680"/>
            <a:ext cx="2926080" cy="548640"/>
          </a:xfrm>
          <a:prstGeom prst="rect">
            <a:avLst/>
          </a:prstGeom>
          <a:noFill/>
          <a:ln/>
        </p:spPr>
        <p:txBody>
          <a:bodyPr wrap="square" lIns="0" tIns="0" rIns="0" bIns="0" rtlCol="0" anchor="ctr"/>
          <a:lstStyle/>
          <a:p>
            <a:pPr marL="0" indent="0">
              <a:buNone/>
            </a:pPr>
            <a:r>
              <a:rPr lang="en-US" sz="1600" dirty="0">
                <a:solidFill>
                  <a:schemeClr val="tx1"/>
                </a:solidFill>
              </a:rPr>
              <a:t>SDKs for Android, iOS, Flutter, Unity</a:t>
            </a:r>
            <a:endParaRPr lang="en-US" sz="1600" dirty="0"/>
          </a:p>
        </p:txBody>
      </p:sp>
      <p:sp>
        <p:nvSpPr>
          <p:cNvPr id="15" name="Icon circle 49"/>
          <p:cNvSpPr/>
          <p:nvPr/>
        </p:nvSpPr>
        <p:spPr>
          <a:xfrm>
            <a:off x="5029200" y="3886200"/>
            <a:ext cx="548640" cy="548640"/>
          </a:xfrm>
          <a:prstGeom prst="ellipse">
            <a:avLst/>
          </a:prstGeom>
          <a:solidFill>
            <a:schemeClr val="accent2"/>
          </a:solidFill>
          <a:ln/>
        </p:spPr>
      </p:sp>
      <p:pic>
        <p:nvPicPr>
          <p:cNvPr id="16" name="Icon 50" descr="Coins icon"/>
          <p:cNvPicPr>
            <a:picLocks noChangeAspect="1"/>
          </p:cNvPicPr>
          <p:nvPr/>
        </p:nvPicPr>
        <p:blipFill>
          <a:blip r:embed="rId6"/>
          <a:stretch>
            <a:fillRect/>
          </a:stretch>
        </p:blipFill>
        <p:spPr>
          <a:xfrm>
            <a:off x="5149901" y="4006901"/>
            <a:ext cx="307238" cy="307238"/>
          </a:xfrm>
          <a:prstGeom prst="rect">
            <a:avLst/>
          </a:prstGeom>
        </p:spPr>
      </p:pic>
      <p:sp>
        <p:nvSpPr>
          <p:cNvPr id="17" name="Text 51"/>
          <p:cNvSpPr txBox="1"/>
          <p:nvPr/>
        </p:nvSpPr>
        <p:spPr>
          <a:xfrm>
            <a:off x="5760720" y="3886200"/>
            <a:ext cx="2926080" cy="548640"/>
          </a:xfrm>
          <a:prstGeom prst="rect">
            <a:avLst/>
          </a:prstGeom>
          <a:noFill/>
          <a:ln/>
        </p:spPr>
        <p:txBody>
          <a:bodyPr wrap="square" lIns="0" tIns="0" rIns="0" bIns="0" rtlCol="0" anchor="ctr"/>
          <a:lstStyle/>
          <a:p>
            <a:pPr marL="0" indent="0">
              <a:buNone/>
            </a:pPr>
            <a:r>
              <a:rPr lang="en-US" sz="1600" dirty="0">
                <a:solidFill>
                  <a:schemeClr val="tx1"/>
                </a:solidFill>
              </a:rPr>
              <a:t>Free Spark plan to get started</a:t>
            </a:r>
            <a:endParaRPr lang="en-US" sz="16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200" b="1" dirty="0">
                <a:solidFill>
                  <a:schemeClr val="tx1"/>
                </a:solidFill>
              </a:rPr>
              <a:t>A brief history of Firebase</a:t>
            </a:r>
            <a:endParaRPr lang="en-US" sz="3200" dirty="0"/>
          </a:p>
        </p:txBody>
      </p:sp>
      <p:sp>
        <p:nvSpPr>
          <p:cNvPr id="3" name="Timeline line 52"/>
          <p:cNvSpPr/>
          <p:nvPr/>
        </p:nvSpPr>
        <p:spPr>
          <a:xfrm>
            <a:off x="548640" y="2651760"/>
            <a:ext cx="8046720" cy="0"/>
          </a:xfrm>
          <a:prstGeom prst="line">
            <a:avLst/>
          </a:prstGeom>
          <a:noFill/>
          <a:ln w="25400">
            <a:solidFill>
              <a:schemeClr val="accent6"/>
            </a:solidFill>
            <a:prstDash val="solid"/>
          </a:ln>
        </p:spPr>
      </p:sp>
      <p:sp>
        <p:nvSpPr>
          <p:cNvPr id="4" name="Card 53"/>
          <p:cNvSpPr/>
          <p:nvPr/>
        </p:nvSpPr>
        <p:spPr>
          <a:xfrm>
            <a:off x="502920" y="1371600"/>
            <a:ext cx="2011680" cy="1188720"/>
          </a:xfrm>
          <a:prstGeom prst="roundRect">
            <a:avLst>
              <a:gd name="adj" fmla="val 7692"/>
            </a:avLst>
          </a:prstGeom>
          <a:solidFill>
            <a:schemeClr val="bg2"/>
          </a:solidFill>
          <a:ln/>
          <a:effectLst>
            <a:outerShdw blurRad="76200" dist="25400" dir="5400000" algn="bl" rotWithShape="0">
              <a:srgbClr val="000000">
                <a:alpha val="12000"/>
              </a:srgbClr>
            </a:outerShdw>
          </a:effectLst>
        </p:spPr>
      </p:sp>
      <p:sp>
        <p:nvSpPr>
          <p:cNvPr id="5" name="Text 54"/>
          <p:cNvSpPr txBox="1"/>
          <p:nvPr/>
        </p:nvSpPr>
        <p:spPr>
          <a:xfrm>
            <a:off x="640080" y="1463040"/>
            <a:ext cx="1737360" cy="1005840"/>
          </a:xfrm>
          <a:prstGeom prst="rect">
            <a:avLst/>
          </a:prstGeom>
          <a:noFill/>
          <a:ln/>
        </p:spPr>
        <p:txBody>
          <a:bodyPr wrap="square" lIns="0" tIns="0" rIns="0" bIns="0" rtlCol="0" anchor="t"/>
          <a:lstStyle/>
          <a:p>
            <a:pPr marL="0" indent="0">
              <a:buNone/>
            </a:pPr>
            <a:r>
              <a:rPr lang="en-US" sz="1800" b="1" dirty="0">
                <a:solidFill>
                  <a:schemeClr val="accent1"/>
                </a:solidFill>
                <a:latin typeface="+mj-lt" pitchFamily="34" charset="0"/>
                <a:ea typeface="+mj-lt" pitchFamily="34" charset="-122"/>
                <a:cs typeface="+mj-lt" pitchFamily="34" charset="-120"/>
              </a:rPr>
              <a:t>2011</a:t>
            </a:r>
            <a:endParaRPr lang="en-US" sz="1800" dirty="0"/>
          </a:p>
          <a:p>
            <a:pPr marL="0" indent="0">
              <a:buNone/>
            </a:pPr>
            <a:r>
              <a:rPr lang="en-US" sz="1400" dirty="0">
                <a:solidFill>
                  <a:schemeClr val="tx1"/>
                </a:solidFill>
              </a:rPr>
              <a:t>Founded as a realtime database startup</a:t>
            </a:r>
            <a:endParaRPr lang="en-US" sz="1800" dirty="0"/>
          </a:p>
        </p:txBody>
      </p:sp>
      <p:sp>
        <p:nvSpPr>
          <p:cNvPr id="6" name="Timeline node 55"/>
          <p:cNvSpPr/>
          <p:nvPr/>
        </p:nvSpPr>
        <p:spPr>
          <a:xfrm>
            <a:off x="1371600" y="2514600"/>
            <a:ext cx="274320" cy="274320"/>
          </a:xfrm>
          <a:prstGeom prst="ellipse">
            <a:avLst/>
          </a:prstGeom>
          <a:solidFill>
            <a:schemeClr val="accent1"/>
          </a:solidFill>
          <a:ln w="25400">
            <a:solidFill>
              <a:schemeClr val="bg1"/>
            </a:solidFill>
            <a:prstDash val="solid"/>
          </a:ln>
        </p:spPr>
      </p:sp>
      <p:sp>
        <p:nvSpPr>
          <p:cNvPr id="7" name="Card 56"/>
          <p:cNvSpPr/>
          <p:nvPr/>
        </p:nvSpPr>
        <p:spPr>
          <a:xfrm>
            <a:off x="1728216" y="2880360"/>
            <a:ext cx="2011680" cy="1188720"/>
          </a:xfrm>
          <a:prstGeom prst="roundRect">
            <a:avLst>
              <a:gd name="adj" fmla="val 7692"/>
            </a:avLst>
          </a:prstGeom>
          <a:solidFill>
            <a:schemeClr val="bg2"/>
          </a:solidFill>
          <a:ln/>
          <a:effectLst>
            <a:outerShdw blurRad="76200" dist="25400" dir="5400000" algn="bl" rotWithShape="0">
              <a:srgbClr val="000000">
                <a:alpha val="12000"/>
              </a:srgbClr>
            </a:outerShdw>
          </a:effectLst>
        </p:spPr>
      </p:sp>
      <p:sp>
        <p:nvSpPr>
          <p:cNvPr id="8" name="Text 57"/>
          <p:cNvSpPr txBox="1"/>
          <p:nvPr/>
        </p:nvSpPr>
        <p:spPr>
          <a:xfrm>
            <a:off x="1865376" y="2971800"/>
            <a:ext cx="1737360" cy="1005840"/>
          </a:xfrm>
          <a:prstGeom prst="rect">
            <a:avLst/>
          </a:prstGeom>
          <a:noFill/>
          <a:ln/>
        </p:spPr>
        <p:txBody>
          <a:bodyPr wrap="square" lIns="0" tIns="0" rIns="0" bIns="0" rtlCol="0" anchor="t"/>
          <a:lstStyle/>
          <a:p>
            <a:pPr marL="0" indent="0">
              <a:buNone/>
            </a:pPr>
            <a:r>
              <a:rPr lang="en-US" sz="1800" b="1" dirty="0">
                <a:solidFill>
                  <a:schemeClr val="accent1"/>
                </a:solidFill>
                <a:latin typeface="+mj-lt" pitchFamily="34" charset="0"/>
                <a:ea typeface="+mj-lt" pitchFamily="34" charset="-122"/>
                <a:cs typeface="+mj-lt" pitchFamily="34" charset="-120"/>
              </a:rPr>
              <a:t>2014</a:t>
            </a:r>
            <a:endParaRPr lang="en-US" sz="1800" dirty="0"/>
          </a:p>
          <a:p>
            <a:pPr marL="0" indent="0">
              <a:buNone/>
            </a:pPr>
            <a:r>
              <a:rPr lang="en-US" sz="1400" dirty="0">
                <a:solidFill>
                  <a:schemeClr val="tx1"/>
                </a:solidFill>
              </a:rPr>
              <a:t>Auth and Hosting launched; Google acquires Firebase</a:t>
            </a:r>
            <a:endParaRPr lang="en-US" sz="1800" dirty="0"/>
          </a:p>
        </p:txBody>
      </p:sp>
      <p:sp>
        <p:nvSpPr>
          <p:cNvPr id="9" name="Timeline node 58"/>
          <p:cNvSpPr/>
          <p:nvPr/>
        </p:nvSpPr>
        <p:spPr>
          <a:xfrm>
            <a:off x="2596896" y="2514600"/>
            <a:ext cx="274320" cy="274320"/>
          </a:xfrm>
          <a:prstGeom prst="ellipse">
            <a:avLst/>
          </a:prstGeom>
          <a:solidFill>
            <a:schemeClr val="accent1"/>
          </a:solidFill>
          <a:ln w="25400">
            <a:solidFill>
              <a:schemeClr val="bg1"/>
            </a:solidFill>
            <a:prstDash val="solid"/>
          </a:ln>
        </p:spPr>
      </p:sp>
      <p:sp>
        <p:nvSpPr>
          <p:cNvPr id="10" name="Card 59"/>
          <p:cNvSpPr/>
          <p:nvPr/>
        </p:nvSpPr>
        <p:spPr>
          <a:xfrm>
            <a:off x="2953512" y="1371600"/>
            <a:ext cx="2011680" cy="1188720"/>
          </a:xfrm>
          <a:prstGeom prst="roundRect">
            <a:avLst>
              <a:gd name="adj" fmla="val 7692"/>
            </a:avLst>
          </a:prstGeom>
          <a:solidFill>
            <a:schemeClr val="bg2"/>
          </a:solidFill>
          <a:ln/>
          <a:effectLst>
            <a:outerShdw blurRad="76200" dist="25400" dir="5400000" algn="bl" rotWithShape="0">
              <a:srgbClr val="000000">
                <a:alpha val="12000"/>
              </a:srgbClr>
            </a:outerShdw>
          </a:effectLst>
        </p:spPr>
      </p:sp>
      <p:sp>
        <p:nvSpPr>
          <p:cNvPr id="11" name="Text 60"/>
          <p:cNvSpPr txBox="1"/>
          <p:nvPr/>
        </p:nvSpPr>
        <p:spPr>
          <a:xfrm>
            <a:off x="3090672" y="1463040"/>
            <a:ext cx="1737360" cy="1005840"/>
          </a:xfrm>
          <a:prstGeom prst="rect">
            <a:avLst/>
          </a:prstGeom>
          <a:noFill/>
          <a:ln/>
        </p:spPr>
        <p:txBody>
          <a:bodyPr wrap="square" lIns="0" tIns="0" rIns="0" bIns="0" rtlCol="0" anchor="t"/>
          <a:lstStyle/>
          <a:p>
            <a:pPr marL="0" indent="0">
              <a:buNone/>
            </a:pPr>
            <a:r>
              <a:rPr lang="en-US" sz="1800" b="1" dirty="0">
                <a:solidFill>
                  <a:schemeClr val="accent1"/>
                </a:solidFill>
                <a:latin typeface="+mj-lt" pitchFamily="34" charset="0"/>
                <a:ea typeface="+mj-lt" pitchFamily="34" charset="-122"/>
                <a:cs typeface="+mj-lt" pitchFamily="34" charset="-120"/>
              </a:rPr>
              <a:t>2016</a:t>
            </a:r>
            <a:endParaRPr lang="en-US" sz="1800" dirty="0"/>
          </a:p>
          <a:p>
            <a:pPr marL="0" indent="0">
              <a:buNone/>
            </a:pPr>
            <a:r>
              <a:rPr lang="en-US" sz="1400" dirty="0">
                <a:solidFill>
                  <a:schemeClr val="tx1"/>
                </a:solidFill>
              </a:rPr>
              <a:t>Cloud Messaging replaces Google's older GCM</a:t>
            </a:r>
            <a:endParaRPr lang="en-US" sz="1800" dirty="0"/>
          </a:p>
        </p:txBody>
      </p:sp>
      <p:sp>
        <p:nvSpPr>
          <p:cNvPr id="12" name="Timeline node 61"/>
          <p:cNvSpPr/>
          <p:nvPr/>
        </p:nvSpPr>
        <p:spPr>
          <a:xfrm>
            <a:off x="3822192" y="2514600"/>
            <a:ext cx="274320" cy="274320"/>
          </a:xfrm>
          <a:prstGeom prst="ellipse">
            <a:avLst/>
          </a:prstGeom>
          <a:solidFill>
            <a:schemeClr val="accent1"/>
          </a:solidFill>
          <a:ln w="25400">
            <a:solidFill>
              <a:schemeClr val="bg1"/>
            </a:solidFill>
            <a:prstDash val="solid"/>
          </a:ln>
        </p:spPr>
      </p:sp>
      <p:sp>
        <p:nvSpPr>
          <p:cNvPr id="13" name="Card 62"/>
          <p:cNvSpPr/>
          <p:nvPr/>
        </p:nvSpPr>
        <p:spPr>
          <a:xfrm>
            <a:off x="4178808" y="2880360"/>
            <a:ext cx="2011680" cy="1188720"/>
          </a:xfrm>
          <a:prstGeom prst="roundRect">
            <a:avLst>
              <a:gd name="adj" fmla="val 7692"/>
            </a:avLst>
          </a:prstGeom>
          <a:solidFill>
            <a:schemeClr val="bg2"/>
          </a:solidFill>
          <a:ln/>
          <a:effectLst>
            <a:outerShdw blurRad="76200" dist="25400" dir="5400000" algn="bl" rotWithShape="0">
              <a:srgbClr val="000000">
                <a:alpha val="12000"/>
              </a:srgbClr>
            </a:outerShdw>
          </a:effectLst>
        </p:spPr>
      </p:sp>
      <p:sp>
        <p:nvSpPr>
          <p:cNvPr id="14" name="Text 63"/>
          <p:cNvSpPr txBox="1"/>
          <p:nvPr/>
        </p:nvSpPr>
        <p:spPr>
          <a:xfrm>
            <a:off x="4315968" y="2971800"/>
            <a:ext cx="1737360" cy="1005840"/>
          </a:xfrm>
          <a:prstGeom prst="rect">
            <a:avLst/>
          </a:prstGeom>
          <a:noFill/>
          <a:ln/>
        </p:spPr>
        <p:txBody>
          <a:bodyPr wrap="square" lIns="0" tIns="0" rIns="0" bIns="0" rtlCol="0" anchor="t"/>
          <a:lstStyle/>
          <a:p>
            <a:pPr marL="0" indent="0">
              <a:buNone/>
            </a:pPr>
            <a:r>
              <a:rPr lang="en-US" sz="1800" b="1" dirty="0">
                <a:solidFill>
                  <a:schemeClr val="accent1"/>
                </a:solidFill>
                <a:latin typeface="+mj-lt" pitchFamily="34" charset="0"/>
                <a:ea typeface="+mj-lt" pitchFamily="34" charset="-122"/>
                <a:cs typeface="+mj-lt" pitchFamily="34" charset="-120"/>
              </a:rPr>
              <a:t>2017</a:t>
            </a:r>
            <a:endParaRPr lang="en-US" sz="1800" dirty="0"/>
          </a:p>
          <a:p>
            <a:pPr marL="0" indent="0">
              <a:buNone/>
            </a:pPr>
            <a:r>
              <a:rPr lang="en-US" sz="1400" dirty="0">
                <a:solidFill>
                  <a:schemeClr val="tx1"/>
                </a:solidFill>
              </a:rPr>
              <a:t>Cloud Firestore launched; Crashlytics joins</a:t>
            </a:r>
            <a:endParaRPr lang="en-US" sz="1800" dirty="0"/>
          </a:p>
        </p:txBody>
      </p:sp>
      <p:sp>
        <p:nvSpPr>
          <p:cNvPr id="15" name="Timeline node 64"/>
          <p:cNvSpPr/>
          <p:nvPr/>
        </p:nvSpPr>
        <p:spPr>
          <a:xfrm>
            <a:off x="5047488" y="2514600"/>
            <a:ext cx="274320" cy="274320"/>
          </a:xfrm>
          <a:prstGeom prst="ellipse">
            <a:avLst/>
          </a:prstGeom>
          <a:solidFill>
            <a:schemeClr val="accent1"/>
          </a:solidFill>
          <a:ln w="25400">
            <a:solidFill>
              <a:schemeClr val="bg1"/>
            </a:solidFill>
            <a:prstDash val="solid"/>
          </a:ln>
        </p:spPr>
      </p:sp>
      <p:sp>
        <p:nvSpPr>
          <p:cNvPr id="16" name="Card 65"/>
          <p:cNvSpPr/>
          <p:nvPr/>
        </p:nvSpPr>
        <p:spPr>
          <a:xfrm>
            <a:off x="5404104" y="1371600"/>
            <a:ext cx="2011680" cy="1188720"/>
          </a:xfrm>
          <a:prstGeom prst="roundRect">
            <a:avLst>
              <a:gd name="adj" fmla="val 7692"/>
            </a:avLst>
          </a:prstGeom>
          <a:solidFill>
            <a:schemeClr val="bg2"/>
          </a:solidFill>
          <a:ln/>
          <a:effectLst>
            <a:outerShdw blurRad="76200" dist="25400" dir="5400000" algn="bl" rotWithShape="0">
              <a:srgbClr val="000000">
                <a:alpha val="12000"/>
              </a:srgbClr>
            </a:outerShdw>
          </a:effectLst>
        </p:spPr>
      </p:sp>
      <p:sp>
        <p:nvSpPr>
          <p:cNvPr id="17" name="Text 66"/>
          <p:cNvSpPr txBox="1"/>
          <p:nvPr/>
        </p:nvSpPr>
        <p:spPr>
          <a:xfrm>
            <a:off x="5541264" y="1463040"/>
            <a:ext cx="1737360" cy="1005840"/>
          </a:xfrm>
          <a:prstGeom prst="rect">
            <a:avLst/>
          </a:prstGeom>
          <a:noFill/>
          <a:ln/>
        </p:spPr>
        <p:txBody>
          <a:bodyPr wrap="square" lIns="0" tIns="0" rIns="0" bIns="0" rtlCol="0" anchor="t"/>
          <a:lstStyle/>
          <a:p>
            <a:pPr marL="0" indent="0">
              <a:buNone/>
            </a:pPr>
            <a:r>
              <a:rPr lang="en-US" sz="1800" b="1" dirty="0">
                <a:solidFill>
                  <a:schemeClr val="accent1"/>
                </a:solidFill>
                <a:latin typeface="+mj-lt" pitchFamily="34" charset="0"/>
                <a:ea typeface="+mj-lt" pitchFamily="34" charset="-122"/>
                <a:cs typeface="+mj-lt" pitchFamily="34" charset="-120"/>
              </a:rPr>
              <a:t>2019</a:t>
            </a:r>
            <a:endParaRPr lang="en-US" sz="1800" dirty="0"/>
          </a:p>
          <a:p>
            <a:pPr marL="0" indent="0">
              <a:buNone/>
            </a:pPr>
            <a:r>
              <a:rPr lang="en-US" sz="1400" dirty="0">
                <a:solidFill>
                  <a:schemeClr val="tx1"/>
                </a:solidFill>
              </a:rPr>
              <a:t>Firestore reaches general availability</a:t>
            </a:r>
            <a:endParaRPr lang="en-US" sz="1800" dirty="0"/>
          </a:p>
        </p:txBody>
      </p:sp>
      <p:sp>
        <p:nvSpPr>
          <p:cNvPr id="18" name="Timeline node 67"/>
          <p:cNvSpPr/>
          <p:nvPr/>
        </p:nvSpPr>
        <p:spPr>
          <a:xfrm>
            <a:off x="6272784" y="2514600"/>
            <a:ext cx="274320" cy="274320"/>
          </a:xfrm>
          <a:prstGeom prst="ellipse">
            <a:avLst/>
          </a:prstGeom>
          <a:solidFill>
            <a:schemeClr val="accent1"/>
          </a:solidFill>
          <a:ln w="25400">
            <a:solidFill>
              <a:schemeClr val="bg1"/>
            </a:solidFill>
            <a:prstDash val="solid"/>
          </a:ln>
        </p:spPr>
      </p:sp>
      <p:sp>
        <p:nvSpPr>
          <p:cNvPr id="19" name="Card 68"/>
          <p:cNvSpPr/>
          <p:nvPr/>
        </p:nvSpPr>
        <p:spPr>
          <a:xfrm>
            <a:off x="6629400" y="2880360"/>
            <a:ext cx="2011680" cy="1188720"/>
          </a:xfrm>
          <a:prstGeom prst="roundRect">
            <a:avLst>
              <a:gd name="adj" fmla="val 7692"/>
            </a:avLst>
          </a:prstGeom>
          <a:solidFill>
            <a:schemeClr val="bg2"/>
          </a:solidFill>
          <a:ln/>
          <a:effectLst>
            <a:outerShdw blurRad="76200" dist="25400" dir="5400000" algn="bl" rotWithShape="0">
              <a:srgbClr val="000000">
                <a:alpha val="12000"/>
              </a:srgbClr>
            </a:outerShdw>
          </a:effectLst>
        </p:spPr>
      </p:sp>
      <p:sp>
        <p:nvSpPr>
          <p:cNvPr id="20" name="Text 69"/>
          <p:cNvSpPr txBox="1"/>
          <p:nvPr/>
        </p:nvSpPr>
        <p:spPr>
          <a:xfrm>
            <a:off x="6766560" y="2971800"/>
            <a:ext cx="1737360" cy="1005840"/>
          </a:xfrm>
          <a:prstGeom prst="rect">
            <a:avLst/>
          </a:prstGeom>
          <a:noFill/>
          <a:ln/>
        </p:spPr>
        <p:txBody>
          <a:bodyPr wrap="square" lIns="0" tIns="0" rIns="0" bIns="0" rtlCol="0" anchor="t"/>
          <a:lstStyle/>
          <a:p>
            <a:pPr marL="0" indent="0">
              <a:buNone/>
            </a:pPr>
            <a:r>
              <a:rPr lang="en-US" sz="1800" b="1" dirty="0">
                <a:solidFill>
                  <a:schemeClr val="accent1"/>
                </a:solidFill>
                <a:latin typeface="+mj-lt" pitchFamily="34" charset="0"/>
                <a:ea typeface="+mj-lt" pitchFamily="34" charset="-122"/>
                <a:cs typeface="+mj-lt" pitchFamily="34" charset="-120"/>
              </a:rPr>
              <a:t>2026</a:t>
            </a:r>
            <a:endParaRPr lang="en-US" sz="1800" dirty="0"/>
          </a:p>
          <a:p>
            <a:pPr marL="0" indent="0">
              <a:buNone/>
            </a:pPr>
            <a:r>
              <a:rPr lang="en-US" sz="1400" dirty="0">
                <a:solidFill>
                  <a:schemeClr val="tx1"/>
                </a:solidFill>
              </a:rPr>
              <a:t>SQL Connect and Gemini-powered AI Logic</a:t>
            </a:r>
            <a:endParaRPr lang="en-US" sz="1800" dirty="0"/>
          </a:p>
        </p:txBody>
      </p:sp>
      <p:sp>
        <p:nvSpPr>
          <p:cNvPr id="21" name="Timeline node 70"/>
          <p:cNvSpPr/>
          <p:nvPr/>
        </p:nvSpPr>
        <p:spPr>
          <a:xfrm>
            <a:off x="7498080" y="2514600"/>
            <a:ext cx="274320" cy="274320"/>
          </a:xfrm>
          <a:prstGeom prst="ellipse">
            <a:avLst/>
          </a:prstGeom>
          <a:solidFill>
            <a:schemeClr val="accent1"/>
          </a:solidFill>
          <a:ln w="25400">
            <a:solidFill>
              <a:schemeClr val="bg1"/>
            </a:solidFill>
            <a:prstDash val="solid"/>
          </a:ln>
        </p:spPr>
      </p:sp>
      <p:sp>
        <p:nvSpPr>
          <p:cNvPr id="22" name="Text 71"/>
          <p:cNvSpPr txBox="1"/>
          <p:nvPr/>
        </p:nvSpPr>
        <p:spPr>
          <a:xfrm>
            <a:off x="457200" y="4297680"/>
            <a:ext cx="8229600" cy="274320"/>
          </a:xfrm>
          <a:prstGeom prst="rect">
            <a:avLst/>
          </a:prstGeom>
          <a:noFill/>
          <a:ln/>
        </p:spPr>
        <p:txBody>
          <a:bodyPr wrap="square" lIns="0" tIns="0" rIns="0" bIns="0" rtlCol="0" anchor="ctr"/>
          <a:lstStyle/>
          <a:p>
            <a:pPr marL="0" indent="0">
              <a:buNone/>
            </a:pPr>
            <a:r>
              <a:rPr lang="en-US" sz="1200" i="1" dirty="0">
                <a:solidFill>
                  <a:schemeClr val="tx2"/>
                </a:solidFill>
              </a:rPr>
              <a:t>Today: Firebase CLI v15.x, SDKs for Android, iOS, web, Flutter, Unity and C++</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200" b="1" dirty="0">
                <a:solidFill>
                  <a:schemeClr val="tx1"/>
                </a:solidFill>
              </a:rPr>
              <a:t>Key characteristics</a:t>
            </a:r>
            <a:endParaRPr lang="en-US" sz="3200" dirty="0"/>
          </a:p>
        </p:txBody>
      </p:sp>
      <p:sp>
        <p:nvSpPr>
          <p:cNvPr id="3" name="Card 72"/>
          <p:cNvSpPr/>
          <p:nvPr/>
        </p:nvSpPr>
        <p:spPr>
          <a:xfrm>
            <a:off x="457200" y="1234440"/>
            <a:ext cx="1920240" cy="3017520"/>
          </a:xfrm>
          <a:prstGeom prst="roundRect">
            <a:avLst>
              <a:gd name="adj" fmla="val 4762"/>
            </a:avLst>
          </a:prstGeom>
          <a:solidFill>
            <a:schemeClr val="bg2"/>
          </a:solidFill>
          <a:ln/>
          <a:effectLst>
            <a:outerShdw blurRad="76200" dist="25400" dir="5400000" algn="bl" rotWithShape="0">
              <a:srgbClr val="000000">
                <a:alpha val="12000"/>
              </a:srgbClr>
            </a:outerShdw>
          </a:effectLst>
        </p:spPr>
      </p:sp>
      <p:sp>
        <p:nvSpPr>
          <p:cNvPr id="4" name="Icon circle 73"/>
          <p:cNvSpPr/>
          <p:nvPr/>
        </p:nvSpPr>
        <p:spPr>
          <a:xfrm>
            <a:off x="594360" y="1417320"/>
            <a:ext cx="731520" cy="731520"/>
          </a:xfrm>
          <a:prstGeom prst="ellipse">
            <a:avLst/>
          </a:prstGeom>
          <a:solidFill>
            <a:schemeClr val="accent2"/>
          </a:solidFill>
          <a:ln/>
        </p:spPr>
      </p:sp>
      <p:pic>
        <p:nvPicPr>
          <p:cNvPr id="5" name="Icon 74" descr="SyncAlt icon"/>
          <p:cNvPicPr>
            <a:picLocks noChangeAspect="1"/>
          </p:cNvPicPr>
          <p:nvPr/>
        </p:nvPicPr>
        <p:blipFill>
          <a:blip r:embed="rId3"/>
          <a:stretch>
            <a:fillRect/>
          </a:stretch>
        </p:blipFill>
        <p:spPr>
          <a:xfrm>
            <a:off x="755294" y="1578254"/>
            <a:ext cx="409651" cy="409651"/>
          </a:xfrm>
          <a:prstGeom prst="rect">
            <a:avLst/>
          </a:prstGeom>
        </p:spPr>
      </p:pic>
      <p:sp>
        <p:nvSpPr>
          <p:cNvPr id="6" name="Text 75"/>
          <p:cNvSpPr txBox="1"/>
          <p:nvPr/>
        </p:nvSpPr>
        <p:spPr>
          <a:xfrm>
            <a:off x="594360" y="2331720"/>
            <a:ext cx="1645920" cy="320040"/>
          </a:xfrm>
          <a:prstGeom prst="rect">
            <a:avLst/>
          </a:prstGeom>
          <a:noFill/>
          <a:ln/>
        </p:spPr>
        <p:txBody>
          <a:bodyPr wrap="square" lIns="0" tIns="0" rIns="0" bIns="0" rtlCol="0" anchor="ctr"/>
          <a:lstStyle/>
          <a:p>
            <a:pPr marL="0" indent="0">
              <a:buNone/>
            </a:pPr>
            <a:r>
              <a:rPr lang="en-US" sz="1800" b="1" dirty="0">
                <a:solidFill>
                  <a:schemeClr val="tx1"/>
                </a:solidFill>
              </a:rPr>
              <a:t>Realtime sync</a:t>
            </a:r>
            <a:endParaRPr lang="en-US" sz="1800" dirty="0"/>
          </a:p>
        </p:txBody>
      </p:sp>
      <p:sp>
        <p:nvSpPr>
          <p:cNvPr id="7" name="Text 76"/>
          <p:cNvSpPr txBox="1"/>
          <p:nvPr/>
        </p:nvSpPr>
        <p:spPr>
          <a:xfrm>
            <a:off x="594360" y="2743200"/>
            <a:ext cx="1645920" cy="1417320"/>
          </a:xfrm>
          <a:prstGeom prst="rect">
            <a:avLst/>
          </a:prstGeom>
          <a:noFill/>
          <a:ln/>
        </p:spPr>
        <p:txBody>
          <a:bodyPr wrap="square" lIns="0" tIns="0" rIns="0" bIns="0" rtlCol="0" anchor="t"/>
          <a:lstStyle/>
          <a:p>
            <a:pPr marL="0" indent="0">
              <a:buNone/>
            </a:pPr>
            <a:r>
              <a:rPr lang="en-US" sz="1400" dirty="0">
                <a:solidFill>
                  <a:schemeClr val="tx2"/>
                </a:solidFill>
              </a:rPr>
              <a:t>Changes appear on every connected device almost instantly.</a:t>
            </a:r>
            <a:endParaRPr lang="en-US" sz="1400" dirty="0"/>
          </a:p>
        </p:txBody>
      </p:sp>
      <p:sp>
        <p:nvSpPr>
          <p:cNvPr id="8" name="Card 77"/>
          <p:cNvSpPr/>
          <p:nvPr/>
        </p:nvSpPr>
        <p:spPr>
          <a:xfrm>
            <a:off x="2560320" y="1234440"/>
            <a:ext cx="1920240" cy="3017520"/>
          </a:xfrm>
          <a:prstGeom prst="roundRect">
            <a:avLst>
              <a:gd name="adj" fmla="val 4762"/>
            </a:avLst>
          </a:prstGeom>
          <a:solidFill>
            <a:schemeClr val="bg2"/>
          </a:solidFill>
          <a:ln/>
          <a:effectLst>
            <a:outerShdw blurRad="76200" dist="25400" dir="5400000" algn="bl" rotWithShape="0">
              <a:srgbClr val="000000">
                <a:alpha val="12000"/>
              </a:srgbClr>
            </a:outerShdw>
          </a:effectLst>
        </p:spPr>
      </p:sp>
      <p:sp>
        <p:nvSpPr>
          <p:cNvPr id="9" name="Icon circle 78"/>
          <p:cNvSpPr/>
          <p:nvPr/>
        </p:nvSpPr>
        <p:spPr>
          <a:xfrm>
            <a:off x="2697480" y="1417320"/>
            <a:ext cx="731520" cy="731520"/>
          </a:xfrm>
          <a:prstGeom prst="ellipse">
            <a:avLst/>
          </a:prstGeom>
          <a:solidFill>
            <a:schemeClr val="accent2"/>
          </a:solidFill>
          <a:ln/>
        </p:spPr>
      </p:sp>
      <p:pic>
        <p:nvPicPr>
          <p:cNvPr id="10" name="Icon 79" descr="Wifi icon"/>
          <p:cNvPicPr>
            <a:picLocks noChangeAspect="1"/>
          </p:cNvPicPr>
          <p:nvPr/>
        </p:nvPicPr>
        <p:blipFill>
          <a:blip r:embed="rId4"/>
          <a:stretch>
            <a:fillRect/>
          </a:stretch>
        </p:blipFill>
        <p:spPr>
          <a:xfrm>
            <a:off x="2858414" y="1578254"/>
            <a:ext cx="409651" cy="409651"/>
          </a:xfrm>
          <a:prstGeom prst="rect">
            <a:avLst/>
          </a:prstGeom>
        </p:spPr>
      </p:pic>
      <p:sp>
        <p:nvSpPr>
          <p:cNvPr id="11" name="Text 80"/>
          <p:cNvSpPr txBox="1"/>
          <p:nvPr/>
        </p:nvSpPr>
        <p:spPr>
          <a:xfrm>
            <a:off x="2697480" y="2331720"/>
            <a:ext cx="1645920" cy="320040"/>
          </a:xfrm>
          <a:prstGeom prst="rect">
            <a:avLst/>
          </a:prstGeom>
          <a:noFill/>
          <a:ln/>
        </p:spPr>
        <p:txBody>
          <a:bodyPr wrap="square" lIns="0" tIns="0" rIns="0" bIns="0" rtlCol="0" anchor="ctr"/>
          <a:lstStyle/>
          <a:p>
            <a:pPr marL="0" indent="0">
              <a:buNone/>
            </a:pPr>
            <a:r>
              <a:rPr lang="en-US" sz="1800" b="1" dirty="0">
                <a:solidFill>
                  <a:schemeClr val="tx1"/>
                </a:solidFill>
              </a:rPr>
              <a:t>Offline support</a:t>
            </a:r>
            <a:endParaRPr lang="en-US" sz="1800" dirty="0"/>
          </a:p>
        </p:txBody>
      </p:sp>
      <p:sp>
        <p:nvSpPr>
          <p:cNvPr id="12" name="Text 81"/>
          <p:cNvSpPr txBox="1"/>
          <p:nvPr/>
        </p:nvSpPr>
        <p:spPr>
          <a:xfrm>
            <a:off x="2697480" y="2743200"/>
            <a:ext cx="1645920" cy="1417320"/>
          </a:xfrm>
          <a:prstGeom prst="rect">
            <a:avLst/>
          </a:prstGeom>
          <a:noFill/>
          <a:ln/>
        </p:spPr>
        <p:txBody>
          <a:bodyPr wrap="square" lIns="0" tIns="0" rIns="0" bIns="0" rtlCol="0" anchor="t"/>
          <a:lstStyle/>
          <a:p>
            <a:pPr marL="0" indent="0">
              <a:buNone/>
            </a:pPr>
            <a:r>
              <a:rPr lang="en-US" sz="1400" dirty="0">
                <a:solidFill>
                  <a:schemeClr val="tx2"/>
                </a:solidFill>
              </a:rPr>
              <a:t>The app keeps working offline and syncs when back online.</a:t>
            </a:r>
            <a:endParaRPr lang="en-US" sz="1400" dirty="0"/>
          </a:p>
        </p:txBody>
      </p:sp>
      <p:sp>
        <p:nvSpPr>
          <p:cNvPr id="13" name="Card 82"/>
          <p:cNvSpPr/>
          <p:nvPr/>
        </p:nvSpPr>
        <p:spPr>
          <a:xfrm>
            <a:off x="4663440" y="1234440"/>
            <a:ext cx="1920240" cy="3017520"/>
          </a:xfrm>
          <a:prstGeom prst="roundRect">
            <a:avLst>
              <a:gd name="adj" fmla="val 4762"/>
            </a:avLst>
          </a:prstGeom>
          <a:solidFill>
            <a:schemeClr val="bg2"/>
          </a:solidFill>
          <a:ln/>
          <a:effectLst>
            <a:outerShdw blurRad="76200" dist="25400" dir="5400000" algn="bl" rotWithShape="0">
              <a:srgbClr val="000000">
                <a:alpha val="12000"/>
              </a:srgbClr>
            </a:outerShdw>
          </a:effectLst>
        </p:spPr>
      </p:sp>
      <p:sp>
        <p:nvSpPr>
          <p:cNvPr id="14" name="Icon circle 83"/>
          <p:cNvSpPr/>
          <p:nvPr/>
        </p:nvSpPr>
        <p:spPr>
          <a:xfrm>
            <a:off x="4800600" y="1417320"/>
            <a:ext cx="731520" cy="731520"/>
          </a:xfrm>
          <a:prstGeom prst="ellipse">
            <a:avLst/>
          </a:prstGeom>
          <a:solidFill>
            <a:schemeClr val="accent2"/>
          </a:solidFill>
          <a:ln/>
        </p:spPr>
      </p:sp>
      <p:pic>
        <p:nvPicPr>
          <p:cNvPr id="15" name="Icon 84" descr="Server icon"/>
          <p:cNvPicPr>
            <a:picLocks noChangeAspect="1"/>
          </p:cNvPicPr>
          <p:nvPr/>
        </p:nvPicPr>
        <p:blipFill>
          <a:blip r:embed="rId5"/>
          <a:stretch>
            <a:fillRect/>
          </a:stretch>
        </p:blipFill>
        <p:spPr>
          <a:xfrm>
            <a:off x="4961534" y="1578254"/>
            <a:ext cx="409651" cy="409651"/>
          </a:xfrm>
          <a:prstGeom prst="rect">
            <a:avLst/>
          </a:prstGeom>
        </p:spPr>
      </p:pic>
      <p:sp>
        <p:nvSpPr>
          <p:cNvPr id="16" name="Text 85"/>
          <p:cNvSpPr txBox="1"/>
          <p:nvPr/>
        </p:nvSpPr>
        <p:spPr>
          <a:xfrm>
            <a:off x="4800600" y="2331720"/>
            <a:ext cx="1645920" cy="320040"/>
          </a:xfrm>
          <a:prstGeom prst="rect">
            <a:avLst/>
          </a:prstGeom>
          <a:noFill/>
          <a:ln/>
        </p:spPr>
        <p:txBody>
          <a:bodyPr wrap="square" lIns="0" tIns="0" rIns="0" bIns="0" rtlCol="0" anchor="ctr"/>
          <a:lstStyle/>
          <a:p>
            <a:pPr marL="0" indent="0">
              <a:buNone/>
            </a:pPr>
            <a:r>
              <a:rPr lang="en-US" sz="1800" b="1" dirty="0">
                <a:solidFill>
                  <a:schemeClr val="tx1"/>
                </a:solidFill>
              </a:rPr>
              <a:t>Serverless</a:t>
            </a:r>
            <a:endParaRPr lang="en-US" sz="1800" dirty="0"/>
          </a:p>
        </p:txBody>
      </p:sp>
      <p:sp>
        <p:nvSpPr>
          <p:cNvPr id="17" name="Text 86"/>
          <p:cNvSpPr txBox="1"/>
          <p:nvPr/>
        </p:nvSpPr>
        <p:spPr>
          <a:xfrm>
            <a:off x="4800600" y="2743200"/>
            <a:ext cx="1645920" cy="1417320"/>
          </a:xfrm>
          <a:prstGeom prst="rect">
            <a:avLst/>
          </a:prstGeom>
          <a:noFill/>
          <a:ln/>
        </p:spPr>
        <p:txBody>
          <a:bodyPr wrap="square" lIns="0" tIns="0" rIns="0" bIns="0" rtlCol="0" anchor="t"/>
          <a:lstStyle/>
          <a:p>
            <a:pPr marL="0" indent="0">
              <a:buNone/>
            </a:pPr>
            <a:r>
              <a:rPr lang="en-US" sz="1400" dirty="0">
                <a:solidFill>
                  <a:schemeClr val="tx2"/>
                </a:solidFill>
              </a:rPr>
              <a:t>Google runs and scales the servers; you write no server code.</a:t>
            </a:r>
            <a:endParaRPr lang="en-US" sz="1400" dirty="0"/>
          </a:p>
        </p:txBody>
      </p:sp>
      <p:sp>
        <p:nvSpPr>
          <p:cNvPr id="18" name="Card 87"/>
          <p:cNvSpPr/>
          <p:nvPr/>
        </p:nvSpPr>
        <p:spPr>
          <a:xfrm>
            <a:off x="6766560" y="1234440"/>
            <a:ext cx="1920240" cy="3017520"/>
          </a:xfrm>
          <a:prstGeom prst="roundRect">
            <a:avLst>
              <a:gd name="adj" fmla="val 4762"/>
            </a:avLst>
          </a:prstGeom>
          <a:solidFill>
            <a:schemeClr val="bg2"/>
          </a:solidFill>
          <a:ln/>
          <a:effectLst>
            <a:outerShdw blurRad="76200" dist="25400" dir="5400000" algn="bl" rotWithShape="0">
              <a:srgbClr val="000000">
                <a:alpha val="12000"/>
              </a:srgbClr>
            </a:outerShdw>
          </a:effectLst>
        </p:spPr>
      </p:sp>
      <p:sp>
        <p:nvSpPr>
          <p:cNvPr id="19" name="Icon circle 88"/>
          <p:cNvSpPr/>
          <p:nvPr/>
        </p:nvSpPr>
        <p:spPr>
          <a:xfrm>
            <a:off x="6903720" y="1417320"/>
            <a:ext cx="731520" cy="731520"/>
          </a:xfrm>
          <a:prstGeom prst="ellipse">
            <a:avLst/>
          </a:prstGeom>
          <a:solidFill>
            <a:schemeClr val="accent2"/>
          </a:solidFill>
          <a:ln/>
        </p:spPr>
      </p:sp>
      <p:pic>
        <p:nvPicPr>
          <p:cNvPr id="20" name="Icon 89" descr="MobileAlt icon"/>
          <p:cNvPicPr>
            <a:picLocks noChangeAspect="1"/>
          </p:cNvPicPr>
          <p:nvPr/>
        </p:nvPicPr>
        <p:blipFill>
          <a:blip r:embed="rId6"/>
          <a:stretch>
            <a:fillRect/>
          </a:stretch>
        </p:blipFill>
        <p:spPr>
          <a:xfrm>
            <a:off x="7064654" y="1578254"/>
            <a:ext cx="409651" cy="409651"/>
          </a:xfrm>
          <a:prstGeom prst="rect">
            <a:avLst/>
          </a:prstGeom>
        </p:spPr>
      </p:pic>
      <p:sp>
        <p:nvSpPr>
          <p:cNvPr id="21" name="Text 90"/>
          <p:cNvSpPr txBox="1"/>
          <p:nvPr/>
        </p:nvSpPr>
        <p:spPr>
          <a:xfrm>
            <a:off x="6903720" y="2331720"/>
            <a:ext cx="1645920" cy="320040"/>
          </a:xfrm>
          <a:prstGeom prst="rect">
            <a:avLst/>
          </a:prstGeom>
          <a:noFill/>
          <a:ln/>
        </p:spPr>
        <p:txBody>
          <a:bodyPr wrap="square" lIns="0" tIns="0" rIns="0" bIns="0" rtlCol="0" anchor="ctr"/>
          <a:lstStyle/>
          <a:p>
            <a:pPr marL="0" indent="0">
              <a:buNone/>
            </a:pPr>
            <a:r>
              <a:rPr lang="en-US" sz="1800" b="1" dirty="0">
                <a:solidFill>
                  <a:schemeClr val="tx1"/>
                </a:solidFill>
              </a:rPr>
              <a:t>Cross-platform</a:t>
            </a:r>
            <a:endParaRPr lang="en-US" sz="1800" dirty="0"/>
          </a:p>
        </p:txBody>
      </p:sp>
      <p:sp>
        <p:nvSpPr>
          <p:cNvPr id="22" name="Text 91"/>
          <p:cNvSpPr txBox="1"/>
          <p:nvPr/>
        </p:nvSpPr>
        <p:spPr>
          <a:xfrm>
            <a:off x="6903720" y="2743200"/>
            <a:ext cx="1645920" cy="1417320"/>
          </a:xfrm>
          <a:prstGeom prst="rect">
            <a:avLst/>
          </a:prstGeom>
          <a:noFill/>
          <a:ln/>
        </p:spPr>
        <p:txBody>
          <a:bodyPr wrap="square" lIns="0" tIns="0" rIns="0" bIns="0" rtlCol="0" anchor="t"/>
          <a:lstStyle/>
          <a:p>
            <a:pPr marL="0" indent="0">
              <a:buNone/>
            </a:pPr>
            <a:r>
              <a:rPr lang="en-US" sz="1400" dirty="0">
                <a:solidFill>
                  <a:schemeClr val="tx2"/>
                </a:solidFill>
              </a:rPr>
              <a:t>One backend for Android, iOS, Flutter and web apps.</a:t>
            </a:r>
            <a:endParaRPr lang="en-US" sz="1400" dirty="0"/>
          </a:p>
        </p:txBody>
      </p:sp>
      <p:sp>
        <p:nvSpPr>
          <p:cNvPr id="23" name="Text 92"/>
          <p:cNvSpPr txBox="1"/>
          <p:nvPr/>
        </p:nvSpPr>
        <p:spPr>
          <a:xfrm>
            <a:off x="457200" y="4434840"/>
            <a:ext cx="8229600" cy="274320"/>
          </a:xfrm>
          <a:prstGeom prst="rect">
            <a:avLst/>
          </a:prstGeom>
          <a:noFill/>
          <a:ln/>
        </p:spPr>
        <p:txBody>
          <a:bodyPr wrap="square" lIns="0" tIns="0" rIns="0" bIns="0" rtlCol="0" anchor="ctr"/>
          <a:lstStyle/>
          <a:p>
            <a:pPr marL="0" indent="0">
              <a:buNone/>
            </a:pPr>
            <a:r>
              <a:rPr lang="en-US" sz="1200" i="1" dirty="0">
                <a:solidFill>
                  <a:schemeClr val="tx2"/>
                </a:solidFill>
              </a:rPr>
              <a:t>Serverless = you do not manage servers; the cloud provider does it for you.</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200" b="1" dirty="0">
                <a:solidFill>
                  <a:schemeClr val="tx1"/>
                </a:solidFill>
              </a:rPr>
              <a:t>Firebase service families</a:t>
            </a:r>
            <a:endParaRPr lang="en-US" sz="3200" dirty="0"/>
          </a:p>
        </p:txBody>
      </p:sp>
      <p:sp>
        <p:nvSpPr>
          <p:cNvPr id="3" name="Card 93"/>
          <p:cNvSpPr/>
          <p:nvPr/>
        </p:nvSpPr>
        <p:spPr>
          <a:xfrm>
            <a:off x="457200" y="1188720"/>
            <a:ext cx="2560320" cy="3383280"/>
          </a:xfrm>
          <a:prstGeom prst="roundRect">
            <a:avLst>
              <a:gd name="adj" fmla="val 3571"/>
            </a:avLst>
          </a:prstGeom>
          <a:solidFill>
            <a:schemeClr val="bg2"/>
          </a:solidFill>
          <a:ln/>
          <a:effectLst>
            <a:outerShdw blurRad="76200" dist="25400" dir="5400000" algn="bl" rotWithShape="0">
              <a:srgbClr val="000000">
                <a:alpha val="12000"/>
              </a:srgbClr>
            </a:outerShdw>
          </a:effectLst>
        </p:spPr>
      </p:sp>
      <p:sp>
        <p:nvSpPr>
          <p:cNvPr id="4" name="Icon circle 94"/>
          <p:cNvSpPr/>
          <p:nvPr/>
        </p:nvSpPr>
        <p:spPr>
          <a:xfrm>
            <a:off x="640080" y="1371600"/>
            <a:ext cx="548640" cy="548640"/>
          </a:xfrm>
          <a:prstGeom prst="ellipse">
            <a:avLst/>
          </a:prstGeom>
          <a:solidFill>
            <a:schemeClr val="accent2"/>
          </a:solidFill>
          <a:ln/>
        </p:spPr>
      </p:sp>
      <p:pic>
        <p:nvPicPr>
          <p:cNvPr id="5" name="Icon 95" descr="LayerGroup icon"/>
          <p:cNvPicPr>
            <a:picLocks noChangeAspect="1"/>
          </p:cNvPicPr>
          <p:nvPr/>
        </p:nvPicPr>
        <p:blipFill>
          <a:blip r:embed="rId3"/>
          <a:stretch>
            <a:fillRect/>
          </a:stretch>
        </p:blipFill>
        <p:spPr>
          <a:xfrm>
            <a:off x="760781" y="1492301"/>
            <a:ext cx="307238" cy="307238"/>
          </a:xfrm>
          <a:prstGeom prst="rect">
            <a:avLst/>
          </a:prstGeom>
        </p:spPr>
      </p:pic>
      <p:sp>
        <p:nvSpPr>
          <p:cNvPr id="6" name="Text 96"/>
          <p:cNvSpPr txBox="1"/>
          <p:nvPr/>
        </p:nvSpPr>
        <p:spPr>
          <a:xfrm>
            <a:off x="1325880" y="1371600"/>
            <a:ext cx="1600200" cy="548640"/>
          </a:xfrm>
          <a:prstGeom prst="rect">
            <a:avLst/>
          </a:prstGeom>
          <a:noFill/>
          <a:ln/>
        </p:spPr>
        <p:txBody>
          <a:bodyPr wrap="square" lIns="0" tIns="0" rIns="0" bIns="0" rtlCol="0" anchor="ctr"/>
          <a:lstStyle/>
          <a:p>
            <a:pPr marL="0" indent="0">
              <a:buNone/>
            </a:pPr>
            <a:r>
              <a:rPr lang="en-US" sz="1600" b="1" dirty="0">
                <a:solidFill>
                  <a:schemeClr val="tx1"/>
                </a:solidFill>
              </a:rPr>
              <a:t>Build</a:t>
            </a:r>
            <a:endParaRPr lang="en-US" sz="1600" dirty="0"/>
          </a:p>
        </p:txBody>
      </p:sp>
      <p:sp>
        <p:nvSpPr>
          <p:cNvPr id="7" name="Text 97"/>
          <p:cNvSpPr txBox="1"/>
          <p:nvPr/>
        </p:nvSpPr>
        <p:spPr>
          <a:xfrm>
            <a:off x="685800" y="2148840"/>
            <a:ext cx="2194560" cy="23317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Authentication</a:t>
            </a:r>
            <a:endParaRPr lang="en-US" sz="1500" dirty="0"/>
          </a:p>
          <a:p>
            <a:pPr marL="342900" indent="-342900">
              <a:spcAft>
                <a:spcPts val="600"/>
              </a:spcAft>
              <a:buSzPct val="100000"/>
              <a:buChar char="•"/>
            </a:pPr>
            <a:r>
              <a:rPr lang="en-US" sz="1500" dirty="0">
                <a:solidFill>
                  <a:schemeClr val="tx1"/>
                </a:solidFill>
              </a:rPr>
              <a:t>Cloud Firestore</a:t>
            </a:r>
            <a:endParaRPr lang="en-US" sz="1500" dirty="0"/>
          </a:p>
          <a:p>
            <a:pPr marL="342900" indent="-342900">
              <a:spcAft>
                <a:spcPts val="600"/>
              </a:spcAft>
              <a:buSzPct val="100000"/>
              <a:buChar char="•"/>
            </a:pPr>
            <a:r>
              <a:rPr lang="en-US" sz="1500" dirty="0">
                <a:solidFill>
                  <a:schemeClr val="tx1"/>
                </a:solidFill>
              </a:rPr>
              <a:t>Realtime Database</a:t>
            </a:r>
            <a:endParaRPr lang="en-US" sz="1500" dirty="0"/>
          </a:p>
          <a:p>
            <a:pPr marL="342900" indent="-342900">
              <a:spcAft>
                <a:spcPts val="600"/>
              </a:spcAft>
              <a:buSzPct val="100000"/>
              <a:buChar char="•"/>
            </a:pPr>
            <a:r>
              <a:rPr lang="en-US" sz="1500" dirty="0">
                <a:solidFill>
                  <a:schemeClr val="tx1"/>
                </a:solidFill>
              </a:rPr>
              <a:t>Cloud Storage</a:t>
            </a:r>
            <a:endParaRPr lang="en-US" sz="1500" dirty="0"/>
          </a:p>
          <a:p>
            <a:pPr marL="342900" indent="-342900">
              <a:spcAft>
                <a:spcPts val="600"/>
              </a:spcAft>
              <a:buSzPct val="100000"/>
              <a:buChar char="•"/>
            </a:pPr>
            <a:r>
              <a:rPr lang="en-US" sz="1500" dirty="0">
                <a:solidFill>
                  <a:schemeClr val="tx1"/>
                </a:solidFill>
              </a:rPr>
              <a:t>Cloud Functions</a:t>
            </a:r>
            <a:endParaRPr lang="en-US" sz="1500" dirty="0"/>
          </a:p>
          <a:p>
            <a:pPr marL="342900" indent="-342900">
              <a:spcAft>
                <a:spcPts val="600"/>
              </a:spcAft>
              <a:buSzPct val="100000"/>
              <a:buChar char="•"/>
            </a:pPr>
            <a:r>
              <a:rPr lang="en-US" sz="1500" dirty="0">
                <a:solidFill>
                  <a:schemeClr val="tx1"/>
                </a:solidFill>
              </a:rPr>
              <a:t>Hosting</a:t>
            </a:r>
            <a:endParaRPr lang="en-US" sz="1500" dirty="0"/>
          </a:p>
          <a:p>
            <a:pPr marL="342900" indent="-342900">
              <a:spcAft>
                <a:spcPts val="600"/>
              </a:spcAft>
              <a:buSzPct val="100000"/>
              <a:buChar char="•"/>
            </a:pPr>
            <a:r>
              <a:rPr lang="en-US" sz="1500" dirty="0">
                <a:solidFill>
                  <a:schemeClr val="tx1"/>
                </a:solidFill>
              </a:rPr>
              <a:t>AI Logic</a:t>
            </a:r>
            <a:endParaRPr lang="en-US" sz="1500" dirty="0"/>
          </a:p>
        </p:txBody>
      </p:sp>
      <p:sp>
        <p:nvSpPr>
          <p:cNvPr id="8" name="Card 98"/>
          <p:cNvSpPr/>
          <p:nvPr/>
        </p:nvSpPr>
        <p:spPr>
          <a:xfrm>
            <a:off x="3291840" y="1188720"/>
            <a:ext cx="2560320" cy="3383280"/>
          </a:xfrm>
          <a:prstGeom prst="roundRect">
            <a:avLst>
              <a:gd name="adj" fmla="val 3571"/>
            </a:avLst>
          </a:prstGeom>
          <a:solidFill>
            <a:schemeClr val="bg2"/>
          </a:solidFill>
          <a:ln/>
          <a:effectLst>
            <a:outerShdw blurRad="76200" dist="25400" dir="5400000" algn="bl" rotWithShape="0">
              <a:srgbClr val="000000">
                <a:alpha val="12000"/>
              </a:srgbClr>
            </a:outerShdw>
          </a:effectLst>
        </p:spPr>
      </p:sp>
      <p:sp>
        <p:nvSpPr>
          <p:cNvPr id="9" name="Icon circle 99"/>
          <p:cNvSpPr/>
          <p:nvPr/>
        </p:nvSpPr>
        <p:spPr>
          <a:xfrm>
            <a:off x="3474720" y="1371600"/>
            <a:ext cx="548640" cy="548640"/>
          </a:xfrm>
          <a:prstGeom prst="ellipse">
            <a:avLst/>
          </a:prstGeom>
          <a:solidFill>
            <a:schemeClr val="accent1"/>
          </a:solidFill>
          <a:ln/>
        </p:spPr>
      </p:sp>
      <p:pic>
        <p:nvPicPr>
          <p:cNvPr id="10" name="Icon 100" descr="ShieldAlt icon"/>
          <p:cNvPicPr>
            <a:picLocks noChangeAspect="1"/>
          </p:cNvPicPr>
          <p:nvPr/>
        </p:nvPicPr>
        <p:blipFill>
          <a:blip r:embed="rId4"/>
          <a:stretch>
            <a:fillRect/>
          </a:stretch>
        </p:blipFill>
        <p:spPr>
          <a:xfrm>
            <a:off x="3595421" y="1492301"/>
            <a:ext cx="307238" cy="307238"/>
          </a:xfrm>
          <a:prstGeom prst="rect">
            <a:avLst/>
          </a:prstGeom>
        </p:spPr>
      </p:pic>
      <p:sp>
        <p:nvSpPr>
          <p:cNvPr id="11" name="Text 101"/>
          <p:cNvSpPr txBox="1"/>
          <p:nvPr/>
        </p:nvSpPr>
        <p:spPr>
          <a:xfrm>
            <a:off x="4160520" y="1371600"/>
            <a:ext cx="1600200" cy="548640"/>
          </a:xfrm>
          <a:prstGeom prst="rect">
            <a:avLst/>
          </a:prstGeom>
          <a:noFill/>
          <a:ln/>
        </p:spPr>
        <p:txBody>
          <a:bodyPr wrap="square" lIns="0" tIns="0" rIns="0" bIns="0" rtlCol="0" anchor="ctr"/>
          <a:lstStyle/>
          <a:p>
            <a:pPr marL="0" indent="0">
              <a:buNone/>
            </a:pPr>
            <a:r>
              <a:rPr lang="en-US" sz="1600" b="1" dirty="0">
                <a:solidFill>
                  <a:schemeClr val="tx1"/>
                </a:solidFill>
              </a:rPr>
              <a:t>Release and monitor</a:t>
            </a:r>
            <a:endParaRPr lang="en-US" sz="1600" dirty="0"/>
          </a:p>
        </p:txBody>
      </p:sp>
      <p:sp>
        <p:nvSpPr>
          <p:cNvPr id="12" name="Text 102"/>
          <p:cNvSpPr txBox="1"/>
          <p:nvPr/>
        </p:nvSpPr>
        <p:spPr>
          <a:xfrm>
            <a:off x="3520440" y="2148840"/>
            <a:ext cx="2194560" cy="23317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App Check</a:t>
            </a:r>
            <a:endParaRPr lang="en-US" sz="1500" dirty="0"/>
          </a:p>
          <a:p>
            <a:pPr marL="342900" indent="-342900">
              <a:spcAft>
                <a:spcPts val="600"/>
              </a:spcAft>
              <a:buSzPct val="100000"/>
              <a:buChar char="•"/>
            </a:pPr>
            <a:r>
              <a:rPr lang="en-US" sz="1500" dirty="0">
                <a:solidFill>
                  <a:schemeClr val="tx1"/>
                </a:solidFill>
              </a:rPr>
              <a:t>Crashlytics</a:t>
            </a:r>
            <a:endParaRPr lang="en-US" sz="1500" dirty="0"/>
          </a:p>
          <a:p>
            <a:pPr marL="342900" indent="-342900">
              <a:spcAft>
                <a:spcPts val="600"/>
              </a:spcAft>
              <a:buSzPct val="100000"/>
              <a:buChar char="•"/>
            </a:pPr>
            <a:r>
              <a:rPr lang="en-US" sz="1500" dirty="0">
                <a:solidFill>
                  <a:schemeClr val="tx1"/>
                </a:solidFill>
              </a:rPr>
              <a:t>Performance Monitoring</a:t>
            </a:r>
            <a:endParaRPr lang="en-US" sz="1500" dirty="0"/>
          </a:p>
          <a:p>
            <a:pPr marL="342900" indent="-342900">
              <a:spcAft>
                <a:spcPts val="600"/>
              </a:spcAft>
              <a:buSzPct val="100000"/>
              <a:buChar char="•"/>
            </a:pPr>
            <a:r>
              <a:rPr lang="en-US" sz="1500" dirty="0">
                <a:solidFill>
                  <a:schemeClr val="tx1"/>
                </a:solidFill>
              </a:rPr>
              <a:t>Test Lab</a:t>
            </a:r>
            <a:endParaRPr lang="en-US" sz="1500" dirty="0"/>
          </a:p>
          <a:p>
            <a:pPr marL="342900" indent="-342900">
              <a:spcAft>
                <a:spcPts val="600"/>
              </a:spcAft>
              <a:buSzPct val="100000"/>
              <a:buChar char="•"/>
            </a:pPr>
            <a:r>
              <a:rPr lang="en-US" sz="1500" dirty="0">
                <a:solidFill>
                  <a:schemeClr val="tx1"/>
                </a:solidFill>
              </a:rPr>
              <a:t>App Distribution</a:t>
            </a:r>
            <a:endParaRPr lang="en-US" sz="1500" dirty="0"/>
          </a:p>
        </p:txBody>
      </p:sp>
      <p:sp>
        <p:nvSpPr>
          <p:cNvPr id="13" name="Card 103"/>
          <p:cNvSpPr/>
          <p:nvPr/>
        </p:nvSpPr>
        <p:spPr>
          <a:xfrm>
            <a:off x="6126480" y="1188720"/>
            <a:ext cx="2560320" cy="3383280"/>
          </a:xfrm>
          <a:prstGeom prst="roundRect">
            <a:avLst>
              <a:gd name="adj" fmla="val 3571"/>
            </a:avLst>
          </a:prstGeom>
          <a:solidFill>
            <a:schemeClr val="bg2"/>
          </a:solidFill>
          <a:ln/>
          <a:effectLst>
            <a:outerShdw blurRad="76200" dist="25400" dir="5400000" algn="bl" rotWithShape="0">
              <a:srgbClr val="000000">
                <a:alpha val="12000"/>
              </a:srgbClr>
            </a:outerShdw>
          </a:effectLst>
        </p:spPr>
      </p:sp>
      <p:sp>
        <p:nvSpPr>
          <p:cNvPr id="14" name="Icon circle 104"/>
          <p:cNvSpPr/>
          <p:nvPr/>
        </p:nvSpPr>
        <p:spPr>
          <a:xfrm>
            <a:off x="6309360" y="1371600"/>
            <a:ext cx="548640" cy="548640"/>
          </a:xfrm>
          <a:prstGeom prst="ellipse">
            <a:avLst/>
          </a:prstGeom>
          <a:solidFill>
            <a:schemeClr val="accent4"/>
          </a:solidFill>
          <a:ln/>
        </p:spPr>
      </p:sp>
      <p:pic>
        <p:nvPicPr>
          <p:cNvPr id="15" name="Icon 105" descr="Bell icon"/>
          <p:cNvPicPr>
            <a:picLocks noChangeAspect="1"/>
          </p:cNvPicPr>
          <p:nvPr/>
        </p:nvPicPr>
        <p:blipFill>
          <a:blip r:embed="rId5"/>
          <a:stretch>
            <a:fillRect/>
          </a:stretch>
        </p:blipFill>
        <p:spPr>
          <a:xfrm>
            <a:off x="6430061" y="1492301"/>
            <a:ext cx="307238" cy="307238"/>
          </a:xfrm>
          <a:prstGeom prst="rect">
            <a:avLst/>
          </a:prstGeom>
        </p:spPr>
      </p:pic>
      <p:sp>
        <p:nvSpPr>
          <p:cNvPr id="16" name="Text 106"/>
          <p:cNvSpPr txBox="1"/>
          <p:nvPr/>
        </p:nvSpPr>
        <p:spPr>
          <a:xfrm>
            <a:off x="6995160" y="1371600"/>
            <a:ext cx="1600200" cy="548640"/>
          </a:xfrm>
          <a:prstGeom prst="rect">
            <a:avLst/>
          </a:prstGeom>
          <a:noFill/>
          <a:ln/>
        </p:spPr>
        <p:txBody>
          <a:bodyPr wrap="square" lIns="0" tIns="0" rIns="0" bIns="0" rtlCol="0" anchor="ctr"/>
          <a:lstStyle/>
          <a:p>
            <a:pPr marL="0" indent="0">
              <a:buNone/>
            </a:pPr>
            <a:r>
              <a:rPr lang="en-US" sz="1600" b="1" dirty="0">
                <a:solidFill>
                  <a:schemeClr val="tx1"/>
                </a:solidFill>
              </a:rPr>
              <a:t>Engage</a:t>
            </a:r>
            <a:endParaRPr lang="en-US" sz="1600" dirty="0"/>
          </a:p>
        </p:txBody>
      </p:sp>
      <p:sp>
        <p:nvSpPr>
          <p:cNvPr id="17" name="Text 107"/>
          <p:cNvSpPr txBox="1"/>
          <p:nvPr/>
        </p:nvSpPr>
        <p:spPr>
          <a:xfrm>
            <a:off x="6355080" y="2148840"/>
            <a:ext cx="2194560" cy="23317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Analytics</a:t>
            </a:r>
            <a:endParaRPr lang="en-US" sz="1500" dirty="0"/>
          </a:p>
          <a:p>
            <a:pPr marL="342900" indent="-342900">
              <a:spcAft>
                <a:spcPts val="600"/>
              </a:spcAft>
              <a:buSzPct val="100000"/>
              <a:buChar char="•"/>
            </a:pPr>
            <a:r>
              <a:rPr lang="en-US" sz="1500" dirty="0">
                <a:solidFill>
                  <a:schemeClr val="tx1"/>
                </a:solidFill>
              </a:rPr>
              <a:t>Cloud Messaging (FCM)</a:t>
            </a:r>
            <a:endParaRPr lang="en-US" sz="1500" dirty="0"/>
          </a:p>
          <a:p>
            <a:pPr marL="342900" indent="-342900">
              <a:spcAft>
                <a:spcPts val="600"/>
              </a:spcAft>
              <a:buSzPct val="100000"/>
              <a:buChar char="•"/>
            </a:pPr>
            <a:r>
              <a:rPr lang="en-US" sz="1500" dirty="0">
                <a:solidFill>
                  <a:schemeClr val="tx1"/>
                </a:solidFill>
              </a:rPr>
              <a:t>Remote Config</a:t>
            </a:r>
            <a:endParaRPr lang="en-US" sz="1500" dirty="0"/>
          </a:p>
          <a:p>
            <a:pPr marL="342900" indent="-342900">
              <a:spcAft>
                <a:spcPts val="600"/>
              </a:spcAft>
              <a:buSzPct val="100000"/>
              <a:buChar char="•"/>
            </a:pPr>
            <a:r>
              <a:rPr lang="en-US" sz="1500" dirty="0">
                <a:solidFill>
                  <a:schemeClr val="tx1"/>
                </a:solidFill>
              </a:rPr>
              <a:t>A/B Testing</a:t>
            </a:r>
            <a:endParaRPr lang="en-US" sz="1500" dirty="0"/>
          </a:p>
          <a:p>
            <a:pPr marL="342900" indent="-342900">
              <a:spcAft>
                <a:spcPts val="600"/>
              </a:spcAft>
              <a:buSzPct val="100000"/>
              <a:buChar char="•"/>
            </a:pPr>
            <a:r>
              <a:rPr lang="en-US" sz="1500" dirty="0">
                <a:solidFill>
                  <a:schemeClr val="tx1"/>
                </a:solidFill>
              </a:rPr>
              <a:t>In-App Messaging</a:t>
            </a:r>
            <a:endParaRPr lang="en-US" sz="15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200" b="1" dirty="0">
                <a:solidFill>
                  <a:schemeClr val="tx1"/>
                </a:solidFill>
              </a:rPr>
              <a:t>How Firebase works</a:t>
            </a:r>
            <a:endParaRPr lang="en-US" sz="3200" dirty="0"/>
          </a:p>
        </p:txBody>
      </p:sp>
      <p:sp>
        <p:nvSpPr>
          <p:cNvPr id="3" name="Text 108"/>
          <p:cNvSpPr txBox="1"/>
          <p:nvPr/>
        </p:nvSpPr>
        <p:spPr>
          <a:xfrm>
            <a:off x="457200" y="1097280"/>
            <a:ext cx="2011680" cy="228600"/>
          </a:xfrm>
          <a:prstGeom prst="rect">
            <a:avLst/>
          </a:prstGeom>
          <a:noFill/>
          <a:ln/>
        </p:spPr>
        <p:txBody>
          <a:bodyPr wrap="square" lIns="0" tIns="0" rIns="0" bIns="0" rtlCol="0" anchor="ctr"/>
          <a:lstStyle/>
          <a:p>
            <a:pPr marL="0" indent="0" algn="ctr">
              <a:buNone/>
            </a:pPr>
            <a:r>
              <a:rPr lang="en-US" sz="1200" b="1" dirty="0">
                <a:solidFill>
                  <a:schemeClr val="tx2"/>
                </a:solidFill>
              </a:rPr>
              <a:t>YOUR APP</a:t>
            </a:r>
            <a:endParaRPr lang="en-US" sz="1200" dirty="0"/>
          </a:p>
        </p:txBody>
      </p:sp>
      <p:sp>
        <p:nvSpPr>
          <p:cNvPr id="4" name="Text 109"/>
          <p:cNvSpPr txBox="1"/>
          <p:nvPr/>
        </p:nvSpPr>
        <p:spPr>
          <a:xfrm>
            <a:off x="3108960" y="1097280"/>
            <a:ext cx="1371600" cy="228600"/>
          </a:xfrm>
          <a:prstGeom prst="rect">
            <a:avLst/>
          </a:prstGeom>
          <a:noFill/>
          <a:ln/>
        </p:spPr>
        <p:txBody>
          <a:bodyPr wrap="square" lIns="0" tIns="0" rIns="0" bIns="0" rtlCol="0" anchor="ctr"/>
          <a:lstStyle/>
          <a:p>
            <a:pPr marL="0" indent="0" algn="ctr">
              <a:buNone/>
            </a:pPr>
            <a:r>
              <a:rPr lang="en-US" sz="1200" b="1" dirty="0">
                <a:solidFill>
                  <a:schemeClr val="tx2"/>
                </a:solidFill>
              </a:rPr>
              <a:t>GATEKEEPER</a:t>
            </a:r>
            <a:endParaRPr lang="en-US" sz="1200" dirty="0"/>
          </a:p>
        </p:txBody>
      </p:sp>
      <p:sp>
        <p:nvSpPr>
          <p:cNvPr id="5" name="Text 110"/>
          <p:cNvSpPr txBox="1"/>
          <p:nvPr/>
        </p:nvSpPr>
        <p:spPr>
          <a:xfrm>
            <a:off x="5120640" y="1097280"/>
            <a:ext cx="3566160" cy="228600"/>
          </a:xfrm>
          <a:prstGeom prst="rect">
            <a:avLst/>
          </a:prstGeom>
          <a:noFill/>
          <a:ln/>
        </p:spPr>
        <p:txBody>
          <a:bodyPr wrap="square" lIns="0" tIns="0" rIns="0" bIns="0" rtlCol="0" anchor="ctr"/>
          <a:lstStyle/>
          <a:p>
            <a:pPr marL="0" indent="0" algn="ctr">
              <a:buNone/>
            </a:pPr>
            <a:r>
              <a:rPr lang="en-US" sz="1200" b="1" dirty="0">
                <a:solidFill>
                  <a:schemeClr val="tx2"/>
                </a:solidFill>
              </a:rPr>
              <a:t>FIREBASE SERVICES</a:t>
            </a:r>
            <a:endParaRPr lang="en-US" sz="1200" dirty="0"/>
          </a:p>
        </p:txBody>
      </p:sp>
      <p:sp>
        <p:nvSpPr>
          <p:cNvPr id="6" name="App box 111"/>
          <p:cNvSpPr/>
          <p:nvPr/>
        </p:nvSpPr>
        <p:spPr>
          <a:xfrm>
            <a:off x="457200" y="1371600"/>
            <a:ext cx="2011680" cy="2194560"/>
          </a:xfrm>
          <a:prstGeom prst="roundRect">
            <a:avLst>
              <a:gd name="adj" fmla="val 4545"/>
            </a:avLst>
          </a:prstGeom>
          <a:solidFill>
            <a:schemeClr val="tx1"/>
          </a:solidFill>
          <a:ln/>
        </p:spPr>
      </p:sp>
      <p:sp>
        <p:nvSpPr>
          <p:cNvPr id="7" name="Icon circle 112"/>
          <p:cNvSpPr/>
          <p:nvPr/>
        </p:nvSpPr>
        <p:spPr>
          <a:xfrm>
            <a:off x="1188720" y="1463040"/>
            <a:ext cx="548640" cy="548640"/>
          </a:xfrm>
          <a:prstGeom prst="ellipse">
            <a:avLst/>
          </a:prstGeom>
          <a:solidFill>
            <a:schemeClr val="accent2"/>
          </a:solidFill>
          <a:ln/>
        </p:spPr>
      </p:sp>
      <p:pic>
        <p:nvPicPr>
          <p:cNvPr id="8" name="Icon 113" descr="MobileAlt icon"/>
          <p:cNvPicPr>
            <a:picLocks noChangeAspect="1"/>
          </p:cNvPicPr>
          <p:nvPr/>
        </p:nvPicPr>
        <p:blipFill>
          <a:blip r:embed="rId3"/>
          <a:stretch>
            <a:fillRect/>
          </a:stretch>
        </p:blipFill>
        <p:spPr>
          <a:xfrm>
            <a:off x="1309421" y="1583741"/>
            <a:ext cx="307238" cy="307238"/>
          </a:xfrm>
          <a:prstGeom prst="rect">
            <a:avLst/>
          </a:prstGeom>
        </p:spPr>
      </p:pic>
      <p:sp>
        <p:nvSpPr>
          <p:cNvPr id="9" name="Text 114"/>
          <p:cNvSpPr txBox="1"/>
          <p:nvPr/>
        </p:nvSpPr>
        <p:spPr>
          <a:xfrm>
            <a:off x="457200" y="2103120"/>
            <a:ext cx="2011680" cy="274320"/>
          </a:xfrm>
          <a:prstGeom prst="rect">
            <a:avLst/>
          </a:prstGeom>
          <a:noFill/>
          <a:ln/>
        </p:spPr>
        <p:txBody>
          <a:bodyPr wrap="square" lIns="0" tIns="0" rIns="0" bIns="0" rtlCol="0" anchor="ctr"/>
          <a:lstStyle/>
          <a:p>
            <a:pPr marL="0" indent="0" algn="ctr">
              <a:buNone/>
            </a:pPr>
            <a:r>
              <a:rPr lang="en-US" sz="1600" b="1" dirty="0">
                <a:solidFill>
                  <a:schemeClr val="bg1"/>
                </a:solidFill>
              </a:rPr>
              <a:t>Mobile app</a:t>
            </a:r>
            <a:endParaRPr lang="en-US" sz="1600" dirty="0"/>
          </a:p>
        </p:txBody>
      </p:sp>
      <p:sp>
        <p:nvSpPr>
          <p:cNvPr id="10" name="Text 115"/>
          <p:cNvSpPr txBox="1"/>
          <p:nvPr/>
        </p:nvSpPr>
        <p:spPr>
          <a:xfrm>
            <a:off x="457200" y="2377440"/>
            <a:ext cx="2011680" cy="228600"/>
          </a:xfrm>
          <a:prstGeom prst="rect">
            <a:avLst/>
          </a:prstGeom>
          <a:noFill/>
          <a:ln/>
        </p:spPr>
        <p:txBody>
          <a:bodyPr wrap="square" lIns="0" tIns="0" rIns="0" bIns="0" rtlCol="0" anchor="ctr"/>
          <a:lstStyle/>
          <a:p>
            <a:pPr marL="0" indent="0" algn="ctr">
              <a:buNone/>
            </a:pPr>
            <a:r>
              <a:rPr lang="en-US" sz="1200" dirty="0">
                <a:solidFill>
                  <a:schemeClr val="bg2"/>
                </a:solidFill>
              </a:rPr>
              <a:t>Kotlin | Swift | Dart</a:t>
            </a:r>
            <a:endParaRPr lang="en-US" sz="1200" dirty="0"/>
          </a:p>
        </p:txBody>
      </p:sp>
      <p:sp>
        <p:nvSpPr>
          <p:cNvPr id="11" name="SDK box 116"/>
          <p:cNvSpPr/>
          <p:nvPr/>
        </p:nvSpPr>
        <p:spPr>
          <a:xfrm>
            <a:off x="640080" y="2788920"/>
            <a:ext cx="1645920" cy="548640"/>
          </a:xfrm>
          <a:prstGeom prst="roundRect">
            <a:avLst>
              <a:gd name="adj" fmla="val 13333"/>
            </a:avLst>
          </a:prstGeom>
          <a:solidFill>
            <a:schemeClr val="accent2"/>
          </a:solidFill>
          <a:ln/>
        </p:spPr>
      </p:sp>
      <p:sp>
        <p:nvSpPr>
          <p:cNvPr id="12" name="Text 117"/>
          <p:cNvSpPr txBox="1"/>
          <p:nvPr/>
        </p:nvSpPr>
        <p:spPr>
          <a:xfrm>
            <a:off x="640080" y="2788920"/>
            <a:ext cx="1645920" cy="548640"/>
          </a:xfrm>
          <a:prstGeom prst="rect">
            <a:avLst/>
          </a:prstGeom>
          <a:noFill/>
          <a:ln/>
        </p:spPr>
        <p:txBody>
          <a:bodyPr wrap="square" lIns="0" tIns="0" rIns="0" bIns="0" rtlCol="0" anchor="ctr"/>
          <a:lstStyle/>
          <a:p>
            <a:pPr marL="0" indent="0" algn="ctr">
              <a:buNone/>
            </a:pPr>
            <a:r>
              <a:rPr lang="en-US" sz="1400" b="1" dirty="0">
                <a:solidFill>
                  <a:schemeClr val="tx1"/>
                </a:solidFill>
              </a:rPr>
              <a:t>Firebase SDK</a:t>
            </a:r>
            <a:endParaRPr lang="en-US" sz="1400" dirty="0"/>
          </a:p>
        </p:txBody>
      </p:sp>
      <p:sp>
        <p:nvSpPr>
          <p:cNvPr id="13" name="Gate box 118"/>
          <p:cNvSpPr/>
          <p:nvPr/>
        </p:nvSpPr>
        <p:spPr>
          <a:xfrm>
            <a:off x="3108960" y="1371600"/>
            <a:ext cx="1371600" cy="2194560"/>
          </a:xfrm>
          <a:prstGeom prst="roundRect">
            <a:avLst>
              <a:gd name="adj" fmla="val 6667"/>
            </a:avLst>
          </a:prstGeom>
          <a:solidFill>
            <a:schemeClr val="accent4"/>
          </a:solidFill>
          <a:ln/>
        </p:spPr>
      </p:sp>
      <p:sp>
        <p:nvSpPr>
          <p:cNvPr id="14" name="Icon circle 119"/>
          <p:cNvSpPr/>
          <p:nvPr/>
        </p:nvSpPr>
        <p:spPr>
          <a:xfrm>
            <a:off x="3520440" y="1481328"/>
            <a:ext cx="548640" cy="548640"/>
          </a:xfrm>
          <a:prstGeom prst="ellipse">
            <a:avLst/>
          </a:prstGeom>
          <a:solidFill>
            <a:schemeClr val="accent2"/>
          </a:solidFill>
          <a:ln/>
        </p:spPr>
      </p:sp>
      <p:pic>
        <p:nvPicPr>
          <p:cNvPr id="15" name="Icon 120" descr="ShieldAlt icon"/>
          <p:cNvPicPr>
            <a:picLocks noChangeAspect="1"/>
          </p:cNvPicPr>
          <p:nvPr/>
        </p:nvPicPr>
        <p:blipFill>
          <a:blip r:embed="rId4"/>
          <a:stretch>
            <a:fillRect/>
          </a:stretch>
        </p:blipFill>
        <p:spPr>
          <a:xfrm>
            <a:off x="3641141" y="1602029"/>
            <a:ext cx="307238" cy="307238"/>
          </a:xfrm>
          <a:prstGeom prst="rect">
            <a:avLst/>
          </a:prstGeom>
        </p:spPr>
      </p:pic>
      <p:sp>
        <p:nvSpPr>
          <p:cNvPr id="16" name="Text 121"/>
          <p:cNvSpPr txBox="1"/>
          <p:nvPr/>
        </p:nvSpPr>
        <p:spPr>
          <a:xfrm>
            <a:off x="3200400" y="2148840"/>
            <a:ext cx="1188720" cy="731520"/>
          </a:xfrm>
          <a:prstGeom prst="rect">
            <a:avLst/>
          </a:prstGeom>
          <a:noFill/>
          <a:ln/>
        </p:spPr>
        <p:txBody>
          <a:bodyPr wrap="square" lIns="0" tIns="0" rIns="0" bIns="0" rtlCol="0" anchor="t"/>
          <a:lstStyle/>
          <a:p>
            <a:pPr marL="0" indent="0" algn="ctr">
              <a:buNone/>
            </a:pPr>
            <a:r>
              <a:rPr lang="en-US" sz="1400" b="1" dirty="0">
                <a:solidFill>
                  <a:schemeClr val="bg1"/>
                </a:solidFill>
              </a:rPr>
              <a:t>Security Rules and App Check</a:t>
            </a:r>
            <a:endParaRPr lang="en-US" sz="1400" dirty="0"/>
          </a:p>
        </p:txBody>
      </p:sp>
      <p:sp>
        <p:nvSpPr>
          <p:cNvPr id="17" name="Text 122"/>
          <p:cNvSpPr txBox="1"/>
          <p:nvPr/>
        </p:nvSpPr>
        <p:spPr>
          <a:xfrm>
            <a:off x="3200400" y="2926080"/>
            <a:ext cx="1188720" cy="502920"/>
          </a:xfrm>
          <a:prstGeom prst="rect">
            <a:avLst/>
          </a:prstGeom>
          <a:noFill/>
          <a:ln/>
        </p:spPr>
        <p:txBody>
          <a:bodyPr wrap="square" lIns="0" tIns="0" rIns="0" bIns="0" rtlCol="0" anchor="t"/>
          <a:lstStyle/>
          <a:p>
            <a:pPr marL="0" indent="0" algn="ctr">
              <a:buNone/>
            </a:pPr>
            <a:r>
              <a:rPr lang="en-US" sz="1200" dirty="0">
                <a:solidFill>
                  <a:schemeClr val="bg2"/>
                </a:solidFill>
              </a:rPr>
              <a:t>Who may read or write?</a:t>
            </a:r>
            <a:endParaRPr lang="en-US" sz="1200" dirty="0"/>
          </a:p>
        </p:txBody>
      </p:sp>
      <p:sp>
        <p:nvSpPr>
          <p:cNvPr id="18" name="Arrow app-gate 123"/>
          <p:cNvSpPr/>
          <p:nvPr/>
        </p:nvSpPr>
        <p:spPr>
          <a:xfrm>
            <a:off x="2487168" y="2468880"/>
            <a:ext cx="603504" cy="0"/>
          </a:xfrm>
          <a:prstGeom prst="line">
            <a:avLst/>
          </a:prstGeom>
          <a:noFill/>
          <a:ln w="31750">
            <a:solidFill>
              <a:schemeClr val="accent1"/>
            </a:solidFill>
            <a:prstDash val="solid"/>
            <a:headEnd type="triangle"/>
            <a:tailEnd type="triangle"/>
          </a:ln>
        </p:spPr>
      </p:sp>
      <p:sp>
        <p:nvSpPr>
          <p:cNvPr id="19" name="Arrow gate-services 124"/>
          <p:cNvSpPr/>
          <p:nvPr/>
        </p:nvSpPr>
        <p:spPr>
          <a:xfrm>
            <a:off x="4498848" y="2468880"/>
            <a:ext cx="603504" cy="0"/>
          </a:xfrm>
          <a:prstGeom prst="line">
            <a:avLst/>
          </a:prstGeom>
          <a:noFill/>
          <a:ln w="31750">
            <a:solidFill>
              <a:schemeClr val="accent1"/>
            </a:solidFill>
            <a:prstDash val="solid"/>
            <a:headEnd type="triangle"/>
            <a:tailEnd type="triangle"/>
          </a:ln>
        </p:spPr>
      </p:sp>
      <p:sp>
        <p:nvSpPr>
          <p:cNvPr id="20" name="Service box 125"/>
          <p:cNvSpPr/>
          <p:nvPr/>
        </p:nvSpPr>
        <p:spPr>
          <a:xfrm>
            <a:off x="5120640" y="1371600"/>
            <a:ext cx="1691640" cy="621792"/>
          </a:xfrm>
          <a:prstGeom prst="roundRect">
            <a:avLst>
              <a:gd name="adj" fmla="val 11765"/>
            </a:avLst>
          </a:prstGeom>
          <a:solidFill>
            <a:schemeClr val="bg2"/>
          </a:solidFill>
          <a:ln/>
          <a:effectLst>
            <a:outerShdw blurRad="76200" dist="25400" dir="5400000" algn="bl" rotWithShape="0">
              <a:srgbClr val="000000">
                <a:alpha val="12000"/>
              </a:srgbClr>
            </a:outerShdw>
          </a:effectLst>
        </p:spPr>
      </p:sp>
      <p:sp>
        <p:nvSpPr>
          <p:cNvPr id="21" name="Icon circle 126"/>
          <p:cNvSpPr/>
          <p:nvPr/>
        </p:nvSpPr>
        <p:spPr>
          <a:xfrm>
            <a:off x="5212080" y="1463040"/>
            <a:ext cx="438912" cy="438912"/>
          </a:xfrm>
          <a:prstGeom prst="ellipse">
            <a:avLst/>
          </a:prstGeom>
          <a:solidFill>
            <a:schemeClr val="accent1"/>
          </a:solidFill>
          <a:ln/>
        </p:spPr>
      </p:sp>
      <p:pic>
        <p:nvPicPr>
          <p:cNvPr id="22" name="Icon 127" descr="UserShield icon"/>
          <p:cNvPicPr>
            <a:picLocks noChangeAspect="1"/>
          </p:cNvPicPr>
          <p:nvPr/>
        </p:nvPicPr>
        <p:blipFill>
          <a:blip r:embed="rId5"/>
          <a:stretch>
            <a:fillRect/>
          </a:stretch>
        </p:blipFill>
        <p:spPr>
          <a:xfrm>
            <a:off x="5308641" y="1559601"/>
            <a:ext cx="245791" cy="245791"/>
          </a:xfrm>
          <a:prstGeom prst="rect">
            <a:avLst/>
          </a:prstGeom>
        </p:spPr>
      </p:pic>
      <p:sp>
        <p:nvSpPr>
          <p:cNvPr id="23" name="Text 128"/>
          <p:cNvSpPr txBox="1"/>
          <p:nvPr/>
        </p:nvSpPr>
        <p:spPr>
          <a:xfrm>
            <a:off x="5724144" y="1371600"/>
            <a:ext cx="1051560" cy="621792"/>
          </a:xfrm>
          <a:prstGeom prst="rect">
            <a:avLst/>
          </a:prstGeom>
          <a:noFill/>
          <a:ln/>
        </p:spPr>
        <p:txBody>
          <a:bodyPr wrap="square" lIns="0" tIns="0" rIns="0" bIns="0" rtlCol="0" anchor="ctr"/>
          <a:lstStyle/>
          <a:p>
            <a:pPr marL="0" indent="0">
              <a:buNone/>
            </a:pPr>
            <a:r>
              <a:rPr lang="en-US" sz="1400" b="1" dirty="0">
                <a:solidFill>
                  <a:schemeClr val="tx1"/>
                </a:solidFill>
              </a:rPr>
              <a:t>Auth</a:t>
            </a:r>
            <a:endParaRPr lang="en-US" sz="1400" dirty="0"/>
          </a:p>
        </p:txBody>
      </p:sp>
      <p:sp>
        <p:nvSpPr>
          <p:cNvPr id="24" name="Service box 129"/>
          <p:cNvSpPr/>
          <p:nvPr/>
        </p:nvSpPr>
        <p:spPr>
          <a:xfrm>
            <a:off x="6995160" y="1371600"/>
            <a:ext cx="1691640" cy="621792"/>
          </a:xfrm>
          <a:prstGeom prst="roundRect">
            <a:avLst>
              <a:gd name="adj" fmla="val 11765"/>
            </a:avLst>
          </a:prstGeom>
          <a:solidFill>
            <a:schemeClr val="bg2"/>
          </a:solidFill>
          <a:ln/>
          <a:effectLst>
            <a:outerShdw blurRad="76200" dist="25400" dir="5400000" algn="bl" rotWithShape="0">
              <a:srgbClr val="000000">
                <a:alpha val="12000"/>
              </a:srgbClr>
            </a:outerShdw>
          </a:effectLst>
        </p:spPr>
      </p:sp>
      <p:sp>
        <p:nvSpPr>
          <p:cNvPr id="25" name="Icon circle 130"/>
          <p:cNvSpPr/>
          <p:nvPr/>
        </p:nvSpPr>
        <p:spPr>
          <a:xfrm>
            <a:off x="7086600" y="1463040"/>
            <a:ext cx="438912" cy="438912"/>
          </a:xfrm>
          <a:prstGeom prst="ellipse">
            <a:avLst/>
          </a:prstGeom>
          <a:solidFill>
            <a:schemeClr val="accent1"/>
          </a:solidFill>
          <a:ln/>
        </p:spPr>
      </p:sp>
      <p:pic>
        <p:nvPicPr>
          <p:cNvPr id="26" name="Icon 131" descr="Database icon"/>
          <p:cNvPicPr>
            <a:picLocks noChangeAspect="1"/>
          </p:cNvPicPr>
          <p:nvPr/>
        </p:nvPicPr>
        <p:blipFill>
          <a:blip r:embed="rId6"/>
          <a:stretch>
            <a:fillRect/>
          </a:stretch>
        </p:blipFill>
        <p:spPr>
          <a:xfrm>
            <a:off x="7183161" y="1559601"/>
            <a:ext cx="245791" cy="245791"/>
          </a:xfrm>
          <a:prstGeom prst="rect">
            <a:avLst/>
          </a:prstGeom>
        </p:spPr>
      </p:pic>
      <p:sp>
        <p:nvSpPr>
          <p:cNvPr id="27" name="Text 132"/>
          <p:cNvSpPr txBox="1"/>
          <p:nvPr/>
        </p:nvSpPr>
        <p:spPr>
          <a:xfrm>
            <a:off x="7598664" y="1371600"/>
            <a:ext cx="1051560" cy="621792"/>
          </a:xfrm>
          <a:prstGeom prst="rect">
            <a:avLst/>
          </a:prstGeom>
          <a:noFill/>
          <a:ln/>
        </p:spPr>
        <p:txBody>
          <a:bodyPr wrap="square" lIns="0" tIns="0" rIns="0" bIns="0" rtlCol="0" anchor="ctr"/>
          <a:lstStyle/>
          <a:p>
            <a:pPr marL="0" indent="0">
              <a:buNone/>
            </a:pPr>
            <a:r>
              <a:rPr lang="en-US" sz="1400" b="1" dirty="0">
                <a:solidFill>
                  <a:schemeClr val="tx1"/>
                </a:solidFill>
              </a:rPr>
              <a:t>Firestore</a:t>
            </a:r>
            <a:endParaRPr lang="en-US" sz="1400" dirty="0"/>
          </a:p>
        </p:txBody>
      </p:sp>
      <p:sp>
        <p:nvSpPr>
          <p:cNvPr id="28" name="Service box 133"/>
          <p:cNvSpPr/>
          <p:nvPr/>
        </p:nvSpPr>
        <p:spPr>
          <a:xfrm>
            <a:off x="5120640" y="2103120"/>
            <a:ext cx="1691640" cy="621792"/>
          </a:xfrm>
          <a:prstGeom prst="roundRect">
            <a:avLst>
              <a:gd name="adj" fmla="val 11765"/>
            </a:avLst>
          </a:prstGeom>
          <a:solidFill>
            <a:schemeClr val="bg2"/>
          </a:solidFill>
          <a:ln/>
          <a:effectLst>
            <a:outerShdw blurRad="76200" dist="25400" dir="5400000" algn="bl" rotWithShape="0">
              <a:srgbClr val="000000">
                <a:alpha val="12000"/>
              </a:srgbClr>
            </a:outerShdw>
          </a:effectLst>
        </p:spPr>
      </p:sp>
      <p:sp>
        <p:nvSpPr>
          <p:cNvPr id="29" name="Icon circle 134"/>
          <p:cNvSpPr/>
          <p:nvPr/>
        </p:nvSpPr>
        <p:spPr>
          <a:xfrm>
            <a:off x="5212080" y="2194560"/>
            <a:ext cx="438912" cy="438912"/>
          </a:xfrm>
          <a:prstGeom prst="ellipse">
            <a:avLst/>
          </a:prstGeom>
          <a:solidFill>
            <a:schemeClr val="accent1"/>
          </a:solidFill>
          <a:ln/>
        </p:spPr>
      </p:sp>
      <p:pic>
        <p:nvPicPr>
          <p:cNvPr id="30" name="Icon 135" descr="CloudUploadAlt icon"/>
          <p:cNvPicPr>
            <a:picLocks noChangeAspect="1"/>
          </p:cNvPicPr>
          <p:nvPr/>
        </p:nvPicPr>
        <p:blipFill>
          <a:blip r:embed="rId7"/>
          <a:stretch>
            <a:fillRect/>
          </a:stretch>
        </p:blipFill>
        <p:spPr>
          <a:xfrm>
            <a:off x="5308641" y="2291121"/>
            <a:ext cx="245791" cy="245791"/>
          </a:xfrm>
          <a:prstGeom prst="rect">
            <a:avLst/>
          </a:prstGeom>
        </p:spPr>
      </p:pic>
      <p:sp>
        <p:nvSpPr>
          <p:cNvPr id="31" name="Text 136"/>
          <p:cNvSpPr txBox="1"/>
          <p:nvPr/>
        </p:nvSpPr>
        <p:spPr>
          <a:xfrm>
            <a:off x="5724144" y="2103120"/>
            <a:ext cx="1051560" cy="621792"/>
          </a:xfrm>
          <a:prstGeom prst="rect">
            <a:avLst/>
          </a:prstGeom>
          <a:noFill/>
          <a:ln/>
        </p:spPr>
        <p:txBody>
          <a:bodyPr wrap="square" lIns="0" tIns="0" rIns="0" bIns="0" rtlCol="0" anchor="ctr"/>
          <a:lstStyle/>
          <a:p>
            <a:pPr marL="0" indent="0">
              <a:buNone/>
            </a:pPr>
            <a:r>
              <a:rPr lang="en-US" sz="1400" b="1" dirty="0">
                <a:solidFill>
                  <a:schemeClr val="tx1"/>
                </a:solidFill>
              </a:rPr>
              <a:t>Storage</a:t>
            </a:r>
            <a:endParaRPr lang="en-US" sz="1400" dirty="0"/>
          </a:p>
        </p:txBody>
      </p:sp>
      <p:sp>
        <p:nvSpPr>
          <p:cNvPr id="32" name="Service box 137"/>
          <p:cNvSpPr/>
          <p:nvPr/>
        </p:nvSpPr>
        <p:spPr>
          <a:xfrm>
            <a:off x="6995160" y="2103120"/>
            <a:ext cx="1691640" cy="621792"/>
          </a:xfrm>
          <a:prstGeom prst="roundRect">
            <a:avLst>
              <a:gd name="adj" fmla="val 11765"/>
            </a:avLst>
          </a:prstGeom>
          <a:solidFill>
            <a:schemeClr val="bg2"/>
          </a:solidFill>
          <a:ln/>
          <a:effectLst>
            <a:outerShdw blurRad="76200" dist="25400" dir="5400000" algn="bl" rotWithShape="0">
              <a:srgbClr val="000000">
                <a:alpha val="12000"/>
              </a:srgbClr>
            </a:outerShdw>
          </a:effectLst>
        </p:spPr>
      </p:sp>
      <p:sp>
        <p:nvSpPr>
          <p:cNvPr id="33" name="Icon circle 138"/>
          <p:cNvSpPr/>
          <p:nvPr/>
        </p:nvSpPr>
        <p:spPr>
          <a:xfrm>
            <a:off x="7086600" y="2194560"/>
            <a:ext cx="438912" cy="438912"/>
          </a:xfrm>
          <a:prstGeom prst="ellipse">
            <a:avLst/>
          </a:prstGeom>
          <a:solidFill>
            <a:schemeClr val="accent1"/>
          </a:solidFill>
          <a:ln/>
        </p:spPr>
      </p:sp>
      <p:pic>
        <p:nvPicPr>
          <p:cNvPr id="34" name="Icon 139" descr="Bolt icon"/>
          <p:cNvPicPr>
            <a:picLocks noChangeAspect="1"/>
          </p:cNvPicPr>
          <p:nvPr/>
        </p:nvPicPr>
        <p:blipFill>
          <a:blip r:embed="rId8"/>
          <a:stretch>
            <a:fillRect/>
          </a:stretch>
        </p:blipFill>
        <p:spPr>
          <a:xfrm>
            <a:off x="7183161" y="2291121"/>
            <a:ext cx="245791" cy="245791"/>
          </a:xfrm>
          <a:prstGeom prst="rect">
            <a:avLst/>
          </a:prstGeom>
        </p:spPr>
      </p:pic>
      <p:sp>
        <p:nvSpPr>
          <p:cNvPr id="35" name="Text 140"/>
          <p:cNvSpPr txBox="1"/>
          <p:nvPr/>
        </p:nvSpPr>
        <p:spPr>
          <a:xfrm>
            <a:off x="7598664" y="2103120"/>
            <a:ext cx="1051560" cy="621792"/>
          </a:xfrm>
          <a:prstGeom prst="rect">
            <a:avLst/>
          </a:prstGeom>
          <a:noFill/>
          <a:ln/>
        </p:spPr>
        <p:txBody>
          <a:bodyPr wrap="square" lIns="0" tIns="0" rIns="0" bIns="0" rtlCol="0" anchor="ctr"/>
          <a:lstStyle/>
          <a:p>
            <a:pPr marL="0" indent="0">
              <a:buNone/>
            </a:pPr>
            <a:r>
              <a:rPr lang="en-US" sz="1400" b="1" dirty="0">
                <a:solidFill>
                  <a:schemeClr val="tx1"/>
                </a:solidFill>
              </a:rPr>
              <a:t>Functions</a:t>
            </a:r>
            <a:endParaRPr lang="en-US" sz="1400" dirty="0"/>
          </a:p>
        </p:txBody>
      </p:sp>
      <p:sp>
        <p:nvSpPr>
          <p:cNvPr id="36" name="Service box 141"/>
          <p:cNvSpPr/>
          <p:nvPr/>
        </p:nvSpPr>
        <p:spPr>
          <a:xfrm>
            <a:off x="5120640" y="2834640"/>
            <a:ext cx="1691640" cy="621792"/>
          </a:xfrm>
          <a:prstGeom prst="roundRect">
            <a:avLst>
              <a:gd name="adj" fmla="val 11765"/>
            </a:avLst>
          </a:prstGeom>
          <a:solidFill>
            <a:schemeClr val="bg2"/>
          </a:solidFill>
          <a:ln/>
          <a:effectLst>
            <a:outerShdw blurRad="76200" dist="25400" dir="5400000" algn="bl" rotWithShape="0">
              <a:srgbClr val="000000">
                <a:alpha val="12000"/>
              </a:srgbClr>
            </a:outerShdw>
          </a:effectLst>
        </p:spPr>
      </p:sp>
      <p:sp>
        <p:nvSpPr>
          <p:cNvPr id="37" name="Icon circle 142"/>
          <p:cNvSpPr/>
          <p:nvPr/>
        </p:nvSpPr>
        <p:spPr>
          <a:xfrm>
            <a:off x="5212080" y="2926080"/>
            <a:ext cx="438912" cy="438912"/>
          </a:xfrm>
          <a:prstGeom prst="ellipse">
            <a:avLst/>
          </a:prstGeom>
          <a:solidFill>
            <a:schemeClr val="accent1"/>
          </a:solidFill>
          <a:ln/>
        </p:spPr>
      </p:sp>
      <p:pic>
        <p:nvPicPr>
          <p:cNvPr id="38" name="Icon 143" descr="Bell icon"/>
          <p:cNvPicPr>
            <a:picLocks noChangeAspect="1"/>
          </p:cNvPicPr>
          <p:nvPr/>
        </p:nvPicPr>
        <p:blipFill>
          <a:blip r:embed="rId9"/>
          <a:stretch>
            <a:fillRect/>
          </a:stretch>
        </p:blipFill>
        <p:spPr>
          <a:xfrm>
            <a:off x="5308641" y="3022641"/>
            <a:ext cx="245791" cy="245791"/>
          </a:xfrm>
          <a:prstGeom prst="rect">
            <a:avLst/>
          </a:prstGeom>
        </p:spPr>
      </p:pic>
      <p:sp>
        <p:nvSpPr>
          <p:cNvPr id="39" name="Text 144"/>
          <p:cNvSpPr txBox="1"/>
          <p:nvPr/>
        </p:nvSpPr>
        <p:spPr>
          <a:xfrm>
            <a:off x="5724144" y="2834640"/>
            <a:ext cx="1051560" cy="621792"/>
          </a:xfrm>
          <a:prstGeom prst="rect">
            <a:avLst/>
          </a:prstGeom>
          <a:noFill/>
          <a:ln/>
        </p:spPr>
        <p:txBody>
          <a:bodyPr wrap="square" lIns="0" tIns="0" rIns="0" bIns="0" rtlCol="0" anchor="ctr"/>
          <a:lstStyle/>
          <a:p>
            <a:pPr marL="0" indent="0">
              <a:buNone/>
            </a:pPr>
            <a:r>
              <a:rPr lang="en-US" sz="1400" b="1" dirty="0">
                <a:solidFill>
                  <a:schemeClr val="tx1"/>
                </a:solidFill>
              </a:rPr>
              <a:t>Messaging</a:t>
            </a:r>
            <a:endParaRPr lang="en-US" sz="1400" dirty="0"/>
          </a:p>
        </p:txBody>
      </p:sp>
      <p:sp>
        <p:nvSpPr>
          <p:cNvPr id="40" name="Service box 145"/>
          <p:cNvSpPr/>
          <p:nvPr/>
        </p:nvSpPr>
        <p:spPr>
          <a:xfrm>
            <a:off x="6995160" y="2834640"/>
            <a:ext cx="1691640" cy="621792"/>
          </a:xfrm>
          <a:prstGeom prst="roundRect">
            <a:avLst>
              <a:gd name="adj" fmla="val 11765"/>
            </a:avLst>
          </a:prstGeom>
          <a:solidFill>
            <a:schemeClr val="bg2"/>
          </a:solidFill>
          <a:ln/>
          <a:effectLst>
            <a:outerShdw blurRad="76200" dist="25400" dir="5400000" algn="bl" rotWithShape="0">
              <a:srgbClr val="000000">
                <a:alpha val="12000"/>
              </a:srgbClr>
            </a:outerShdw>
          </a:effectLst>
        </p:spPr>
      </p:sp>
      <p:sp>
        <p:nvSpPr>
          <p:cNvPr id="41" name="Icon circle 146"/>
          <p:cNvSpPr/>
          <p:nvPr/>
        </p:nvSpPr>
        <p:spPr>
          <a:xfrm>
            <a:off x="7086600" y="2926080"/>
            <a:ext cx="438912" cy="438912"/>
          </a:xfrm>
          <a:prstGeom prst="ellipse">
            <a:avLst/>
          </a:prstGeom>
          <a:solidFill>
            <a:schemeClr val="accent1"/>
          </a:solidFill>
          <a:ln/>
        </p:spPr>
      </p:sp>
      <p:pic>
        <p:nvPicPr>
          <p:cNvPr id="42" name="Icon 147" descr="ChartLine icon"/>
          <p:cNvPicPr>
            <a:picLocks noChangeAspect="1"/>
          </p:cNvPicPr>
          <p:nvPr/>
        </p:nvPicPr>
        <p:blipFill>
          <a:blip r:embed="rId10"/>
          <a:stretch>
            <a:fillRect/>
          </a:stretch>
        </p:blipFill>
        <p:spPr>
          <a:xfrm>
            <a:off x="7183161" y="3022641"/>
            <a:ext cx="245791" cy="245791"/>
          </a:xfrm>
          <a:prstGeom prst="rect">
            <a:avLst/>
          </a:prstGeom>
        </p:spPr>
      </p:pic>
      <p:sp>
        <p:nvSpPr>
          <p:cNvPr id="43" name="Text 148"/>
          <p:cNvSpPr txBox="1"/>
          <p:nvPr/>
        </p:nvSpPr>
        <p:spPr>
          <a:xfrm>
            <a:off x="7598664" y="2834640"/>
            <a:ext cx="1051560" cy="621792"/>
          </a:xfrm>
          <a:prstGeom prst="rect">
            <a:avLst/>
          </a:prstGeom>
          <a:noFill/>
          <a:ln/>
        </p:spPr>
        <p:txBody>
          <a:bodyPr wrap="square" lIns="0" tIns="0" rIns="0" bIns="0" rtlCol="0" anchor="ctr"/>
          <a:lstStyle/>
          <a:p>
            <a:pPr marL="0" indent="0">
              <a:buNone/>
            </a:pPr>
            <a:r>
              <a:rPr lang="en-US" sz="1400" b="1" dirty="0">
                <a:solidFill>
                  <a:schemeClr val="tx1"/>
                </a:solidFill>
              </a:rPr>
              <a:t>Analytics</a:t>
            </a:r>
            <a:endParaRPr lang="en-US" sz="1400" dirty="0"/>
          </a:p>
        </p:txBody>
      </p:sp>
      <p:sp>
        <p:nvSpPr>
          <p:cNvPr id="44" name="Cloud bar 149"/>
          <p:cNvSpPr/>
          <p:nvPr/>
        </p:nvSpPr>
        <p:spPr>
          <a:xfrm>
            <a:off x="457200" y="3703320"/>
            <a:ext cx="8229600" cy="365760"/>
          </a:xfrm>
          <a:prstGeom prst="roundRect">
            <a:avLst>
              <a:gd name="adj" fmla="val 20000"/>
            </a:avLst>
          </a:prstGeom>
          <a:solidFill>
            <a:schemeClr val="accent2"/>
          </a:solidFill>
          <a:ln/>
        </p:spPr>
      </p:sp>
      <p:sp>
        <p:nvSpPr>
          <p:cNvPr id="45" name="Text 150"/>
          <p:cNvSpPr txBox="1"/>
          <p:nvPr/>
        </p:nvSpPr>
        <p:spPr>
          <a:xfrm>
            <a:off x="457200" y="3703320"/>
            <a:ext cx="8229600" cy="365760"/>
          </a:xfrm>
          <a:prstGeom prst="rect">
            <a:avLst/>
          </a:prstGeom>
          <a:noFill/>
          <a:ln/>
        </p:spPr>
        <p:txBody>
          <a:bodyPr wrap="square" lIns="0" tIns="0" rIns="0" bIns="0" rtlCol="0" anchor="ctr"/>
          <a:lstStyle/>
          <a:p>
            <a:pPr marL="0" indent="0" algn="ctr">
              <a:buNone/>
            </a:pPr>
            <a:r>
              <a:rPr lang="en-US" sz="1400" b="1" dirty="0">
                <a:solidFill>
                  <a:schemeClr val="tx1"/>
                </a:solidFill>
              </a:rPr>
              <a:t>Runs on Google Cloud: global, auto-scaling infrastructure</a:t>
            </a:r>
            <a:endParaRPr lang="en-US" sz="1400" dirty="0"/>
          </a:p>
        </p:txBody>
      </p:sp>
      <p:sp>
        <p:nvSpPr>
          <p:cNvPr id="46" name="Number badge 151"/>
          <p:cNvSpPr/>
          <p:nvPr/>
        </p:nvSpPr>
        <p:spPr>
          <a:xfrm>
            <a:off x="457200" y="4224528"/>
            <a:ext cx="274320" cy="274320"/>
          </a:xfrm>
          <a:prstGeom prst="ellipse">
            <a:avLst/>
          </a:prstGeom>
          <a:solidFill>
            <a:schemeClr val="accent1"/>
          </a:solidFill>
          <a:ln/>
        </p:spPr>
      </p:sp>
      <p:sp>
        <p:nvSpPr>
          <p:cNvPr id="47" name="Text 152"/>
          <p:cNvSpPr txBox="1"/>
          <p:nvPr/>
        </p:nvSpPr>
        <p:spPr>
          <a:xfrm>
            <a:off x="457200" y="4224528"/>
            <a:ext cx="274320" cy="274320"/>
          </a:xfrm>
          <a:prstGeom prst="rect">
            <a:avLst/>
          </a:prstGeom>
          <a:noFill/>
          <a:ln/>
        </p:spPr>
        <p:txBody>
          <a:bodyPr wrap="square" lIns="0" tIns="0" rIns="0" bIns="0" rtlCol="0" anchor="ctr"/>
          <a:lstStyle/>
          <a:p>
            <a:pPr marL="0" indent="0" algn="ctr">
              <a:buNone/>
            </a:pPr>
            <a:r>
              <a:rPr lang="en-US" sz="1200" b="1" dirty="0">
                <a:solidFill>
                  <a:schemeClr val="tx1"/>
                </a:solidFill>
              </a:rPr>
              <a:t>1</a:t>
            </a:r>
            <a:endParaRPr lang="en-US" sz="1200" dirty="0"/>
          </a:p>
        </p:txBody>
      </p:sp>
      <p:sp>
        <p:nvSpPr>
          <p:cNvPr id="48" name="Text 153"/>
          <p:cNvSpPr txBox="1"/>
          <p:nvPr/>
        </p:nvSpPr>
        <p:spPr>
          <a:xfrm>
            <a:off x="804672" y="4160520"/>
            <a:ext cx="1691640" cy="411480"/>
          </a:xfrm>
          <a:prstGeom prst="rect">
            <a:avLst/>
          </a:prstGeom>
          <a:noFill/>
          <a:ln/>
        </p:spPr>
        <p:txBody>
          <a:bodyPr wrap="square" lIns="0" tIns="0" rIns="0" bIns="0" rtlCol="0" anchor="ctr"/>
          <a:lstStyle/>
          <a:p>
            <a:pPr marL="0" indent="0">
              <a:buNone/>
            </a:pPr>
            <a:r>
              <a:rPr lang="en-US" sz="1200" dirty="0">
                <a:solidFill>
                  <a:schemeClr val="tx1"/>
                </a:solidFill>
              </a:rPr>
              <a:t>App calls the Firebase SDK</a:t>
            </a:r>
            <a:endParaRPr lang="en-US" sz="1200" dirty="0"/>
          </a:p>
        </p:txBody>
      </p:sp>
      <p:sp>
        <p:nvSpPr>
          <p:cNvPr id="49" name="Number badge 154"/>
          <p:cNvSpPr/>
          <p:nvPr/>
        </p:nvSpPr>
        <p:spPr>
          <a:xfrm>
            <a:off x="2542032" y="4224528"/>
            <a:ext cx="274320" cy="274320"/>
          </a:xfrm>
          <a:prstGeom prst="ellipse">
            <a:avLst/>
          </a:prstGeom>
          <a:solidFill>
            <a:schemeClr val="accent1"/>
          </a:solidFill>
          <a:ln/>
        </p:spPr>
      </p:sp>
      <p:sp>
        <p:nvSpPr>
          <p:cNvPr id="50" name="Text 155"/>
          <p:cNvSpPr txBox="1"/>
          <p:nvPr/>
        </p:nvSpPr>
        <p:spPr>
          <a:xfrm>
            <a:off x="2542032" y="4224528"/>
            <a:ext cx="274320" cy="274320"/>
          </a:xfrm>
          <a:prstGeom prst="rect">
            <a:avLst/>
          </a:prstGeom>
          <a:noFill/>
          <a:ln/>
        </p:spPr>
        <p:txBody>
          <a:bodyPr wrap="square" lIns="0" tIns="0" rIns="0" bIns="0" rtlCol="0" anchor="ctr"/>
          <a:lstStyle/>
          <a:p>
            <a:pPr marL="0" indent="0" algn="ctr">
              <a:buNone/>
            </a:pPr>
            <a:r>
              <a:rPr lang="en-US" sz="1200" b="1" dirty="0">
                <a:solidFill>
                  <a:schemeClr val="tx1"/>
                </a:solidFill>
              </a:rPr>
              <a:t>2</a:t>
            </a:r>
            <a:endParaRPr lang="en-US" sz="1200" dirty="0"/>
          </a:p>
        </p:txBody>
      </p:sp>
      <p:sp>
        <p:nvSpPr>
          <p:cNvPr id="51" name="Text 156"/>
          <p:cNvSpPr txBox="1"/>
          <p:nvPr/>
        </p:nvSpPr>
        <p:spPr>
          <a:xfrm>
            <a:off x="2889504" y="4160520"/>
            <a:ext cx="1691640" cy="411480"/>
          </a:xfrm>
          <a:prstGeom prst="rect">
            <a:avLst/>
          </a:prstGeom>
          <a:noFill/>
          <a:ln/>
        </p:spPr>
        <p:txBody>
          <a:bodyPr wrap="square" lIns="0" tIns="0" rIns="0" bIns="0" rtlCol="0" anchor="ctr"/>
          <a:lstStyle/>
          <a:p>
            <a:pPr marL="0" indent="0">
              <a:buNone/>
            </a:pPr>
            <a:r>
              <a:rPr lang="en-US" sz="1200" dirty="0">
                <a:solidFill>
                  <a:schemeClr val="tx1"/>
                </a:solidFill>
              </a:rPr>
              <a:t>Rules check the user and permissions</a:t>
            </a:r>
            <a:endParaRPr lang="en-US" sz="1200" dirty="0"/>
          </a:p>
        </p:txBody>
      </p:sp>
      <p:sp>
        <p:nvSpPr>
          <p:cNvPr id="52" name="Number badge 157"/>
          <p:cNvSpPr/>
          <p:nvPr/>
        </p:nvSpPr>
        <p:spPr>
          <a:xfrm>
            <a:off x="4626864" y="4224528"/>
            <a:ext cx="274320" cy="274320"/>
          </a:xfrm>
          <a:prstGeom prst="ellipse">
            <a:avLst/>
          </a:prstGeom>
          <a:solidFill>
            <a:schemeClr val="accent1"/>
          </a:solidFill>
          <a:ln/>
        </p:spPr>
      </p:sp>
      <p:sp>
        <p:nvSpPr>
          <p:cNvPr id="53" name="Text 158"/>
          <p:cNvSpPr txBox="1"/>
          <p:nvPr/>
        </p:nvSpPr>
        <p:spPr>
          <a:xfrm>
            <a:off x="4626864" y="4224528"/>
            <a:ext cx="274320" cy="274320"/>
          </a:xfrm>
          <a:prstGeom prst="rect">
            <a:avLst/>
          </a:prstGeom>
          <a:noFill/>
          <a:ln/>
        </p:spPr>
        <p:txBody>
          <a:bodyPr wrap="square" lIns="0" tIns="0" rIns="0" bIns="0" rtlCol="0" anchor="ctr"/>
          <a:lstStyle/>
          <a:p>
            <a:pPr marL="0" indent="0" algn="ctr">
              <a:buNone/>
            </a:pPr>
            <a:r>
              <a:rPr lang="en-US" sz="1200" b="1" dirty="0">
                <a:solidFill>
                  <a:schemeClr val="tx1"/>
                </a:solidFill>
              </a:rPr>
              <a:t>3</a:t>
            </a:r>
            <a:endParaRPr lang="en-US" sz="1200" dirty="0"/>
          </a:p>
        </p:txBody>
      </p:sp>
      <p:sp>
        <p:nvSpPr>
          <p:cNvPr id="54" name="Text 159"/>
          <p:cNvSpPr txBox="1"/>
          <p:nvPr/>
        </p:nvSpPr>
        <p:spPr>
          <a:xfrm>
            <a:off x="4974336" y="4160520"/>
            <a:ext cx="1691640" cy="411480"/>
          </a:xfrm>
          <a:prstGeom prst="rect">
            <a:avLst/>
          </a:prstGeom>
          <a:noFill/>
          <a:ln/>
        </p:spPr>
        <p:txBody>
          <a:bodyPr wrap="square" lIns="0" tIns="0" rIns="0" bIns="0" rtlCol="0" anchor="ctr"/>
          <a:lstStyle/>
          <a:p>
            <a:pPr marL="0" indent="0">
              <a:buNone/>
            </a:pPr>
            <a:r>
              <a:rPr lang="en-US" sz="1200" dirty="0">
                <a:solidFill>
                  <a:schemeClr val="tx1"/>
                </a:solidFill>
              </a:rPr>
              <a:t>Service reads or writes the data</a:t>
            </a:r>
            <a:endParaRPr lang="en-US" sz="1200" dirty="0"/>
          </a:p>
        </p:txBody>
      </p:sp>
      <p:sp>
        <p:nvSpPr>
          <p:cNvPr id="55" name="Number badge 160"/>
          <p:cNvSpPr/>
          <p:nvPr/>
        </p:nvSpPr>
        <p:spPr>
          <a:xfrm>
            <a:off x="6711696" y="4224528"/>
            <a:ext cx="274320" cy="274320"/>
          </a:xfrm>
          <a:prstGeom prst="ellipse">
            <a:avLst/>
          </a:prstGeom>
          <a:solidFill>
            <a:schemeClr val="accent1"/>
          </a:solidFill>
          <a:ln/>
        </p:spPr>
      </p:sp>
      <p:sp>
        <p:nvSpPr>
          <p:cNvPr id="56" name="Text 161"/>
          <p:cNvSpPr txBox="1"/>
          <p:nvPr/>
        </p:nvSpPr>
        <p:spPr>
          <a:xfrm>
            <a:off x="6711696" y="4224528"/>
            <a:ext cx="274320" cy="274320"/>
          </a:xfrm>
          <a:prstGeom prst="rect">
            <a:avLst/>
          </a:prstGeom>
          <a:noFill/>
          <a:ln/>
        </p:spPr>
        <p:txBody>
          <a:bodyPr wrap="square" lIns="0" tIns="0" rIns="0" bIns="0" rtlCol="0" anchor="ctr"/>
          <a:lstStyle/>
          <a:p>
            <a:pPr marL="0" indent="0" algn="ctr">
              <a:buNone/>
            </a:pPr>
            <a:r>
              <a:rPr lang="en-US" sz="1200" b="1" dirty="0">
                <a:solidFill>
                  <a:schemeClr val="tx1"/>
                </a:solidFill>
              </a:rPr>
              <a:t>4</a:t>
            </a:r>
            <a:endParaRPr lang="en-US" sz="1200" dirty="0"/>
          </a:p>
        </p:txBody>
      </p:sp>
      <p:sp>
        <p:nvSpPr>
          <p:cNvPr id="57" name="Text 162"/>
          <p:cNvSpPr txBox="1"/>
          <p:nvPr/>
        </p:nvSpPr>
        <p:spPr>
          <a:xfrm>
            <a:off x="7059168" y="4160520"/>
            <a:ext cx="1691640" cy="411480"/>
          </a:xfrm>
          <a:prstGeom prst="rect">
            <a:avLst/>
          </a:prstGeom>
          <a:noFill/>
          <a:ln/>
        </p:spPr>
        <p:txBody>
          <a:bodyPr wrap="square" lIns="0" tIns="0" rIns="0" bIns="0" rtlCol="0" anchor="ctr"/>
          <a:lstStyle/>
          <a:p>
            <a:pPr marL="0" indent="0">
              <a:buNone/>
            </a:pPr>
            <a:r>
              <a:rPr lang="en-US" sz="1200" dirty="0">
                <a:solidFill>
                  <a:schemeClr val="tx1"/>
                </a:solidFill>
              </a:rPr>
              <a:t>Changes stream back live to devices</a:t>
            </a:r>
            <a:endParaRPr lang="en-US" sz="1200" dirty="0"/>
          </a:p>
        </p:txBody>
      </p:sp>
      <p:sp>
        <p:nvSpPr>
          <p:cNvPr id="58"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200" b="1" dirty="0">
                <a:solidFill>
                  <a:schemeClr val="tx1"/>
                </a:solidFill>
              </a:rPr>
              <a:t>Languages, SDKs and tools</a:t>
            </a:r>
            <a:endParaRPr lang="en-US" sz="3200" dirty="0"/>
          </a:p>
        </p:txBody>
      </p:sp>
      <p:sp>
        <p:nvSpPr>
          <p:cNvPr id="3" name="Card 163"/>
          <p:cNvSpPr/>
          <p:nvPr/>
        </p:nvSpPr>
        <p:spPr>
          <a:xfrm>
            <a:off x="457200" y="1188720"/>
            <a:ext cx="8229600" cy="1005840"/>
          </a:xfrm>
          <a:prstGeom prst="roundRect">
            <a:avLst>
              <a:gd name="adj" fmla="val 9091"/>
            </a:avLst>
          </a:prstGeom>
          <a:solidFill>
            <a:schemeClr val="bg2"/>
          </a:solidFill>
          <a:ln/>
          <a:effectLst>
            <a:outerShdw blurRad="76200" dist="25400" dir="5400000" algn="bl" rotWithShape="0">
              <a:srgbClr val="000000">
                <a:alpha val="12000"/>
              </a:srgbClr>
            </a:outerShdw>
          </a:effectLst>
        </p:spPr>
      </p:sp>
      <p:sp>
        <p:nvSpPr>
          <p:cNvPr id="4" name="Icon circle 164"/>
          <p:cNvSpPr/>
          <p:nvPr/>
        </p:nvSpPr>
        <p:spPr>
          <a:xfrm>
            <a:off x="685800" y="1417320"/>
            <a:ext cx="548640" cy="548640"/>
          </a:xfrm>
          <a:prstGeom prst="ellipse">
            <a:avLst/>
          </a:prstGeom>
          <a:solidFill>
            <a:schemeClr val="accent2"/>
          </a:solidFill>
          <a:ln/>
        </p:spPr>
      </p:sp>
      <p:pic>
        <p:nvPicPr>
          <p:cNvPr id="5" name="Icon 165" descr="Code icon"/>
          <p:cNvPicPr>
            <a:picLocks noChangeAspect="1"/>
          </p:cNvPicPr>
          <p:nvPr/>
        </p:nvPicPr>
        <p:blipFill>
          <a:blip r:embed="rId3"/>
          <a:stretch>
            <a:fillRect/>
          </a:stretch>
        </p:blipFill>
        <p:spPr>
          <a:xfrm>
            <a:off x="806501" y="1538021"/>
            <a:ext cx="307238" cy="307238"/>
          </a:xfrm>
          <a:prstGeom prst="rect">
            <a:avLst/>
          </a:prstGeom>
        </p:spPr>
      </p:pic>
      <p:sp>
        <p:nvSpPr>
          <p:cNvPr id="6" name="Text 166"/>
          <p:cNvSpPr txBox="1"/>
          <p:nvPr/>
        </p:nvSpPr>
        <p:spPr>
          <a:xfrm>
            <a:off x="1371600" y="1417320"/>
            <a:ext cx="1554480" cy="548640"/>
          </a:xfrm>
          <a:prstGeom prst="rect">
            <a:avLst/>
          </a:prstGeom>
          <a:noFill/>
          <a:ln/>
        </p:spPr>
        <p:txBody>
          <a:bodyPr wrap="square" lIns="0" tIns="0" rIns="0" bIns="0" rtlCol="0" anchor="ctr"/>
          <a:lstStyle/>
          <a:p>
            <a:pPr marL="0" indent="0">
              <a:buNone/>
            </a:pPr>
            <a:r>
              <a:rPr lang="en-US" sz="1600" b="1" dirty="0">
                <a:solidFill>
                  <a:schemeClr val="tx1"/>
                </a:solidFill>
              </a:rPr>
              <a:t>Languages</a:t>
            </a:r>
            <a:endParaRPr lang="en-US" sz="1600" dirty="0"/>
          </a:p>
        </p:txBody>
      </p:sp>
      <p:sp>
        <p:nvSpPr>
          <p:cNvPr id="7" name="Chip 167"/>
          <p:cNvSpPr/>
          <p:nvPr/>
        </p:nvSpPr>
        <p:spPr>
          <a:xfrm>
            <a:off x="3017520" y="1527048"/>
            <a:ext cx="740664" cy="329184"/>
          </a:xfrm>
          <a:prstGeom prst="roundRect">
            <a:avLst>
              <a:gd name="adj" fmla="val 33333"/>
            </a:avLst>
          </a:prstGeom>
          <a:solidFill>
            <a:schemeClr val="bg1"/>
          </a:solidFill>
          <a:ln/>
        </p:spPr>
      </p:sp>
      <p:sp>
        <p:nvSpPr>
          <p:cNvPr id="8" name="Text 168"/>
          <p:cNvSpPr txBox="1"/>
          <p:nvPr/>
        </p:nvSpPr>
        <p:spPr>
          <a:xfrm>
            <a:off x="3017520" y="1527048"/>
            <a:ext cx="740664" cy="329184"/>
          </a:xfrm>
          <a:prstGeom prst="rect">
            <a:avLst/>
          </a:prstGeom>
          <a:noFill/>
          <a:ln/>
        </p:spPr>
        <p:txBody>
          <a:bodyPr wrap="square" lIns="0" tIns="0" rIns="0" bIns="0" rtlCol="0" anchor="ctr"/>
          <a:lstStyle/>
          <a:p>
            <a:pPr marL="0" indent="0" algn="ctr">
              <a:buNone/>
            </a:pPr>
            <a:r>
              <a:rPr lang="en-US" sz="1400" dirty="0">
                <a:solidFill>
                  <a:schemeClr val="tx1"/>
                </a:solidFill>
              </a:rPr>
              <a:t>Kotlin</a:t>
            </a:r>
            <a:endParaRPr lang="en-US" sz="1400" dirty="0"/>
          </a:p>
        </p:txBody>
      </p:sp>
      <p:sp>
        <p:nvSpPr>
          <p:cNvPr id="9" name="Chip 169"/>
          <p:cNvSpPr/>
          <p:nvPr/>
        </p:nvSpPr>
        <p:spPr>
          <a:xfrm>
            <a:off x="3849624" y="1527048"/>
            <a:ext cx="585216" cy="329184"/>
          </a:xfrm>
          <a:prstGeom prst="roundRect">
            <a:avLst>
              <a:gd name="adj" fmla="val 33333"/>
            </a:avLst>
          </a:prstGeom>
          <a:solidFill>
            <a:schemeClr val="bg1"/>
          </a:solidFill>
          <a:ln/>
        </p:spPr>
      </p:sp>
      <p:sp>
        <p:nvSpPr>
          <p:cNvPr id="10" name="Text 170"/>
          <p:cNvSpPr txBox="1"/>
          <p:nvPr/>
        </p:nvSpPr>
        <p:spPr>
          <a:xfrm>
            <a:off x="3849624" y="1527048"/>
            <a:ext cx="585216" cy="329184"/>
          </a:xfrm>
          <a:prstGeom prst="rect">
            <a:avLst/>
          </a:prstGeom>
          <a:noFill/>
          <a:ln/>
        </p:spPr>
        <p:txBody>
          <a:bodyPr wrap="square" lIns="0" tIns="0" rIns="0" bIns="0" rtlCol="0" anchor="ctr"/>
          <a:lstStyle/>
          <a:p>
            <a:pPr marL="0" indent="0" algn="ctr">
              <a:buNone/>
            </a:pPr>
            <a:r>
              <a:rPr lang="en-US" sz="1400" dirty="0">
                <a:solidFill>
                  <a:schemeClr val="tx1"/>
                </a:solidFill>
              </a:rPr>
              <a:t>Java</a:t>
            </a:r>
            <a:endParaRPr lang="en-US" sz="1400" dirty="0"/>
          </a:p>
        </p:txBody>
      </p:sp>
      <p:sp>
        <p:nvSpPr>
          <p:cNvPr id="11" name="Chip 171"/>
          <p:cNvSpPr/>
          <p:nvPr/>
        </p:nvSpPr>
        <p:spPr>
          <a:xfrm>
            <a:off x="4526280" y="1527048"/>
            <a:ext cx="662940" cy="329184"/>
          </a:xfrm>
          <a:prstGeom prst="roundRect">
            <a:avLst>
              <a:gd name="adj" fmla="val 33333"/>
            </a:avLst>
          </a:prstGeom>
          <a:solidFill>
            <a:schemeClr val="bg1"/>
          </a:solidFill>
          <a:ln/>
        </p:spPr>
      </p:sp>
      <p:sp>
        <p:nvSpPr>
          <p:cNvPr id="12" name="Text 172"/>
          <p:cNvSpPr txBox="1"/>
          <p:nvPr/>
        </p:nvSpPr>
        <p:spPr>
          <a:xfrm>
            <a:off x="4526280" y="1527048"/>
            <a:ext cx="662940" cy="329184"/>
          </a:xfrm>
          <a:prstGeom prst="rect">
            <a:avLst/>
          </a:prstGeom>
          <a:noFill/>
          <a:ln/>
        </p:spPr>
        <p:txBody>
          <a:bodyPr wrap="square" lIns="0" tIns="0" rIns="0" bIns="0" rtlCol="0" anchor="ctr"/>
          <a:lstStyle/>
          <a:p>
            <a:pPr marL="0" indent="0" algn="ctr">
              <a:buNone/>
            </a:pPr>
            <a:r>
              <a:rPr lang="en-US" sz="1400" dirty="0">
                <a:solidFill>
                  <a:schemeClr val="tx1"/>
                </a:solidFill>
              </a:rPr>
              <a:t>Swift</a:t>
            </a:r>
            <a:endParaRPr lang="en-US" sz="1400" dirty="0"/>
          </a:p>
        </p:txBody>
      </p:sp>
      <p:sp>
        <p:nvSpPr>
          <p:cNvPr id="13" name="Chip 173"/>
          <p:cNvSpPr/>
          <p:nvPr/>
        </p:nvSpPr>
        <p:spPr>
          <a:xfrm>
            <a:off x="5280660" y="1527048"/>
            <a:ext cx="585216" cy="329184"/>
          </a:xfrm>
          <a:prstGeom prst="roundRect">
            <a:avLst>
              <a:gd name="adj" fmla="val 33333"/>
            </a:avLst>
          </a:prstGeom>
          <a:solidFill>
            <a:schemeClr val="bg1"/>
          </a:solidFill>
          <a:ln/>
        </p:spPr>
      </p:sp>
      <p:sp>
        <p:nvSpPr>
          <p:cNvPr id="14" name="Text 174"/>
          <p:cNvSpPr txBox="1"/>
          <p:nvPr/>
        </p:nvSpPr>
        <p:spPr>
          <a:xfrm>
            <a:off x="5280660" y="1527048"/>
            <a:ext cx="585216" cy="329184"/>
          </a:xfrm>
          <a:prstGeom prst="rect">
            <a:avLst/>
          </a:prstGeom>
          <a:noFill/>
          <a:ln/>
        </p:spPr>
        <p:txBody>
          <a:bodyPr wrap="square" lIns="0" tIns="0" rIns="0" bIns="0" rtlCol="0" anchor="ctr"/>
          <a:lstStyle/>
          <a:p>
            <a:pPr marL="0" indent="0" algn="ctr">
              <a:buNone/>
            </a:pPr>
            <a:r>
              <a:rPr lang="en-US" sz="1400" dirty="0">
                <a:solidFill>
                  <a:schemeClr val="tx1"/>
                </a:solidFill>
              </a:rPr>
              <a:t>Dart</a:t>
            </a:r>
            <a:endParaRPr lang="en-US" sz="1400" dirty="0"/>
          </a:p>
        </p:txBody>
      </p:sp>
      <p:sp>
        <p:nvSpPr>
          <p:cNvPr id="15" name="Chip 175"/>
          <p:cNvSpPr/>
          <p:nvPr/>
        </p:nvSpPr>
        <p:spPr>
          <a:xfrm>
            <a:off x="5957316" y="1527048"/>
            <a:ext cx="2061972" cy="329184"/>
          </a:xfrm>
          <a:prstGeom prst="roundRect">
            <a:avLst>
              <a:gd name="adj" fmla="val 33333"/>
            </a:avLst>
          </a:prstGeom>
          <a:solidFill>
            <a:schemeClr val="bg1"/>
          </a:solidFill>
          <a:ln/>
        </p:spPr>
      </p:sp>
      <p:sp>
        <p:nvSpPr>
          <p:cNvPr id="16" name="Text 176"/>
          <p:cNvSpPr txBox="1"/>
          <p:nvPr/>
        </p:nvSpPr>
        <p:spPr>
          <a:xfrm>
            <a:off x="5957316" y="1527048"/>
            <a:ext cx="2061972" cy="329184"/>
          </a:xfrm>
          <a:prstGeom prst="rect">
            <a:avLst/>
          </a:prstGeom>
          <a:noFill/>
          <a:ln/>
        </p:spPr>
        <p:txBody>
          <a:bodyPr wrap="square" lIns="0" tIns="0" rIns="0" bIns="0" rtlCol="0" anchor="ctr"/>
          <a:lstStyle/>
          <a:p>
            <a:pPr marL="0" indent="0" algn="ctr">
              <a:buNone/>
            </a:pPr>
            <a:r>
              <a:rPr lang="en-US" sz="1400" dirty="0">
                <a:solidFill>
                  <a:schemeClr val="tx1"/>
                </a:solidFill>
              </a:rPr>
              <a:t>JavaScript / TypeScript</a:t>
            </a:r>
            <a:endParaRPr lang="en-US" sz="1400" dirty="0"/>
          </a:p>
        </p:txBody>
      </p:sp>
      <p:sp>
        <p:nvSpPr>
          <p:cNvPr id="17" name="Card 177"/>
          <p:cNvSpPr/>
          <p:nvPr/>
        </p:nvSpPr>
        <p:spPr>
          <a:xfrm>
            <a:off x="457200" y="2331720"/>
            <a:ext cx="8229600" cy="1005840"/>
          </a:xfrm>
          <a:prstGeom prst="roundRect">
            <a:avLst>
              <a:gd name="adj" fmla="val 9091"/>
            </a:avLst>
          </a:prstGeom>
          <a:solidFill>
            <a:schemeClr val="bg2"/>
          </a:solidFill>
          <a:ln/>
          <a:effectLst>
            <a:outerShdw blurRad="76200" dist="25400" dir="5400000" algn="bl" rotWithShape="0">
              <a:srgbClr val="000000">
                <a:alpha val="12000"/>
              </a:srgbClr>
            </a:outerShdw>
          </a:effectLst>
        </p:spPr>
      </p:sp>
      <p:sp>
        <p:nvSpPr>
          <p:cNvPr id="18" name="Icon circle 178"/>
          <p:cNvSpPr/>
          <p:nvPr/>
        </p:nvSpPr>
        <p:spPr>
          <a:xfrm>
            <a:off x="685800" y="2560320"/>
            <a:ext cx="548640" cy="548640"/>
          </a:xfrm>
          <a:prstGeom prst="ellipse">
            <a:avLst/>
          </a:prstGeom>
          <a:solidFill>
            <a:schemeClr val="accent2"/>
          </a:solidFill>
          <a:ln/>
        </p:spPr>
      </p:sp>
      <p:pic>
        <p:nvPicPr>
          <p:cNvPr id="19" name="Icon 179" descr="LayerGroup icon"/>
          <p:cNvPicPr>
            <a:picLocks noChangeAspect="1"/>
          </p:cNvPicPr>
          <p:nvPr/>
        </p:nvPicPr>
        <p:blipFill>
          <a:blip r:embed="rId4"/>
          <a:stretch>
            <a:fillRect/>
          </a:stretch>
        </p:blipFill>
        <p:spPr>
          <a:xfrm>
            <a:off x="806501" y="2681021"/>
            <a:ext cx="307238" cy="307238"/>
          </a:xfrm>
          <a:prstGeom prst="rect">
            <a:avLst/>
          </a:prstGeom>
        </p:spPr>
      </p:pic>
      <p:sp>
        <p:nvSpPr>
          <p:cNvPr id="20" name="Text 180"/>
          <p:cNvSpPr txBox="1"/>
          <p:nvPr/>
        </p:nvSpPr>
        <p:spPr>
          <a:xfrm>
            <a:off x="1371600" y="2560320"/>
            <a:ext cx="1554480" cy="548640"/>
          </a:xfrm>
          <a:prstGeom prst="rect">
            <a:avLst/>
          </a:prstGeom>
          <a:noFill/>
          <a:ln/>
        </p:spPr>
        <p:txBody>
          <a:bodyPr wrap="square" lIns="0" tIns="0" rIns="0" bIns="0" rtlCol="0" anchor="ctr"/>
          <a:lstStyle/>
          <a:p>
            <a:pPr marL="0" indent="0">
              <a:buNone/>
            </a:pPr>
            <a:r>
              <a:rPr lang="en-US" sz="1600" b="1" dirty="0">
                <a:solidFill>
                  <a:schemeClr val="tx1"/>
                </a:solidFill>
              </a:rPr>
              <a:t>SDKs and platforms</a:t>
            </a:r>
            <a:endParaRPr lang="en-US" sz="1600" dirty="0"/>
          </a:p>
        </p:txBody>
      </p:sp>
      <p:sp>
        <p:nvSpPr>
          <p:cNvPr id="21" name="Chip 181"/>
          <p:cNvSpPr/>
          <p:nvPr/>
        </p:nvSpPr>
        <p:spPr>
          <a:xfrm>
            <a:off x="3017520" y="2459736"/>
            <a:ext cx="1129284" cy="329184"/>
          </a:xfrm>
          <a:prstGeom prst="roundRect">
            <a:avLst>
              <a:gd name="adj" fmla="val 33333"/>
            </a:avLst>
          </a:prstGeom>
          <a:solidFill>
            <a:schemeClr val="bg1"/>
          </a:solidFill>
          <a:ln/>
        </p:spPr>
      </p:sp>
      <p:sp>
        <p:nvSpPr>
          <p:cNvPr id="22" name="Text 182"/>
          <p:cNvSpPr txBox="1"/>
          <p:nvPr/>
        </p:nvSpPr>
        <p:spPr>
          <a:xfrm>
            <a:off x="3017520" y="2459736"/>
            <a:ext cx="1129284" cy="329184"/>
          </a:xfrm>
          <a:prstGeom prst="rect">
            <a:avLst/>
          </a:prstGeom>
          <a:noFill/>
          <a:ln/>
        </p:spPr>
        <p:txBody>
          <a:bodyPr wrap="square" lIns="0" tIns="0" rIns="0" bIns="0" rtlCol="0" anchor="ctr"/>
          <a:lstStyle/>
          <a:p>
            <a:pPr marL="0" indent="0" algn="ctr">
              <a:buNone/>
            </a:pPr>
            <a:r>
              <a:rPr lang="en-US" sz="1400" dirty="0">
                <a:solidFill>
                  <a:schemeClr val="tx1"/>
                </a:solidFill>
              </a:rPr>
              <a:t>Android SDK</a:t>
            </a:r>
            <a:endParaRPr lang="en-US" sz="1400" dirty="0"/>
          </a:p>
        </p:txBody>
      </p:sp>
      <p:sp>
        <p:nvSpPr>
          <p:cNvPr id="23" name="Chip 183"/>
          <p:cNvSpPr/>
          <p:nvPr/>
        </p:nvSpPr>
        <p:spPr>
          <a:xfrm>
            <a:off x="4238244" y="2459736"/>
            <a:ext cx="818388" cy="329184"/>
          </a:xfrm>
          <a:prstGeom prst="roundRect">
            <a:avLst>
              <a:gd name="adj" fmla="val 33333"/>
            </a:avLst>
          </a:prstGeom>
          <a:solidFill>
            <a:schemeClr val="bg1"/>
          </a:solidFill>
          <a:ln/>
        </p:spPr>
      </p:sp>
      <p:sp>
        <p:nvSpPr>
          <p:cNvPr id="24" name="Text 184"/>
          <p:cNvSpPr txBox="1"/>
          <p:nvPr/>
        </p:nvSpPr>
        <p:spPr>
          <a:xfrm>
            <a:off x="4238244" y="2459736"/>
            <a:ext cx="818388" cy="329184"/>
          </a:xfrm>
          <a:prstGeom prst="rect">
            <a:avLst/>
          </a:prstGeom>
          <a:noFill/>
          <a:ln/>
        </p:spPr>
        <p:txBody>
          <a:bodyPr wrap="square" lIns="0" tIns="0" rIns="0" bIns="0" rtlCol="0" anchor="ctr"/>
          <a:lstStyle/>
          <a:p>
            <a:pPr marL="0" indent="0" algn="ctr">
              <a:buNone/>
            </a:pPr>
            <a:r>
              <a:rPr lang="en-US" sz="1400" dirty="0">
                <a:solidFill>
                  <a:schemeClr val="tx1"/>
                </a:solidFill>
              </a:rPr>
              <a:t>iOS SDK</a:t>
            </a:r>
            <a:endParaRPr lang="en-US" sz="1400" dirty="0"/>
          </a:p>
        </p:txBody>
      </p:sp>
      <p:sp>
        <p:nvSpPr>
          <p:cNvPr id="25" name="Chip 185"/>
          <p:cNvSpPr/>
          <p:nvPr/>
        </p:nvSpPr>
        <p:spPr>
          <a:xfrm>
            <a:off x="5148072" y="2459736"/>
            <a:ext cx="1129284" cy="329184"/>
          </a:xfrm>
          <a:prstGeom prst="roundRect">
            <a:avLst>
              <a:gd name="adj" fmla="val 33333"/>
            </a:avLst>
          </a:prstGeom>
          <a:solidFill>
            <a:schemeClr val="bg1"/>
          </a:solidFill>
          <a:ln/>
        </p:spPr>
      </p:sp>
      <p:sp>
        <p:nvSpPr>
          <p:cNvPr id="26" name="Text 186"/>
          <p:cNvSpPr txBox="1"/>
          <p:nvPr/>
        </p:nvSpPr>
        <p:spPr>
          <a:xfrm>
            <a:off x="5148072" y="2459736"/>
            <a:ext cx="1129284" cy="329184"/>
          </a:xfrm>
          <a:prstGeom prst="rect">
            <a:avLst/>
          </a:prstGeom>
          <a:noFill/>
          <a:ln/>
        </p:spPr>
        <p:txBody>
          <a:bodyPr wrap="square" lIns="0" tIns="0" rIns="0" bIns="0" rtlCol="0" anchor="ctr"/>
          <a:lstStyle/>
          <a:p>
            <a:pPr marL="0" indent="0" algn="ctr">
              <a:buNone/>
            </a:pPr>
            <a:r>
              <a:rPr lang="en-US" sz="1400" dirty="0">
                <a:solidFill>
                  <a:schemeClr val="tx1"/>
                </a:solidFill>
              </a:rPr>
              <a:t>FlutterFire</a:t>
            </a:r>
            <a:endParaRPr lang="en-US" sz="1400" dirty="0"/>
          </a:p>
        </p:txBody>
      </p:sp>
      <p:sp>
        <p:nvSpPr>
          <p:cNvPr id="27" name="Chip 187"/>
          <p:cNvSpPr/>
          <p:nvPr/>
        </p:nvSpPr>
        <p:spPr>
          <a:xfrm>
            <a:off x="6368796" y="2459736"/>
            <a:ext cx="1906524" cy="329184"/>
          </a:xfrm>
          <a:prstGeom prst="roundRect">
            <a:avLst>
              <a:gd name="adj" fmla="val 33333"/>
            </a:avLst>
          </a:prstGeom>
          <a:solidFill>
            <a:schemeClr val="bg1"/>
          </a:solidFill>
          <a:ln/>
        </p:spPr>
      </p:sp>
      <p:sp>
        <p:nvSpPr>
          <p:cNvPr id="28" name="Text 188"/>
          <p:cNvSpPr txBox="1"/>
          <p:nvPr/>
        </p:nvSpPr>
        <p:spPr>
          <a:xfrm>
            <a:off x="6368796" y="2459736"/>
            <a:ext cx="1906524" cy="329184"/>
          </a:xfrm>
          <a:prstGeom prst="rect">
            <a:avLst/>
          </a:prstGeom>
          <a:noFill/>
          <a:ln/>
        </p:spPr>
        <p:txBody>
          <a:bodyPr wrap="square" lIns="0" tIns="0" rIns="0" bIns="0" rtlCol="0" anchor="ctr"/>
          <a:lstStyle/>
          <a:p>
            <a:pPr marL="0" indent="0" algn="ctr">
              <a:buNone/>
            </a:pPr>
            <a:r>
              <a:rPr lang="en-US" sz="1400" dirty="0">
                <a:solidFill>
                  <a:schemeClr val="tx1"/>
                </a:solidFill>
              </a:rPr>
              <a:t>React Native Firebase</a:t>
            </a:r>
            <a:endParaRPr lang="en-US" sz="1400" dirty="0"/>
          </a:p>
        </p:txBody>
      </p:sp>
      <p:sp>
        <p:nvSpPr>
          <p:cNvPr id="29" name="Chip 189"/>
          <p:cNvSpPr/>
          <p:nvPr/>
        </p:nvSpPr>
        <p:spPr>
          <a:xfrm>
            <a:off x="3017520" y="2880360"/>
            <a:ext cx="1284732" cy="329184"/>
          </a:xfrm>
          <a:prstGeom prst="roundRect">
            <a:avLst>
              <a:gd name="adj" fmla="val 33333"/>
            </a:avLst>
          </a:prstGeom>
          <a:solidFill>
            <a:schemeClr val="bg1"/>
          </a:solidFill>
          <a:ln/>
        </p:spPr>
      </p:sp>
      <p:sp>
        <p:nvSpPr>
          <p:cNvPr id="30" name="Text 190"/>
          <p:cNvSpPr txBox="1"/>
          <p:nvPr/>
        </p:nvSpPr>
        <p:spPr>
          <a:xfrm>
            <a:off x="3017520" y="2880360"/>
            <a:ext cx="1284732" cy="329184"/>
          </a:xfrm>
          <a:prstGeom prst="rect">
            <a:avLst/>
          </a:prstGeom>
          <a:noFill/>
          <a:ln/>
        </p:spPr>
        <p:txBody>
          <a:bodyPr wrap="square" lIns="0" tIns="0" rIns="0" bIns="0" rtlCol="0" anchor="ctr"/>
          <a:lstStyle/>
          <a:p>
            <a:pPr marL="0" indent="0" algn="ctr">
              <a:buNone/>
            </a:pPr>
            <a:r>
              <a:rPr lang="en-US" sz="1400" dirty="0">
                <a:solidFill>
                  <a:schemeClr val="tx1"/>
                </a:solidFill>
              </a:rPr>
              <a:t>Unity and C++</a:t>
            </a:r>
            <a:endParaRPr lang="en-US" sz="1400" dirty="0"/>
          </a:p>
        </p:txBody>
      </p:sp>
      <p:sp>
        <p:nvSpPr>
          <p:cNvPr id="31" name="Chip 191"/>
          <p:cNvSpPr/>
          <p:nvPr/>
        </p:nvSpPr>
        <p:spPr>
          <a:xfrm>
            <a:off x="4393692" y="2880360"/>
            <a:ext cx="973836" cy="329184"/>
          </a:xfrm>
          <a:prstGeom prst="roundRect">
            <a:avLst>
              <a:gd name="adj" fmla="val 33333"/>
            </a:avLst>
          </a:prstGeom>
          <a:solidFill>
            <a:schemeClr val="bg1"/>
          </a:solidFill>
          <a:ln/>
        </p:spPr>
      </p:sp>
      <p:sp>
        <p:nvSpPr>
          <p:cNvPr id="32" name="Text 192"/>
          <p:cNvSpPr txBox="1"/>
          <p:nvPr/>
        </p:nvSpPr>
        <p:spPr>
          <a:xfrm>
            <a:off x="4393692" y="2880360"/>
            <a:ext cx="973836" cy="329184"/>
          </a:xfrm>
          <a:prstGeom prst="rect">
            <a:avLst/>
          </a:prstGeom>
          <a:noFill/>
          <a:ln/>
        </p:spPr>
        <p:txBody>
          <a:bodyPr wrap="square" lIns="0" tIns="0" rIns="0" bIns="0" rtlCol="0" anchor="ctr"/>
          <a:lstStyle/>
          <a:p>
            <a:pPr marL="0" indent="0" algn="ctr">
              <a:buNone/>
            </a:pPr>
            <a:r>
              <a:rPr lang="en-US" sz="1400" dirty="0">
                <a:solidFill>
                  <a:schemeClr val="tx1"/>
                </a:solidFill>
              </a:rPr>
              <a:t>Admin SDK</a:t>
            </a:r>
            <a:endParaRPr lang="en-US" sz="1400" dirty="0"/>
          </a:p>
        </p:txBody>
      </p:sp>
      <p:sp>
        <p:nvSpPr>
          <p:cNvPr id="33" name="Chip 193"/>
          <p:cNvSpPr/>
          <p:nvPr/>
        </p:nvSpPr>
        <p:spPr>
          <a:xfrm>
            <a:off x="5458968" y="2880360"/>
            <a:ext cx="973836" cy="329184"/>
          </a:xfrm>
          <a:prstGeom prst="roundRect">
            <a:avLst>
              <a:gd name="adj" fmla="val 33333"/>
            </a:avLst>
          </a:prstGeom>
          <a:solidFill>
            <a:schemeClr val="bg1"/>
          </a:solidFill>
          <a:ln/>
        </p:spPr>
      </p:sp>
      <p:sp>
        <p:nvSpPr>
          <p:cNvPr id="34" name="Text 194"/>
          <p:cNvSpPr txBox="1"/>
          <p:nvPr/>
        </p:nvSpPr>
        <p:spPr>
          <a:xfrm>
            <a:off x="5458968" y="2880360"/>
            <a:ext cx="973836" cy="329184"/>
          </a:xfrm>
          <a:prstGeom prst="rect">
            <a:avLst/>
          </a:prstGeom>
          <a:noFill/>
          <a:ln/>
        </p:spPr>
        <p:txBody>
          <a:bodyPr wrap="square" lIns="0" tIns="0" rIns="0" bIns="0" rtlCol="0" anchor="ctr"/>
          <a:lstStyle/>
          <a:p>
            <a:pPr marL="0" indent="0" algn="ctr">
              <a:buNone/>
            </a:pPr>
            <a:r>
              <a:rPr lang="en-US" sz="1400" dirty="0">
                <a:solidFill>
                  <a:schemeClr val="tx1"/>
                </a:solidFill>
              </a:rPr>
              <a:t>REST APIs</a:t>
            </a:r>
            <a:endParaRPr lang="en-US" sz="1400" dirty="0"/>
          </a:p>
        </p:txBody>
      </p:sp>
      <p:sp>
        <p:nvSpPr>
          <p:cNvPr id="35" name="Card 195"/>
          <p:cNvSpPr/>
          <p:nvPr/>
        </p:nvSpPr>
        <p:spPr>
          <a:xfrm>
            <a:off x="457200" y="3474720"/>
            <a:ext cx="8229600" cy="1005840"/>
          </a:xfrm>
          <a:prstGeom prst="roundRect">
            <a:avLst>
              <a:gd name="adj" fmla="val 9091"/>
            </a:avLst>
          </a:prstGeom>
          <a:solidFill>
            <a:schemeClr val="bg2"/>
          </a:solidFill>
          <a:ln/>
          <a:effectLst>
            <a:outerShdw blurRad="76200" dist="25400" dir="5400000" algn="bl" rotWithShape="0">
              <a:srgbClr val="000000">
                <a:alpha val="12000"/>
              </a:srgbClr>
            </a:outerShdw>
          </a:effectLst>
        </p:spPr>
      </p:sp>
      <p:sp>
        <p:nvSpPr>
          <p:cNvPr id="36" name="Icon circle 196"/>
          <p:cNvSpPr/>
          <p:nvPr/>
        </p:nvSpPr>
        <p:spPr>
          <a:xfrm>
            <a:off x="685800" y="3703320"/>
            <a:ext cx="548640" cy="548640"/>
          </a:xfrm>
          <a:prstGeom prst="ellipse">
            <a:avLst/>
          </a:prstGeom>
          <a:solidFill>
            <a:schemeClr val="accent2"/>
          </a:solidFill>
          <a:ln/>
        </p:spPr>
      </p:sp>
      <p:pic>
        <p:nvPicPr>
          <p:cNvPr id="37" name="Icon 197" descr="Tools icon"/>
          <p:cNvPicPr>
            <a:picLocks noChangeAspect="1"/>
          </p:cNvPicPr>
          <p:nvPr/>
        </p:nvPicPr>
        <p:blipFill>
          <a:blip r:embed="rId5"/>
          <a:stretch>
            <a:fillRect/>
          </a:stretch>
        </p:blipFill>
        <p:spPr>
          <a:xfrm>
            <a:off x="806501" y="3824021"/>
            <a:ext cx="307238" cy="307238"/>
          </a:xfrm>
          <a:prstGeom prst="rect">
            <a:avLst/>
          </a:prstGeom>
        </p:spPr>
      </p:pic>
      <p:sp>
        <p:nvSpPr>
          <p:cNvPr id="38" name="Text 198"/>
          <p:cNvSpPr txBox="1"/>
          <p:nvPr/>
        </p:nvSpPr>
        <p:spPr>
          <a:xfrm>
            <a:off x="1371600" y="3703320"/>
            <a:ext cx="1554480" cy="548640"/>
          </a:xfrm>
          <a:prstGeom prst="rect">
            <a:avLst/>
          </a:prstGeom>
          <a:noFill/>
          <a:ln/>
        </p:spPr>
        <p:txBody>
          <a:bodyPr wrap="square" lIns="0" tIns="0" rIns="0" bIns="0" rtlCol="0" anchor="ctr"/>
          <a:lstStyle/>
          <a:p>
            <a:pPr marL="0" indent="0">
              <a:buNone/>
            </a:pPr>
            <a:r>
              <a:rPr lang="en-US" sz="1600" b="1" dirty="0">
                <a:solidFill>
                  <a:schemeClr val="tx1"/>
                </a:solidFill>
              </a:rPr>
              <a:t>Developer tools</a:t>
            </a:r>
            <a:endParaRPr lang="en-US" sz="1600" dirty="0"/>
          </a:p>
        </p:txBody>
      </p:sp>
      <p:sp>
        <p:nvSpPr>
          <p:cNvPr id="39" name="Chip 199"/>
          <p:cNvSpPr/>
          <p:nvPr/>
        </p:nvSpPr>
        <p:spPr>
          <a:xfrm>
            <a:off x="3017520" y="3602736"/>
            <a:ext cx="1517904" cy="329184"/>
          </a:xfrm>
          <a:prstGeom prst="roundRect">
            <a:avLst>
              <a:gd name="adj" fmla="val 33333"/>
            </a:avLst>
          </a:prstGeom>
          <a:solidFill>
            <a:schemeClr val="bg1"/>
          </a:solidFill>
          <a:ln/>
        </p:spPr>
      </p:sp>
      <p:sp>
        <p:nvSpPr>
          <p:cNvPr id="40" name="Text 200"/>
          <p:cNvSpPr txBox="1"/>
          <p:nvPr/>
        </p:nvSpPr>
        <p:spPr>
          <a:xfrm>
            <a:off x="3017520" y="3602736"/>
            <a:ext cx="1517904" cy="329184"/>
          </a:xfrm>
          <a:prstGeom prst="rect">
            <a:avLst/>
          </a:prstGeom>
          <a:noFill/>
          <a:ln/>
        </p:spPr>
        <p:txBody>
          <a:bodyPr wrap="square" lIns="0" tIns="0" rIns="0" bIns="0" rtlCol="0" anchor="ctr"/>
          <a:lstStyle/>
          <a:p>
            <a:pPr marL="0" indent="0" algn="ctr">
              <a:buNone/>
            </a:pPr>
            <a:r>
              <a:rPr lang="en-US" sz="1400" dirty="0">
                <a:solidFill>
                  <a:schemeClr val="tx1"/>
                </a:solidFill>
              </a:rPr>
              <a:t>Firebase Console</a:t>
            </a:r>
            <a:endParaRPr lang="en-US" sz="1400" dirty="0"/>
          </a:p>
        </p:txBody>
      </p:sp>
      <p:sp>
        <p:nvSpPr>
          <p:cNvPr id="41" name="Chip 201"/>
          <p:cNvSpPr/>
          <p:nvPr/>
        </p:nvSpPr>
        <p:spPr>
          <a:xfrm>
            <a:off x="4626864" y="3602736"/>
            <a:ext cx="1207008" cy="329184"/>
          </a:xfrm>
          <a:prstGeom prst="roundRect">
            <a:avLst>
              <a:gd name="adj" fmla="val 33333"/>
            </a:avLst>
          </a:prstGeom>
          <a:solidFill>
            <a:schemeClr val="bg1"/>
          </a:solidFill>
          <a:ln/>
        </p:spPr>
      </p:sp>
      <p:sp>
        <p:nvSpPr>
          <p:cNvPr id="42" name="Text 202"/>
          <p:cNvSpPr txBox="1"/>
          <p:nvPr/>
        </p:nvSpPr>
        <p:spPr>
          <a:xfrm>
            <a:off x="4626864" y="3602736"/>
            <a:ext cx="1207008" cy="329184"/>
          </a:xfrm>
          <a:prstGeom prst="rect">
            <a:avLst/>
          </a:prstGeom>
          <a:noFill/>
          <a:ln/>
        </p:spPr>
        <p:txBody>
          <a:bodyPr wrap="square" lIns="0" tIns="0" rIns="0" bIns="0" rtlCol="0" anchor="ctr"/>
          <a:lstStyle/>
          <a:p>
            <a:pPr marL="0" indent="0" algn="ctr">
              <a:buNone/>
            </a:pPr>
            <a:r>
              <a:rPr lang="en-US" sz="1400" dirty="0">
                <a:solidFill>
                  <a:schemeClr val="tx1"/>
                </a:solidFill>
              </a:rPr>
              <a:t>Firebase CLI</a:t>
            </a:r>
            <a:endParaRPr lang="en-US" sz="1400" dirty="0"/>
          </a:p>
        </p:txBody>
      </p:sp>
      <p:sp>
        <p:nvSpPr>
          <p:cNvPr id="43" name="Chip 203"/>
          <p:cNvSpPr/>
          <p:nvPr/>
        </p:nvSpPr>
        <p:spPr>
          <a:xfrm>
            <a:off x="5925312" y="3602736"/>
            <a:ext cx="1362456" cy="329184"/>
          </a:xfrm>
          <a:prstGeom prst="roundRect">
            <a:avLst>
              <a:gd name="adj" fmla="val 33333"/>
            </a:avLst>
          </a:prstGeom>
          <a:solidFill>
            <a:schemeClr val="bg1"/>
          </a:solidFill>
          <a:ln/>
        </p:spPr>
      </p:sp>
      <p:sp>
        <p:nvSpPr>
          <p:cNvPr id="44" name="Text 204"/>
          <p:cNvSpPr txBox="1"/>
          <p:nvPr/>
        </p:nvSpPr>
        <p:spPr>
          <a:xfrm>
            <a:off x="5925312" y="3602736"/>
            <a:ext cx="1362456" cy="329184"/>
          </a:xfrm>
          <a:prstGeom prst="rect">
            <a:avLst/>
          </a:prstGeom>
          <a:noFill/>
          <a:ln/>
        </p:spPr>
        <p:txBody>
          <a:bodyPr wrap="square" lIns="0" tIns="0" rIns="0" bIns="0" rtlCol="0" anchor="ctr"/>
          <a:lstStyle/>
          <a:p>
            <a:pPr marL="0" indent="0" algn="ctr">
              <a:buNone/>
            </a:pPr>
            <a:r>
              <a:rPr lang="en-US" sz="1400" dirty="0">
                <a:solidFill>
                  <a:schemeClr val="tx1"/>
                </a:solidFill>
              </a:rPr>
              <a:t>Emulator Suite</a:t>
            </a:r>
            <a:endParaRPr lang="en-US" sz="1400" dirty="0"/>
          </a:p>
        </p:txBody>
      </p:sp>
      <p:sp>
        <p:nvSpPr>
          <p:cNvPr id="45" name="Chip 205"/>
          <p:cNvSpPr/>
          <p:nvPr/>
        </p:nvSpPr>
        <p:spPr>
          <a:xfrm>
            <a:off x="7379208" y="3602736"/>
            <a:ext cx="896112" cy="329184"/>
          </a:xfrm>
          <a:prstGeom prst="roundRect">
            <a:avLst>
              <a:gd name="adj" fmla="val 33333"/>
            </a:avLst>
          </a:prstGeom>
          <a:solidFill>
            <a:schemeClr val="bg1"/>
          </a:solidFill>
          <a:ln/>
        </p:spPr>
      </p:sp>
      <p:sp>
        <p:nvSpPr>
          <p:cNvPr id="46" name="Text 206"/>
          <p:cNvSpPr txBox="1"/>
          <p:nvPr/>
        </p:nvSpPr>
        <p:spPr>
          <a:xfrm>
            <a:off x="7379208" y="3602736"/>
            <a:ext cx="896112" cy="329184"/>
          </a:xfrm>
          <a:prstGeom prst="rect">
            <a:avLst/>
          </a:prstGeom>
          <a:noFill/>
          <a:ln/>
        </p:spPr>
        <p:txBody>
          <a:bodyPr wrap="square" lIns="0" tIns="0" rIns="0" bIns="0" rtlCol="0" anchor="ctr"/>
          <a:lstStyle/>
          <a:p>
            <a:pPr marL="0" indent="0" algn="ctr">
              <a:buNone/>
            </a:pPr>
            <a:r>
              <a:rPr lang="en-US" sz="1400" dirty="0">
                <a:solidFill>
                  <a:schemeClr val="tx1"/>
                </a:solidFill>
              </a:rPr>
              <a:t>Test Lab</a:t>
            </a:r>
            <a:endParaRPr lang="en-US" sz="1400" dirty="0"/>
          </a:p>
        </p:txBody>
      </p:sp>
      <p:sp>
        <p:nvSpPr>
          <p:cNvPr id="47" name="Chip 207"/>
          <p:cNvSpPr/>
          <p:nvPr/>
        </p:nvSpPr>
        <p:spPr>
          <a:xfrm>
            <a:off x="3017520" y="4023360"/>
            <a:ext cx="1129284" cy="329184"/>
          </a:xfrm>
          <a:prstGeom prst="roundRect">
            <a:avLst>
              <a:gd name="adj" fmla="val 33333"/>
            </a:avLst>
          </a:prstGeom>
          <a:solidFill>
            <a:schemeClr val="bg1"/>
          </a:solidFill>
          <a:ln/>
        </p:spPr>
      </p:sp>
      <p:sp>
        <p:nvSpPr>
          <p:cNvPr id="48" name="Text 208"/>
          <p:cNvSpPr txBox="1"/>
          <p:nvPr/>
        </p:nvSpPr>
        <p:spPr>
          <a:xfrm>
            <a:off x="3017520" y="4023360"/>
            <a:ext cx="1129284" cy="329184"/>
          </a:xfrm>
          <a:prstGeom prst="rect">
            <a:avLst/>
          </a:prstGeom>
          <a:noFill/>
          <a:ln/>
        </p:spPr>
        <p:txBody>
          <a:bodyPr wrap="square" lIns="0" tIns="0" rIns="0" bIns="0" rtlCol="0" anchor="ctr"/>
          <a:lstStyle/>
          <a:p>
            <a:pPr marL="0" indent="0" algn="ctr">
              <a:buNone/>
            </a:pPr>
            <a:r>
              <a:rPr lang="en-US" sz="1400" dirty="0">
                <a:solidFill>
                  <a:schemeClr val="tx1"/>
                </a:solidFill>
              </a:rPr>
              <a:t>Crashlytics</a:t>
            </a:r>
            <a:endParaRPr lang="en-US" sz="1400" dirty="0"/>
          </a:p>
        </p:txBody>
      </p:sp>
      <p:sp>
        <p:nvSpPr>
          <p:cNvPr id="49" name="Chip 209"/>
          <p:cNvSpPr/>
          <p:nvPr/>
        </p:nvSpPr>
        <p:spPr>
          <a:xfrm>
            <a:off x="4238244" y="4023360"/>
            <a:ext cx="1362456" cy="329184"/>
          </a:xfrm>
          <a:prstGeom prst="roundRect">
            <a:avLst>
              <a:gd name="adj" fmla="val 33333"/>
            </a:avLst>
          </a:prstGeom>
          <a:solidFill>
            <a:schemeClr val="bg1"/>
          </a:solidFill>
          <a:ln/>
        </p:spPr>
      </p:sp>
      <p:sp>
        <p:nvSpPr>
          <p:cNvPr id="50" name="Text 210"/>
          <p:cNvSpPr txBox="1"/>
          <p:nvPr/>
        </p:nvSpPr>
        <p:spPr>
          <a:xfrm>
            <a:off x="4238244" y="4023360"/>
            <a:ext cx="1362456" cy="329184"/>
          </a:xfrm>
          <a:prstGeom prst="rect">
            <a:avLst/>
          </a:prstGeom>
          <a:noFill/>
          <a:ln/>
        </p:spPr>
        <p:txBody>
          <a:bodyPr wrap="square" lIns="0" tIns="0" rIns="0" bIns="0" rtlCol="0" anchor="ctr"/>
          <a:lstStyle/>
          <a:p>
            <a:pPr marL="0" indent="0" algn="ctr">
              <a:buNone/>
            </a:pPr>
            <a:r>
              <a:rPr lang="en-US" sz="1400" dirty="0">
                <a:solidFill>
                  <a:schemeClr val="tx1"/>
                </a:solidFill>
              </a:rPr>
              <a:t>Android Studio</a:t>
            </a:r>
            <a:endParaRPr lang="en-US" sz="1400" dirty="0"/>
          </a:p>
        </p:txBody>
      </p:sp>
      <p:sp>
        <p:nvSpPr>
          <p:cNvPr id="51"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200" b="1" dirty="0">
                <a:solidFill>
                  <a:schemeClr val="tx1"/>
                </a:solidFill>
              </a:rPr>
              <a:t>Real-world applications</a:t>
            </a:r>
            <a:endParaRPr lang="en-US" sz="3200" dirty="0"/>
          </a:p>
        </p:txBody>
      </p:sp>
      <p:sp>
        <p:nvSpPr>
          <p:cNvPr id="3" name="Card 211"/>
          <p:cNvSpPr/>
          <p:nvPr/>
        </p:nvSpPr>
        <p:spPr>
          <a:xfrm>
            <a:off x="457200" y="1188720"/>
            <a:ext cx="2560320" cy="1600200"/>
          </a:xfrm>
          <a:prstGeom prst="roundRect">
            <a:avLst>
              <a:gd name="adj" fmla="val 5714"/>
            </a:avLst>
          </a:prstGeom>
          <a:solidFill>
            <a:schemeClr val="bg2"/>
          </a:solidFill>
          <a:ln/>
          <a:effectLst>
            <a:outerShdw blurRad="76200" dist="25400" dir="5400000" algn="bl" rotWithShape="0">
              <a:srgbClr val="000000">
                <a:alpha val="12000"/>
              </a:srgbClr>
            </a:outerShdw>
          </a:effectLst>
        </p:spPr>
      </p:sp>
      <p:sp>
        <p:nvSpPr>
          <p:cNvPr id="4" name="Icon circle 212"/>
          <p:cNvSpPr/>
          <p:nvPr/>
        </p:nvSpPr>
        <p:spPr>
          <a:xfrm>
            <a:off x="640080" y="1371600"/>
            <a:ext cx="502920" cy="502920"/>
          </a:xfrm>
          <a:prstGeom prst="ellipse">
            <a:avLst/>
          </a:prstGeom>
          <a:solidFill>
            <a:schemeClr val="accent2"/>
          </a:solidFill>
          <a:ln/>
        </p:spPr>
      </p:sp>
      <p:pic>
        <p:nvPicPr>
          <p:cNvPr id="5" name="Icon 213" descr="Language icon"/>
          <p:cNvPicPr>
            <a:picLocks noChangeAspect="1"/>
          </p:cNvPicPr>
          <p:nvPr/>
        </p:nvPicPr>
        <p:blipFill>
          <a:blip r:embed="rId3"/>
          <a:stretch>
            <a:fillRect/>
          </a:stretch>
        </p:blipFill>
        <p:spPr>
          <a:xfrm>
            <a:off x="750722" y="1482242"/>
            <a:ext cx="281635" cy="281635"/>
          </a:xfrm>
          <a:prstGeom prst="rect">
            <a:avLst/>
          </a:prstGeom>
        </p:spPr>
      </p:pic>
      <p:sp>
        <p:nvSpPr>
          <p:cNvPr id="6" name="Text 214"/>
          <p:cNvSpPr txBox="1"/>
          <p:nvPr/>
        </p:nvSpPr>
        <p:spPr>
          <a:xfrm>
            <a:off x="1280160" y="1325880"/>
            <a:ext cx="1645920" cy="594360"/>
          </a:xfrm>
          <a:prstGeom prst="rect">
            <a:avLst/>
          </a:prstGeom>
          <a:noFill/>
          <a:ln/>
        </p:spPr>
        <p:txBody>
          <a:bodyPr wrap="square" lIns="0" tIns="0" rIns="0" bIns="0" rtlCol="0" anchor="ctr"/>
          <a:lstStyle/>
          <a:p>
            <a:pPr marL="0" indent="0">
              <a:buNone/>
            </a:pPr>
            <a:r>
              <a:rPr lang="en-US" sz="1600" b="1" dirty="0">
                <a:solidFill>
                  <a:schemeClr val="tx1"/>
                </a:solidFill>
              </a:rPr>
              <a:t>Duolingo</a:t>
            </a:r>
            <a:endParaRPr lang="en-US" sz="1600" dirty="0"/>
          </a:p>
          <a:p>
            <a:pPr marL="0" indent="0">
              <a:buNone/>
            </a:pPr>
            <a:r>
              <a:rPr lang="en-US" sz="1200" dirty="0">
                <a:solidFill>
                  <a:schemeClr val="tx2"/>
                </a:solidFill>
              </a:rPr>
              <a:t>Education</a:t>
            </a:r>
            <a:endParaRPr lang="en-US" sz="1600" dirty="0"/>
          </a:p>
        </p:txBody>
      </p:sp>
      <p:sp>
        <p:nvSpPr>
          <p:cNvPr id="7" name="Text 215"/>
          <p:cNvSpPr txBox="1"/>
          <p:nvPr/>
        </p:nvSpPr>
        <p:spPr>
          <a:xfrm>
            <a:off x="640080" y="2011680"/>
            <a:ext cx="2194560" cy="685800"/>
          </a:xfrm>
          <a:prstGeom prst="rect">
            <a:avLst/>
          </a:prstGeom>
          <a:noFill/>
          <a:ln/>
        </p:spPr>
        <p:txBody>
          <a:bodyPr wrap="square" lIns="0" tIns="0" rIns="0" bIns="0" rtlCol="0" anchor="t"/>
          <a:lstStyle/>
          <a:p>
            <a:pPr marL="0" indent="0">
              <a:buNone/>
            </a:pPr>
            <a:r>
              <a:rPr lang="en-US" sz="1400" dirty="0">
                <a:solidFill>
                  <a:schemeClr val="tx1"/>
                </a:solidFill>
              </a:rPr>
              <a:t>Storage, Cloud Functions and messaging (reported)</a:t>
            </a:r>
            <a:endParaRPr lang="en-US" sz="1400" dirty="0"/>
          </a:p>
        </p:txBody>
      </p:sp>
      <p:sp>
        <p:nvSpPr>
          <p:cNvPr id="8" name="Card 216"/>
          <p:cNvSpPr/>
          <p:nvPr/>
        </p:nvSpPr>
        <p:spPr>
          <a:xfrm>
            <a:off x="3291840" y="1188720"/>
            <a:ext cx="2560320" cy="1600200"/>
          </a:xfrm>
          <a:prstGeom prst="roundRect">
            <a:avLst>
              <a:gd name="adj" fmla="val 5714"/>
            </a:avLst>
          </a:prstGeom>
          <a:solidFill>
            <a:schemeClr val="bg2"/>
          </a:solidFill>
          <a:ln/>
          <a:effectLst>
            <a:outerShdw blurRad="76200" dist="25400" dir="5400000" algn="bl" rotWithShape="0">
              <a:srgbClr val="000000">
                <a:alpha val="12000"/>
              </a:srgbClr>
            </a:outerShdw>
          </a:effectLst>
        </p:spPr>
      </p:sp>
      <p:sp>
        <p:nvSpPr>
          <p:cNvPr id="9" name="Icon circle 217"/>
          <p:cNvSpPr/>
          <p:nvPr/>
        </p:nvSpPr>
        <p:spPr>
          <a:xfrm>
            <a:off x="3474720" y="1371600"/>
            <a:ext cx="502920" cy="502920"/>
          </a:xfrm>
          <a:prstGeom prst="ellipse">
            <a:avLst/>
          </a:prstGeom>
          <a:solidFill>
            <a:schemeClr val="accent2"/>
          </a:solidFill>
          <a:ln/>
        </p:spPr>
      </p:sp>
      <p:pic>
        <p:nvPicPr>
          <p:cNvPr id="10" name="Icon 218" descr="Newspaper icon"/>
          <p:cNvPicPr>
            <a:picLocks noChangeAspect="1"/>
          </p:cNvPicPr>
          <p:nvPr/>
        </p:nvPicPr>
        <p:blipFill>
          <a:blip r:embed="rId4"/>
          <a:stretch>
            <a:fillRect/>
          </a:stretch>
        </p:blipFill>
        <p:spPr>
          <a:xfrm>
            <a:off x="3585362" y="1482242"/>
            <a:ext cx="281635" cy="281635"/>
          </a:xfrm>
          <a:prstGeom prst="rect">
            <a:avLst/>
          </a:prstGeom>
        </p:spPr>
      </p:pic>
      <p:sp>
        <p:nvSpPr>
          <p:cNvPr id="11" name="Text 219"/>
          <p:cNvSpPr txBox="1"/>
          <p:nvPr/>
        </p:nvSpPr>
        <p:spPr>
          <a:xfrm>
            <a:off x="4114800" y="1325880"/>
            <a:ext cx="1645920" cy="594360"/>
          </a:xfrm>
          <a:prstGeom prst="rect">
            <a:avLst/>
          </a:prstGeom>
          <a:noFill/>
          <a:ln/>
        </p:spPr>
        <p:txBody>
          <a:bodyPr wrap="square" lIns="0" tIns="0" rIns="0" bIns="0" rtlCol="0" anchor="ctr"/>
          <a:lstStyle/>
          <a:p>
            <a:pPr marL="0" indent="0">
              <a:buNone/>
            </a:pPr>
            <a:r>
              <a:rPr lang="en-US" sz="1600" b="1" dirty="0">
                <a:solidFill>
                  <a:schemeClr val="tx1"/>
                </a:solidFill>
              </a:rPr>
              <a:t>New York Times</a:t>
            </a:r>
            <a:endParaRPr lang="en-US" sz="1600" dirty="0"/>
          </a:p>
          <a:p>
            <a:pPr marL="0" indent="0">
              <a:buNone/>
            </a:pPr>
            <a:r>
              <a:rPr lang="en-US" sz="1200" dirty="0">
                <a:solidFill>
                  <a:schemeClr val="tx2"/>
                </a:solidFill>
              </a:rPr>
              <a:t>Media</a:t>
            </a:r>
            <a:endParaRPr lang="en-US" sz="1600" dirty="0"/>
          </a:p>
        </p:txBody>
      </p:sp>
      <p:sp>
        <p:nvSpPr>
          <p:cNvPr id="12" name="Text 220"/>
          <p:cNvSpPr txBox="1"/>
          <p:nvPr/>
        </p:nvSpPr>
        <p:spPr>
          <a:xfrm>
            <a:off x="3474720" y="2011680"/>
            <a:ext cx="2194560" cy="685800"/>
          </a:xfrm>
          <a:prstGeom prst="rect">
            <a:avLst/>
          </a:prstGeom>
          <a:noFill/>
          <a:ln/>
        </p:spPr>
        <p:txBody>
          <a:bodyPr wrap="square" lIns="0" tIns="0" rIns="0" bIns="0" rtlCol="0" anchor="t"/>
          <a:lstStyle/>
          <a:p>
            <a:pPr marL="0" indent="0">
              <a:buNone/>
            </a:pPr>
            <a:r>
              <a:rPr lang="en-US" sz="1400" dirty="0">
                <a:solidFill>
                  <a:schemeClr val="tx1"/>
                </a:solidFill>
              </a:rPr>
              <a:t>Cloud Firestore behind an editorial tool (reported)</a:t>
            </a:r>
            <a:endParaRPr lang="en-US" sz="1400" dirty="0"/>
          </a:p>
        </p:txBody>
      </p:sp>
      <p:sp>
        <p:nvSpPr>
          <p:cNvPr id="13" name="Card 221"/>
          <p:cNvSpPr/>
          <p:nvPr/>
        </p:nvSpPr>
        <p:spPr>
          <a:xfrm>
            <a:off x="6126480" y="1188720"/>
            <a:ext cx="2560320" cy="1600200"/>
          </a:xfrm>
          <a:prstGeom prst="roundRect">
            <a:avLst>
              <a:gd name="adj" fmla="val 5714"/>
            </a:avLst>
          </a:prstGeom>
          <a:solidFill>
            <a:schemeClr val="bg2"/>
          </a:solidFill>
          <a:ln/>
          <a:effectLst>
            <a:outerShdw blurRad="76200" dist="25400" dir="5400000" algn="bl" rotWithShape="0">
              <a:srgbClr val="000000">
                <a:alpha val="12000"/>
              </a:srgbClr>
            </a:outerShdw>
          </a:effectLst>
        </p:spPr>
      </p:sp>
      <p:sp>
        <p:nvSpPr>
          <p:cNvPr id="14" name="Icon circle 222"/>
          <p:cNvSpPr/>
          <p:nvPr/>
        </p:nvSpPr>
        <p:spPr>
          <a:xfrm>
            <a:off x="6309360" y="1371600"/>
            <a:ext cx="502920" cy="502920"/>
          </a:xfrm>
          <a:prstGeom prst="ellipse">
            <a:avLst/>
          </a:prstGeom>
          <a:solidFill>
            <a:schemeClr val="accent2"/>
          </a:solidFill>
          <a:ln/>
        </p:spPr>
      </p:sp>
      <p:pic>
        <p:nvPicPr>
          <p:cNvPr id="15" name="Icon 223" descr="Plane icon"/>
          <p:cNvPicPr>
            <a:picLocks noChangeAspect="1"/>
          </p:cNvPicPr>
          <p:nvPr/>
        </p:nvPicPr>
        <p:blipFill>
          <a:blip r:embed="rId5"/>
          <a:stretch>
            <a:fillRect/>
          </a:stretch>
        </p:blipFill>
        <p:spPr>
          <a:xfrm>
            <a:off x="6420002" y="1482242"/>
            <a:ext cx="281635" cy="281635"/>
          </a:xfrm>
          <a:prstGeom prst="rect">
            <a:avLst/>
          </a:prstGeom>
        </p:spPr>
      </p:pic>
      <p:sp>
        <p:nvSpPr>
          <p:cNvPr id="16" name="Text 224"/>
          <p:cNvSpPr txBox="1"/>
          <p:nvPr/>
        </p:nvSpPr>
        <p:spPr>
          <a:xfrm>
            <a:off x="6949440" y="1325880"/>
            <a:ext cx="1645920" cy="594360"/>
          </a:xfrm>
          <a:prstGeom prst="rect">
            <a:avLst/>
          </a:prstGeom>
          <a:noFill/>
          <a:ln/>
        </p:spPr>
        <p:txBody>
          <a:bodyPr wrap="square" lIns="0" tIns="0" rIns="0" bIns="0" rtlCol="0" anchor="ctr"/>
          <a:lstStyle/>
          <a:p>
            <a:pPr marL="0" indent="0">
              <a:buNone/>
            </a:pPr>
            <a:r>
              <a:rPr lang="en-US" sz="1600" b="1" dirty="0">
                <a:solidFill>
                  <a:schemeClr val="tx1"/>
                </a:solidFill>
              </a:rPr>
              <a:t>Trivago</a:t>
            </a:r>
            <a:endParaRPr lang="en-US" sz="1600" dirty="0"/>
          </a:p>
          <a:p>
            <a:pPr marL="0" indent="0">
              <a:buNone/>
            </a:pPr>
            <a:r>
              <a:rPr lang="en-US" sz="1200" dirty="0">
                <a:solidFill>
                  <a:schemeClr val="tx2"/>
                </a:solidFill>
              </a:rPr>
              <a:t>Travel</a:t>
            </a:r>
            <a:endParaRPr lang="en-US" sz="1600" dirty="0"/>
          </a:p>
        </p:txBody>
      </p:sp>
      <p:sp>
        <p:nvSpPr>
          <p:cNvPr id="17" name="Text 225"/>
          <p:cNvSpPr txBox="1"/>
          <p:nvPr/>
        </p:nvSpPr>
        <p:spPr>
          <a:xfrm>
            <a:off x="6309360" y="2011680"/>
            <a:ext cx="2194560" cy="685800"/>
          </a:xfrm>
          <a:prstGeom prst="rect">
            <a:avLst/>
          </a:prstGeom>
          <a:noFill/>
          <a:ln/>
        </p:spPr>
        <p:txBody>
          <a:bodyPr wrap="square" lIns="0" tIns="0" rIns="0" bIns="0" rtlCol="0" anchor="t"/>
          <a:lstStyle/>
          <a:p>
            <a:pPr marL="0" indent="0">
              <a:buNone/>
            </a:pPr>
            <a:r>
              <a:rPr lang="en-US" sz="1400" dirty="0">
                <a:solidFill>
                  <a:schemeClr val="tx1"/>
                </a:solidFill>
              </a:rPr>
              <a:t>Firebase analytics and backend services (reported)</a:t>
            </a:r>
            <a:endParaRPr lang="en-US" sz="1400" dirty="0"/>
          </a:p>
        </p:txBody>
      </p:sp>
      <p:sp>
        <p:nvSpPr>
          <p:cNvPr id="18" name="Card 226"/>
          <p:cNvSpPr/>
          <p:nvPr/>
        </p:nvSpPr>
        <p:spPr>
          <a:xfrm>
            <a:off x="457200" y="2971800"/>
            <a:ext cx="2560320" cy="1600200"/>
          </a:xfrm>
          <a:prstGeom prst="roundRect">
            <a:avLst>
              <a:gd name="adj" fmla="val 5714"/>
            </a:avLst>
          </a:prstGeom>
          <a:solidFill>
            <a:schemeClr val="bg2"/>
          </a:solidFill>
          <a:ln/>
          <a:effectLst>
            <a:outerShdw blurRad="76200" dist="25400" dir="5400000" algn="bl" rotWithShape="0">
              <a:srgbClr val="000000">
                <a:alpha val="12000"/>
              </a:srgbClr>
            </a:outerShdw>
          </a:effectLst>
        </p:spPr>
      </p:sp>
      <p:sp>
        <p:nvSpPr>
          <p:cNvPr id="19" name="Icon circle 227"/>
          <p:cNvSpPr/>
          <p:nvPr/>
        </p:nvSpPr>
        <p:spPr>
          <a:xfrm>
            <a:off x="640080" y="3154680"/>
            <a:ext cx="502920" cy="502920"/>
          </a:xfrm>
          <a:prstGeom prst="ellipse">
            <a:avLst/>
          </a:prstGeom>
          <a:solidFill>
            <a:schemeClr val="accent2"/>
          </a:solidFill>
          <a:ln/>
        </p:spPr>
      </p:sp>
      <p:pic>
        <p:nvPicPr>
          <p:cNvPr id="20" name="Icon 228" descr="ShoppingCart icon"/>
          <p:cNvPicPr>
            <a:picLocks noChangeAspect="1"/>
          </p:cNvPicPr>
          <p:nvPr/>
        </p:nvPicPr>
        <p:blipFill>
          <a:blip r:embed="rId6"/>
          <a:stretch>
            <a:fillRect/>
          </a:stretch>
        </p:blipFill>
        <p:spPr>
          <a:xfrm>
            <a:off x="750722" y="3265322"/>
            <a:ext cx="281635" cy="281635"/>
          </a:xfrm>
          <a:prstGeom prst="rect">
            <a:avLst/>
          </a:prstGeom>
        </p:spPr>
      </p:pic>
      <p:sp>
        <p:nvSpPr>
          <p:cNvPr id="21" name="Text 229"/>
          <p:cNvSpPr txBox="1"/>
          <p:nvPr/>
        </p:nvSpPr>
        <p:spPr>
          <a:xfrm>
            <a:off x="1280160" y="3108960"/>
            <a:ext cx="1645920" cy="594360"/>
          </a:xfrm>
          <a:prstGeom prst="rect">
            <a:avLst/>
          </a:prstGeom>
          <a:noFill/>
          <a:ln/>
        </p:spPr>
        <p:txBody>
          <a:bodyPr wrap="square" lIns="0" tIns="0" rIns="0" bIns="0" rtlCol="0" anchor="ctr"/>
          <a:lstStyle/>
          <a:p>
            <a:pPr marL="0" indent="0">
              <a:buNone/>
            </a:pPr>
            <a:r>
              <a:rPr lang="en-US" sz="1600" b="1" dirty="0">
                <a:solidFill>
                  <a:schemeClr val="tx1"/>
                </a:solidFill>
              </a:rPr>
              <a:t>Alibaba</a:t>
            </a:r>
            <a:endParaRPr lang="en-US" sz="1600" dirty="0"/>
          </a:p>
          <a:p>
            <a:pPr marL="0" indent="0">
              <a:buNone/>
            </a:pPr>
            <a:r>
              <a:rPr lang="en-US" sz="1200" dirty="0">
                <a:solidFill>
                  <a:schemeClr val="tx2"/>
                </a:solidFill>
              </a:rPr>
              <a:t>E-commerce</a:t>
            </a:r>
            <a:endParaRPr lang="en-US" sz="1600" dirty="0"/>
          </a:p>
        </p:txBody>
      </p:sp>
      <p:sp>
        <p:nvSpPr>
          <p:cNvPr id="22" name="Text 230"/>
          <p:cNvSpPr txBox="1"/>
          <p:nvPr/>
        </p:nvSpPr>
        <p:spPr>
          <a:xfrm>
            <a:off x="640080" y="3794760"/>
            <a:ext cx="2194560" cy="685800"/>
          </a:xfrm>
          <a:prstGeom prst="rect">
            <a:avLst/>
          </a:prstGeom>
          <a:noFill/>
          <a:ln/>
        </p:spPr>
        <p:txBody>
          <a:bodyPr wrap="square" lIns="0" tIns="0" rIns="0" bIns="0" rtlCol="0" anchor="t"/>
          <a:lstStyle/>
          <a:p>
            <a:pPr marL="0" indent="0">
              <a:buNone/>
            </a:pPr>
            <a:r>
              <a:rPr lang="en-US" sz="1400" dirty="0">
                <a:solidFill>
                  <a:schemeClr val="tx1"/>
                </a:solidFill>
              </a:rPr>
              <a:t>Named on Firebase's own app-makers list</a:t>
            </a:r>
            <a:endParaRPr lang="en-US" sz="1400" dirty="0"/>
          </a:p>
        </p:txBody>
      </p:sp>
      <p:sp>
        <p:nvSpPr>
          <p:cNvPr id="23" name="Card 231"/>
          <p:cNvSpPr/>
          <p:nvPr/>
        </p:nvSpPr>
        <p:spPr>
          <a:xfrm>
            <a:off x="3291840" y="2971800"/>
            <a:ext cx="2560320" cy="1600200"/>
          </a:xfrm>
          <a:prstGeom prst="roundRect">
            <a:avLst>
              <a:gd name="adj" fmla="val 5714"/>
            </a:avLst>
          </a:prstGeom>
          <a:solidFill>
            <a:schemeClr val="bg2"/>
          </a:solidFill>
          <a:ln/>
          <a:effectLst>
            <a:outerShdw blurRad="76200" dist="25400" dir="5400000" algn="bl" rotWithShape="0">
              <a:srgbClr val="000000">
                <a:alpha val="12000"/>
              </a:srgbClr>
            </a:outerShdw>
          </a:effectLst>
        </p:spPr>
      </p:sp>
      <p:sp>
        <p:nvSpPr>
          <p:cNvPr id="24" name="Icon circle 232"/>
          <p:cNvSpPr/>
          <p:nvPr/>
        </p:nvSpPr>
        <p:spPr>
          <a:xfrm>
            <a:off x="3474720" y="3154680"/>
            <a:ext cx="502920" cy="502920"/>
          </a:xfrm>
          <a:prstGeom prst="ellipse">
            <a:avLst/>
          </a:prstGeom>
          <a:solidFill>
            <a:schemeClr val="accent2"/>
          </a:solidFill>
          <a:ln/>
        </p:spPr>
      </p:sp>
      <p:pic>
        <p:nvPicPr>
          <p:cNvPr id="25" name="Icon 233" descr="Headphones icon"/>
          <p:cNvPicPr>
            <a:picLocks noChangeAspect="1"/>
          </p:cNvPicPr>
          <p:nvPr/>
        </p:nvPicPr>
        <p:blipFill>
          <a:blip r:embed="rId7"/>
          <a:stretch>
            <a:fillRect/>
          </a:stretch>
        </p:blipFill>
        <p:spPr>
          <a:xfrm>
            <a:off x="3585362" y="3265322"/>
            <a:ext cx="281635" cy="281635"/>
          </a:xfrm>
          <a:prstGeom prst="rect">
            <a:avLst/>
          </a:prstGeom>
        </p:spPr>
      </p:pic>
      <p:sp>
        <p:nvSpPr>
          <p:cNvPr id="26" name="Text 234"/>
          <p:cNvSpPr txBox="1"/>
          <p:nvPr/>
        </p:nvSpPr>
        <p:spPr>
          <a:xfrm>
            <a:off x="4114800" y="3108960"/>
            <a:ext cx="1645920" cy="594360"/>
          </a:xfrm>
          <a:prstGeom prst="rect">
            <a:avLst/>
          </a:prstGeom>
          <a:noFill/>
          <a:ln/>
        </p:spPr>
        <p:txBody>
          <a:bodyPr wrap="square" lIns="0" tIns="0" rIns="0" bIns="0" rtlCol="0" anchor="ctr"/>
          <a:lstStyle/>
          <a:p>
            <a:pPr marL="0" indent="0">
              <a:buNone/>
            </a:pPr>
            <a:r>
              <a:rPr lang="en-US" sz="1600" b="1" dirty="0">
                <a:solidFill>
                  <a:schemeClr val="tx1"/>
                </a:solidFill>
              </a:rPr>
              <a:t>NPR</a:t>
            </a:r>
            <a:endParaRPr lang="en-US" sz="1600" dirty="0"/>
          </a:p>
          <a:p>
            <a:pPr marL="0" indent="0">
              <a:buNone/>
            </a:pPr>
            <a:r>
              <a:rPr lang="en-US" sz="1200" dirty="0">
                <a:solidFill>
                  <a:schemeClr val="tx2"/>
                </a:solidFill>
              </a:rPr>
              <a:t>News and audio</a:t>
            </a:r>
            <a:endParaRPr lang="en-US" sz="1600" dirty="0"/>
          </a:p>
        </p:txBody>
      </p:sp>
      <p:sp>
        <p:nvSpPr>
          <p:cNvPr id="27" name="Text 235"/>
          <p:cNvSpPr txBox="1"/>
          <p:nvPr/>
        </p:nvSpPr>
        <p:spPr>
          <a:xfrm>
            <a:off x="3474720" y="3794760"/>
            <a:ext cx="2194560" cy="685800"/>
          </a:xfrm>
          <a:prstGeom prst="rect">
            <a:avLst/>
          </a:prstGeom>
          <a:noFill/>
          <a:ln/>
        </p:spPr>
        <p:txBody>
          <a:bodyPr wrap="square" lIns="0" tIns="0" rIns="0" bIns="0" rtlCol="0" anchor="t"/>
          <a:lstStyle/>
          <a:p>
            <a:pPr marL="0" indent="0">
              <a:buNone/>
            </a:pPr>
            <a:r>
              <a:rPr lang="en-US" sz="1400" dirty="0">
                <a:solidFill>
                  <a:schemeClr val="tx1"/>
                </a:solidFill>
              </a:rPr>
              <a:t>Named on Firebase's own app-makers list</a:t>
            </a:r>
            <a:endParaRPr lang="en-US" sz="1400" dirty="0"/>
          </a:p>
        </p:txBody>
      </p:sp>
      <p:sp>
        <p:nvSpPr>
          <p:cNvPr id="28" name="Card 236"/>
          <p:cNvSpPr/>
          <p:nvPr/>
        </p:nvSpPr>
        <p:spPr>
          <a:xfrm>
            <a:off x="6126480" y="2971800"/>
            <a:ext cx="2560320" cy="1600200"/>
          </a:xfrm>
          <a:prstGeom prst="roundRect">
            <a:avLst>
              <a:gd name="adj" fmla="val 5714"/>
            </a:avLst>
          </a:prstGeom>
          <a:solidFill>
            <a:schemeClr val="bg2"/>
          </a:solidFill>
          <a:ln/>
          <a:effectLst>
            <a:outerShdw blurRad="76200" dist="25400" dir="5400000" algn="bl" rotWithShape="0">
              <a:srgbClr val="000000">
                <a:alpha val="12000"/>
              </a:srgbClr>
            </a:outerShdw>
          </a:effectLst>
        </p:spPr>
      </p:sp>
      <p:sp>
        <p:nvSpPr>
          <p:cNvPr id="29" name="Icon circle 237"/>
          <p:cNvSpPr/>
          <p:nvPr/>
        </p:nvSpPr>
        <p:spPr>
          <a:xfrm>
            <a:off x="6309360" y="3154680"/>
            <a:ext cx="502920" cy="502920"/>
          </a:xfrm>
          <a:prstGeom prst="ellipse">
            <a:avLst/>
          </a:prstGeom>
          <a:solidFill>
            <a:schemeClr val="accent2"/>
          </a:solidFill>
          <a:ln/>
        </p:spPr>
      </p:sp>
      <p:pic>
        <p:nvPicPr>
          <p:cNvPr id="30" name="Icon 238" descr="MoneyBillWave icon"/>
          <p:cNvPicPr>
            <a:picLocks noChangeAspect="1"/>
          </p:cNvPicPr>
          <p:nvPr/>
        </p:nvPicPr>
        <p:blipFill>
          <a:blip r:embed="rId8"/>
          <a:stretch>
            <a:fillRect/>
          </a:stretch>
        </p:blipFill>
        <p:spPr>
          <a:xfrm>
            <a:off x="6420002" y="3265322"/>
            <a:ext cx="281635" cy="281635"/>
          </a:xfrm>
          <a:prstGeom prst="rect">
            <a:avLst/>
          </a:prstGeom>
        </p:spPr>
      </p:pic>
      <p:sp>
        <p:nvSpPr>
          <p:cNvPr id="31" name="Text 239"/>
          <p:cNvSpPr txBox="1"/>
          <p:nvPr/>
        </p:nvSpPr>
        <p:spPr>
          <a:xfrm>
            <a:off x="6949440" y="3108960"/>
            <a:ext cx="1645920" cy="594360"/>
          </a:xfrm>
          <a:prstGeom prst="rect">
            <a:avLst/>
          </a:prstGeom>
          <a:noFill/>
          <a:ln/>
        </p:spPr>
        <p:txBody>
          <a:bodyPr wrap="square" lIns="0" tIns="0" rIns="0" bIns="0" rtlCol="0" anchor="ctr"/>
          <a:lstStyle/>
          <a:p>
            <a:pPr marL="0" indent="0">
              <a:buNone/>
            </a:pPr>
            <a:r>
              <a:rPr lang="en-US" sz="1600" b="1" dirty="0">
                <a:solidFill>
                  <a:schemeClr val="tx1"/>
                </a:solidFill>
              </a:rPr>
              <a:t>Venmo</a:t>
            </a:r>
            <a:endParaRPr lang="en-US" sz="1600" dirty="0"/>
          </a:p>
          <a:p>
            <a:pPr marL="0" indent="0">
              <a:buNone/>
            </a:pPr>
            <a:r>
              <a:rPr lang="en-US" sz="1200" dirty="0">
                <a:solidFill>
                  <a:schemeClr val="tx2"/>
                </a:solidFill>
              </a:rPr>
              <a:t>Payments</a:t>
            </a:r>
            <a:endParaRPr lang="en-US" sz="1600" dirty="0"/>
          </a:p>
        </p:txBody>
      </p:sp>
      <p:sp>
        <p:nvSpPr>
          <p:cNvPr id="32" name="Text 240"/>
          <p:cNvSpPr txBox="1"/>
          <p:nvPr/>
        </p:nvSpPr>
        <p:spPr>
          <a:xfrm>
            <a:off x="6309360" y="3794760"/>
            <a:ext cx="2194560" cy="685800"/>
          </a:xfrm>
          <a:prstGeom prst="rect">
            <a:avLst/>
          </a:prstGeom>
          <a:noFill/>
          <a:ln/>
        </p:spPr>
        <p:txBody>
          <a:bodyPr wrap="square" lIns="0" tIns="0" rIns="0" bIns="0" rtlCol="0" anchor="t"/>
          <a:lstStyle/>
          <a:p>
            <a:pPr marL="0" indent="0">
              <a:buNone/>
            </a:pPr>
            <a:r>
              <a:rPr lang="en-US" sz="1400" dirty="0">
                <a:solidFill>
                  <a:schemeClr val="tx1"/>
                </a:solidFill>
              </a:rPr>
              <a:t>Named on Firebase's own app-makers list</a:t>
            </a:r>
            <a:endParaRPr lang="en-US" sz="1400" dirty="0"/>
          </a:p>
        </p:txBody>
      </p:sp>
      <p:sp>
        <p:nvSpPr>
          <p:cNvPr id="33"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200" b="1" dirty="0">
                <a:solidFill>
                  <a:schemeClr val="tx1"/>
                </a:solidFill>
              </a:rPr>
              <a:t>Benefits and challenges</a:t>
            </a:r>
            <a:endParaRPr lang="en-US" sz="3200" dirty="0"/>
          </a:p>
        </p:txBody>
      </p:sp>
      <p:sp>
        <p:nvSpPr>
          <p:cNvPr id="3" name="Card 241"/>
          <p:cNvSpPr/>
          <p:nvPr/>
        </p:nvSpPr>
        <p:spPr>
          <a:xfrm>
            <a:off x="457200" y="1188720"/>
            <a:ext cx="4023360" cy="3337560"/>
          </a:xfrm>
          <a:prstGeom prst="roundRect">
            <a:avLst>
              <a:gd name="adj" fmla="val 2740"/>
            </a:avLst>
          </a:prstGeom>
          <a:solidFill>
            <a:schemeClr val="bg2"/>
          </a:solidFill>
          <a:ln/>
          <a:effectLst>
            <a:outerShdw blurRad="76200" dist="25400" dir="5400000" algn="bl" rotWithShape="0">
              <a:srgbClr val="000000">
                <a:alpha val="12000"/>
              </a:srgbClr>
            </a:outerShdw>
          </a:effectLst>
        </p:spPr>
      </p:sp>
      <p:sp>
        <p:nvSpPr>
          <p:cNvPr id="4" name="Icon circle 242"/>
          <p:cNvSpPr/>
          <p:nvPr/>
        </p:nvSpPr>
        <p:spPr>
          <a:xfrm>
            <a:off x="685800" y="1371600"/>
            <a:ext cx="548640" cy="548640"/>
          </a:xfrm>
          <a:prstGeom prst="ellipse">
            <a:avLst/>
          </a:prstGeom>
          <a:solidFill>
            <a:schemeClr val="accent3"/>
          </a:solidFill>
          <a:ln/>
        </p:spPr>
      </p:sp>
      <p:pic>
        <p:nvPicPr>
          <p:cNvPr id="5" name="Icon 243" descr="CheckCircle icon"/>
          <p:cNvPicPr>
            <a:picLocks noChangeAspect="1"/>
          </p:cNvPicPr>
          <p:nvPr/>
        </p:nvPicPr>
        <p:blipFill>
          <a:blip r:embed="rId3"/>
          <a:stretch>
            <a:fillRect/>
          </a:stretch>
        </p:blipFill>
        <p:spPr>
          <a:xfrm>
            <a:off x="806501" y="1492301"/>
            <a:ext cx="307238" cy="307238"/>
          </a:xfrm>
          <a:prstGeom prst="rect">
            <a:avLst/>
          </a:prstGeom>
        </p:spPr>
      </p:pic>
      <p:sp>
        <p:nvSpPr>
          <p:cNvPr id="6" name="Text 244"/>
          <p:cNvSpPr txBox="1"/>
          <p:nvPr/>
        </p:nvSpPr>
        <p:spPr>
          <a:xfrm>
            <a:off x="1417320" y="1371600"/>
            <a:ext cx="2743200" cy="548640"/>
          </a:xfrm>
          <a:prstGeom prst="rect">
            <a:avLst/>
          </a:prstGeom>
          <a:noFill/>
          <a:ln/>
        </p:spPr>
        <p:txBody>
          <a:bodyPr wrap="square" lIns="0" tIns="0" rIns="0" bIns="0" rtlCol="0" anchor="ctr"/>
          <a:lstStyle/>
          <a:p>
            <a:pPr marL="0" indent="0">
              <a:buNone/>
            </a:pPr>
            <a:r>
              <a:rPr lang="en-US" sz="2000" b="1" dirty="0">
                <a:solidFill>
                  <a:schemeClr val="tx1"/>
                </a:solidFill>
              </a:rPr>
              <a:t>Benefits</a:t>
            </a:r>
            <a:endParaRPr lang="en-US" sz="2000" dirty="0"/>
          </a:p>
        </p:txBody>
      </p:sp>
      <p:sp>
        <p:nvSpPr>
          <p:cNvPr id="7" name="Text 245"/>
          <p:cNvSpPr txBox="1"/>
          <p:nvPr/>
        </p:nvSpPr>
        <p:spPr>
          <a:xfrm>
            <a:off x="731520" y="2103120"/>
            <a:ext cx="3474720" cy="23317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Fast development, no servers</a:t>
            </a:r>
            <a:endParaRPr lang="en-US" sz="1600" dirty="0"/>
          </a:p>
          <a:p>
            <a:pPr marL="342900" indent="-342900">
              <a:spcAft>
                <a:spcPts val="1000"/>
              </a:spcAft>
              <a:buSzPct val="100000"/>
              <a:buChar char="•"/>
            </a:pPr>
            <a:r>
              <a:rPr lang="en-US" sz="1600" dirty="0">
                <a:solidFill>
                  <a:schemeClr val="tx1"/>
                </a:solidFill>
              </a:rPr>
              <a:t>Realtime sync and offline mode</a:t>
            </a:r>
            <a:endParaRPr lang="en-US" sz="1600" dirty="0"/>
          </a:p>
          <a:p>
            <a:pPr marL="342900" indent="-342900">
              <a:spcAft>
                <a:spcPts val="1000"/>
              </a:spcAft>
              <a:buSzPct val="100000"/>
              <a:buChar char="•"/>
            </a:pPr>
            <a:r>
              <a:rPr lang="en-US" sz="1600" dirty="0">
                <a:solidFill>
                  <a:schemeClr val="tx1"/>
                </a:solidFill>
              </a:rPr>
              <a:t>Free Spark plan to start</a:t>
            </a:r>
            <a:endParaRPr lang="en-US" sz="1600" dirty="0"/>
          </a:p>
          <a:p>
            <a:pPr marL="342900" indent="-342900">
              <a:spcAft>
                <a:spcPts val="1000"/>
              </a:spcAft>
              <a:buSzPct val="100000"/>
              <a:buChar char="•"/>
            </a:pPr>
            <a:r>
              <a:rPr lang="en-US" sz="1600" dirty="0">
                <a:solidFill>
                  <a:schemeClr val="tx1"/>
                </a:solidFill>
              </a:rPr>
              <a:t>Android, iOS, Flutter and web</a:t>
            </a:r>
            <a:endParaRPr lang="en-US" sz="1600" dirty="0"/>
          </a:p>
          <a:p>
            <a:pPr marL="342900" indent="-342900">
              <a:spcAft>
                <a:spcPts val="1000"/>
              </a:spcAft>
              <a:buSzPct val="100000"/>
              <a:buChar char="•"/>
            </a:pPr>
            <a:r>
              <a:rPr lang="en-US" sz="1600" dirty="0">
                <a:solidFill>
                  <a:schemeClr val="tx1"/>
                </a:solidFill>
              </a:rPr>
              <a:t>Google Cloud integration</a:t>
            </a:r>
            <a:endParaRPr lang="en-US" sz="1600" dirty="0"/>
          </a:p>
        </p:txBody>
      </p:sp>
      <p:sp>
        <p:nvSpPr>
          <p:cNvPr id="8" name="Card 246"/>
          <p:cNvSpPr/>
          <p:nvPr/>
        </p:nvSpPr>
        <p:spPr>
          <a:xfrm>
            <a:off x="4663440" y="1188720"/>
            <a:ext cx="4023360" cy="3337560"/>
          </a:xfrm>
          <a:prstGeom prst="roundRect">
            <a:avLst>
              <a:gd name="adj" fmla="val 2740"/>
            </a:avLst>
          </a:prstGeom>
          <a:solidFill>
            <a:schemeClr val="bg2"/>
          </a:solidFill>
          <a:ln/>
          <a:effectLst>
            <a:outerShdw blurRad="76200" dist="25400" dir="5400000" algn="bl" rotWithShape="0">
              <a:srgbClr val="000000">
                <a:alpha val="12000"/>
              </a:srgbClr>
            </a:outerShdw>
          </a:effectLst>
        </p:spPr>
      </p:sp>
      <p:sp>
        <p:nvSpPr>
          <p:cNvPr id="9" name="Icon circle 247"/>
          <p:cNvSpPr/>
          <p:nvPr/>
        </p:nvSpPr>
        <p:spPr>
          <a:xfrm>
            <a:off x="4892040" y="1371600"/>
            <a:ext cx="548640" cy="548640"/>
          </a:xfrm>
          <a:prstGeom prst="ellipse">
            <a:avLst/>
          </a:prstGeom>
          <a:solidFill>
            <a:schemeClr val="accent1"/>
          </a:solidFill>
          <a:ln/>
        </p:spPr>
      </p:sp>
      <p:pic>
        <p:nvPicPr>
          <p:cNvPr id="10" name="Icon 248" descr="ExclamationTriangle icon"/>
          <p:cNvPicPr>
            <a:picLocks noChangeAspect="1"/>
          </p:cNvPicPr>
          <p:nvPr/>
        </p:nvPicPr>
        <p:blipFill>
          <a:blip r:embed="rId4"/>
          <a:stretch>
            <a:fillRect/>
          </a:stretch>
        </p:blipFill>
        <p:spPr>
          <a:xfrm>
            <a:off x="5012741" y="1492301"/>
            <a:ext cx="307238" cy="307238"/>
          </a:xfrm>
          <a:prstGeom prst="rect">
            <a:avLst/>
          </a:prstGeom>
        </p:spPr>
      </p:pic>
      <p:sp>
        <p:nvSpPr>
          <p:cNvPr id="11" name="Text 249"/>
          <p:cNvSpPr txBox="1"/>
          <p:nvPr/>
        </p:nvSpPr>
        <p:spPr>
          <a:xfrm>
            <a:off x="5623560" y="1371600"/>
            <a:ext cx="2743200" cy="548640"/>
          </a:xfrm>
          <a:prstGeom prst="rect">
            <a:avLst/>
          </a:prstGeom>
          <a:noFill/>
          <a:ln/>
        </p:spPr>
        <p:txBody>
          <a:bodyPr wrap="square" lIns="0" tIns="0" rIns="0" bIns="0" rtlCol="0" anchor="ctr"/>
          <a:lstStyle/>
          <a:p>
            <a:pPr marL="0" indent="0">
              <a:buNone/>
            </a:pPr>
            <a:r>
              <a:rPr lang="en-US" sz="2000" b="1" dirty="0">
                <a:solidFill>
                  <a:schemeClr val="tx1"/>
                </a:solidFill>
              </a:rPr>
              <a:t>Challenges</a:t>
            </a:r>
            <a:endParaRPr lang="en-US" sz="2000" dirty="0"/>
          </a:p>
        </p:txBody>
      </p:sp>
      <p:sp>
        <p:nvSpPr>
          <p:cNvPr id="12" name="Text 250"/>
          <p:cNvSpPr txBox="1"/>
          <p:nvPr/>
        </p:nvSpPr>
        <p:spPr>
          <a:xfrm>
            <a:off x="4937760" y="2103120"/>
            <a:ext cx="3474720" cy="23317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Vendor lock-in to Google's platform</a:t>
            </a:r>
            <a:endParaRPr lang="en-US" sz="1600" dirty="0"/>
          </a:p>
          <a:p>
            <a:pPr marL="342900" indent="-342900">
              <a:spcAft>
                <a:spcPts val="1000"/>
              </a:spcAft>
              <a:buSzPct val="100000"/>
              <a:buChar char="•"/>
            </a:pPr>
            <a:r>
              <a:rPr lang="en-US" sz="1600" dirty="0">
                <a:solidFill>
                  <a:schemeClr val="tx1"/>
                </a:solidFill>
              </a:rPr>
              <a:t>Costs can grow with heavy reads</a:t>
            </a:r>
            <a:endParaRPr lang="en-US" sz="1600" dirty="0"/>
          </a:p>
          <a:p>
            <a:pPr marL="342900" indent="-342900">
              <a:spcAft>
                <a:spcPts val="1000"/>
              </a:spcAft>
              <a:buSzPct val="100000"/>
              <a:buChar char="•"/>
            </a:pPr>
            <a:r>
              <a:rPr lang="en-US" sz="1600" dirty="0">
                <a:solidFill>
                  <a:schemeClr val="tx1"/>
                </a:solidFill>
              </a:rPr>
              <a:t>Free Spark plan has hard limits</a:t>
            </a:r>
            <a:endParaRPr lang="en-US" sz="1600" dirty="0"/>
          </a:p>
          <a:p>
            <a:pPr marL="342900" indent="-342900">
              <a:spcAft>
                <a:spcPts val="1000"/>
              </a:spcAft>
              <a:buSzPct val="100000"/>
              <a:buChar char="•"/>
            </a:pPr>
            <a:r>
              <a:rPr lang="en-US" sz="1600" dirty="0">
                <a:solidFill>
                  <a:schemeClr val="tx1"/>
                </a:solidFill>
              </a:rPr>
              <a:t>NoSQL data: no joins, limited queries</a:t>
            </a:r>
            <a:endParaRPr lang="en-US" sz="1600" dirty="0"/>
          </a:p>
          <a:p>
            <a:pPr marL="342900" indent="-342900">
              <a:spcAft>
                <a:spcPts val="1000"/>
              </a:spcAft>
              <a:buSzPct val="100000"/>
              <a:buChar char="•"/>
            </a:pPr>
            <a:r>
              <a:rPr lang="en-US" sz="1600" dirty="0">
                <a:solidFill>
                  <a:schemeClr val="tx1"/>
                </a:solidFill>
              </a:rPr>
              <a:t>Less control than a custom backend</a:t>
            </a:r>
            <a:endParaRPr lang="en-US" sz="16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200" b="1" dirty="0">
                <a:solidFill>
                  <a:schemeClr val="tx1"/>
                </a:solidFill>
              </a:rPr>
              <a:t>Demo: Auth and Firestore code</a:t>
            </a:r>
            <a:endParaRPr lang="en-US" sz="3200" dirty="0"/>
          </a:p>
        </p:txBody>
      </p:sp>
      <p:sp>
        <p:nvSpPr>
          <p:cNvPr id="3" name="Code panel 251"/>
          <p:cNvSpPr/>
          <p:nvPr/>
        </p:nvSpPr>
        <p:spPr>
          <a:xfrm>
            <a:off x="457200" y="1188720"/>
            <a:ext cx="4754880" cy="3108960"/>
          </a:xfrm>
          <a:prstGeom prst="roundRect">
            <a:avLst>
              <a:gd name="adj" fmla="val 2353"/>
            </a:avLst>
          </a:prstGeom>
          <a:solidFill>
            <a:schemeClr val="tx1"/>
          </a:solidFill>
          <a:ln/>
        </p:spPr>
      </p:sp>
      <p:sp>
        <p:nvSpPr>
          <p:cNvPr id="4" name="Text 252"/>
          <p:cNvSpPr txBox="1"/>
          <p:nvPr/>
        </p:nvSpPr>
        <p:spPr>
          <a:xfrm>
            <a:off x="640080" y="1280160"/>
            <a:ext cx="4389120" cy="228600"/>
          </a:xfrm>
          <a:prstGeom prst="rect">
            <a:avLst/>
          </a:prstGeom>
          <a:noFill/>
          <a:ln/>
        </p:spPr>
        <p:txBody>
          <a:bodyPr wrap="square" lIns="0" tIns="0" rIns="0" bIns="0" rtlCol="0" anchor="ctr"/>
          <a:lstStyle/>
          <a:p>
            <a:pPr marL="0" indent="0">
              <a:buNone/>
            </a:pPr>
            <a:r>
              <a:rPr lang="en-US" sz="1200" b="1" dirty="0">
                <a:solidFill>
                  <a:schemeClr val="accent2"/>
                </a:solidFill>
              </a:rPr>
              <a:t>Flutter (Dart)</a:t>
            </a:r>
            <a:endParaRPr lang="en-US" sz="1200" dirty="0"/>
          </a:p>
        </p:txBody>
      </p:sp>
      <p:sp>
        <p:nvSpPr>
          <p:cNvPr id="5" name="Text 253"/>
          <p:cNvSpPr txBox="1"/>
          <p:nvPr/>
        </p:nvSpPr>
        <p:spPr>
          <a:xfrm>
            <a:off x="640080" y="1600200"/>
            <a:ext cx="4389120" cy="2606040"/>
          </a:xfrm>
          <a:prstGeom prst="rect">
            <a:avLst/>
          </a:prstGeom>
          <a:noFill/>
          <a:ln/>
        </p:spPr>
        <p:txBody>
          <a:bodyPr wrap="square" lIns="0" tIns="0" rIns="0" bIns="0" rtlCol="0" anchor="t"/>
          <a:lstStyle/>
          <a:p>
            <a:pPr marL="0" indent="0">
              <a:buNone/>
            </a:pPr>
            <a:r>
              <a:rPr lang="en-US" sz="1200" dirty="0">
                <a:solidFill>
                  <a:schemeClr val="accent6"/>
                </a:solidFill>
                <a:latin typeface="Courier New" pitchFamily="34" charset="0"/>
                <a:ea typeface="Courier New" pitchFamily="34" charset="-122"/>
                <a:cs typeface="Courier New" pitchFamily="34" charset="-120"/>
              </a:rPr>
              <a:t>// 1. Sign in</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final user = (await FirebaseAuth.instance</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.signInWithEmailAndPassword(</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email: email, password: pass)).user!;</a:t>
            </a:r>
            <a:endParaRPr lang="en-US" sz="1200" dirty="0"/>
          </a:p>
          <a:p>
            <a:pPr marL="0" indent="0">
              <a:buNone/>
            </a:pPr>
            <a:r>
              <a:rPr lang="en-US" sz="1200" dirty="0">
                <a:solidFill>
                  <a:schemeClr val="accent6"/>
                </a:solidFill>
                <a:latin typeface="Courier New" pitchFamily="34" charset="0"/>
                <a:ea typeface="Courier New" pitchFamily="34" charset="-122"/>
                <a:cs typeface="Courier New" pitchFamily="34" charset="-120"/>
              </a:rPr>
              <a:t>// 2. Add a task document</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await FirebaseFirestore.instance</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.collection('tasks')</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.add({'title': 'Seminar',</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'uid': user.uid});</a:t>
            </a:r>
            <a:endParaRPr lang="en-US" sz="1200" dirty="0"/>
          </a:p>
          <a:p>
            <a:pPr marL="0" indent="0">
              <a:buNone/>
            </a:pPr>
            <a:r>
              <a:rPr lang="en-US" sz="1200" dirty="0">
                <a:solidFill>
                  <a:schemeClr val="accent6"/>
                </a:solidFill>
                <a:latin typeface="Courier New" pitchFamily="34" charset="0"/>
                <a:ea typeface="Courier New" pitchFamily="34" charset="-122"/>
                <a:cs typeface="Courier New" pitchFamily="34" charset="-120"/>
              </a:rPr>
              <a:t>// 3. Listen in real time</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FirebaseFirestore.instance</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.collection('tasks')</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.snapshots()</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.listen((s) =&gt; print(s.docs.length));</a:t>
            </a:r>
            <a:endParaRPr lang="en-US" sz="1200" dirty="0"/>
          </a:p>
        </p:txBody>
      </p:sp>
      <p:sp>
        <p:nvSpPr>
          <p:cNvPr id="6" name="Rules panel 254"/>
          <p:cNvSpPr/>
          <p:nvPr/>
        </p:nvSpPr>
        <p:spPr>
          <a:xfrm>
            <a:off x="5486400" y="1188720"/>
            <a:ext cx="3200400" cy="2194560"/>
          </a:xfrm>
          <a:prstGeom prst="roundRect">
            <a:avLst>
              <a:gd name="adj" fmla="val 3333"/>
            </a:avLst>
          </a:prstGeom>
          <a:solidFill>
            <a:schemeClr val="tx1"/>
          </a:solidFill>
          <a:ln/>
        </p:spPr>
      </p:sp>
      <p:sp>
        <p:nvSpPr>
          <p:cNvPr id="7" name="Text 255"/>
          <p:cNvSpPr txBox="1"/>
          <p:nvPr/>
        </p:nvSpPr>
        <p:spPr>
          <a:xfrm>
            <a:off x="5669280" y="1280160"/>
            <a:ext cx="2834640" cy="228600"/>
          </a:xfrm>
          <a:prstGeom prst="rect">
            <a:avLst/>
          </a:prstGeom>
          <a:noFill/>
          <a:ln/>
        </p:spPr>
        <p:txBody>
          <a:bodyPr wrap="square" lIns="0" tIns="0" rIns="0" bIns="0" rtlCol="0" anchor="ctr"/>
          <a:lstStyle/>
          <a:p>
            <a:pPr marL="0" indent="0">
              <a:buNone/>
            </a:pPr>
            <a:r>
              <a:rPr lang="en-US" sz="1200" b="1" dirty="0">
                <a:solidFill>
                  <a:schemeClr val="accent2"/>
                </a:solidFill>
              </a:rPr>
              <a:t>Firestore Security Rules</a:t>
            </a:r>
            <a:endParaRPr lang="en-US" sz="1200" dirty="0"/>
          </a:p>
        </p:txBody>
      </p:sp>
      <p:sp>
        <p:nvSpPr>
          <p:cNvPr id="8" name="Text 256"/>
          <p:cNvSpPr txBox="1"/>
          <p:nvPr/>
        </p:nvSpPr>
        <p:spPr>
          <a:xfrm>
            <a:off x="5669280" y="1600200"/>
            <a:ext cx="2834640" cy="1691640"/>
          </a:xfrm>
          <a:prstGeom prst="rect">
            <a:avLst/>
          </a:prstGeom>
          <a:noFill/>
          <a:ln/>
        </p:spPr>
        <p:txBody>
          <a:bodyPr wrap="square" lIns="0" tIns="0" rIns="0" bIns="0" rtlCol="0" anchor="t"/>
          <a:lstStyle/>
          <a:p>
            <a:pPr marL="0" indent="0">
              <a:buNone/>
            </a:pPr>
            <a:r>
              <a:rPr lang="en-US" sz="1200" dirty="0">
                <a:solidFill>
                  <a:schemeClr val="bg2"/>
                </a:solidFill>
                <a:latin typeface="Courier New" pitchFamily="34" charset="0"/>
                <a:ea typeface="Courier New" pitchFamily="34" charset="-122"/>
                <a:cs typeface="Courier New" pitchFamily="34" charset="-120"/>
              </a:rPr>
              <a:t>match /tasks/{id} {</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allow create: if</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request.auth.uid ==</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request.resource.data.uid;</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allow read, delete: if</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request.auth.uid ==</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resource.data.uid;</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p:txBody>
      </p:sp>
      <p:sp>
        <p:nvSpPr>
          <p:cNvPr id="9" name="Callout 257"/>
          <p:cNvSpPr/>
          <p:nvPr/>
        </p:nvSpPr>
        <p:spPr>
          <a:xfrm>
            <a:off x="5486400" y="3520440"/>
            <a:ext cx="3200400" cy="777240"/>
          </a:xfrm>
          <a:prstGeom prst="roundRect">
            <a:avLst>
              <a:gd name="adj" fmla="val 9412"/>
            </a:avLst>
          </a:prstGeom>
          <a:solidFill>
            <a:schemeClr val="accent2"/>
          </a:solidFill>
          <a:ln/>
        </p:spPr>
      </p:sp>
      <p:sp>
        <p:nvSpPr>
          <p:cNvPr id="10" name="Text 258"/>
          <p:cNvSpPr txBox="1"/>
          <p:nvPr/>
        </p:nvSpPr>
        <p:spPr>
          <a:xfrm>
            <a:off x="5623560" y="3520440"/>
            <a:ext cx="2926080" cy="777240"/>
          </a:xfrm>
          <a:prstGeom prst="rect">
            <a:avLst/>
          </a:prstGeom>
          <a:noFill/>
          <a:ln/>
        </p:spPr>
        <p:txBody>
          <a:bodyPr wrap="square" lIns="0" tIns="0" rIns="0" bIns="0" rtlCol="0" anchor="ctr"/>
          <a:lstStyle/>
          <a:p>
            <a:pPr marL="0" indent="0">
              <a:buNone/>
            </a:pPr>
            <a:r>
              <a:rPr lang="en-US" sz="1400" b="1" dirty="0">
                <a:solidFill>
                  <a:schemeClr val="tx1"/>
                </a:solidFill>
              </a:rPr>
              <a:t>Rules run on Google's servers, so users cannot bypass them.</a:t>
            </a:r>
            <a:endParaRPr lang="en-US" sz="1400" dirty="0"/>
          </a:p>
        </p:txBody>
      </p:sp>
      <p:sp>
        <p:nvSpPr>
          <p:cNvPr id="11" name="Text 259"/>
          <p:cNvSpPr txBox="1"/>
          <p:nvPr/>
        </p:nvSpPr>
        <p:spPr>
          <a:xfrm>
            <a:off x="457200" y="4434840"/>
            <a:ext cx="8229600" cy="228600"/>
          </a:xfrm>
          <a:prstGeom prst="rect">
            <a:avLst/>
          </a:prstGeom>
          <a:noFill/>
          <a:ln/>
        </p:spPr>
        <p:txBody>
          <a:bodyPr wrap="square" lIns="0" tIns="0" rIns="0" bIns="0" rtlCol="0" anchor="ctr"/>
          <a:lstStyle/>
          <a:p>
            <a:pPr marL="0" indent="0">
              <a:buNone/>
            </a:pPr>
            <a:r>
              <a:rPr lang="en-US" sz="1100" i="1" dirty="0">
                <a:solidFill>
                  <a:schemeClr val="tx2"/>
                </a:solidFill>
              </a:rPr>
              <a:t>Simplified from the FlutterFire docs (firebase.flutter.dev). Check the docs for the current API.</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200" b="1" dirty="0">
                <a:solidFill>
                  <a:schemeClr val="tx1"/>
                </a:solidFill>
              </a:rPr>
              <a:t>Demo: build and run a task app</a:t>
            </a:r>
            <a:endParaRPr lang="en-US" sz="3200" dirty="0"/>
          </a:p>
        </p:txBody>
      </p:sp>
      <p:sp>
        <p:nvSpPr>
          <p:cNvPr id="3" name="Number badge 260"/>
          <p:cNvSpPr/>
          <p:nvPr/>
        </p:nvSpPr>
        <p:spPr>
          <a:xfrm>
            <a:off x="457200" y="1280160"/>
            <a:ext cx="365760" cy="365760"/>
          </a:xfrm>
          <a:prstGeom prst="ellipse">
            <a:avLst/>
          </a:prstGeom>
          <a:solidFill>
            <a:schemeClr val="accent2"/>
          </a:solidFill>
          <a:ln/>
        </p:spPr>
      </p:sp>
      <p:sp>
        <p:nvSpPr>
          <p:cNvPr id="4" name="Text 261"/>
          <p:cNvSpPr txBox="1"/>
          <p:nvPr/>
        </p:nvSpPr>
        <p:spPr>
          <a:xfrm>
            <a:off x="457200" y="1280160"/>
            <a:ext cx="365760" cy="365760"/>
          </a:xfrm>
          <a:prstGeom prst="rect">
            <a:avLst/>
          </a:prstGeom>
          <a:noFill/>
          <a:ln/>
        </p:spPr>
        <p:txBody>
          <a:bodyPr wrap="square" lIns="0" tIns="0" rIns="0" bIns="0" rtlCol="0" anchor="ctr"/>
          <a:lstStyle/>
          <a:p>
            <a:pPr marL="0" indent="0" algn="ctr">
              <a:buNone/>
            </a:pPr>
            <a:r>
              <a:rPr lang="en-US" sz="1400" b="1" dirty="0">
                <a:solidFill>
                  <a:schemeClr val="tx1"/>
                </a:solidFill>
              </a:rPr>
              <a:t>1</a:t>
            </a:r>
            <a:endParaRPr lang="en-US" sz="1400" dirty="0"/>
          </a:p>
        </p:txBody>
      </p:sp>
      <p:sp>
        <p:nvSpPr>
          <p:cNvPr id="5" name="Text 262"/>
          <p:cNvSpPr txBox="1"/>
          <p:nvPr/>
        </p:nvSpPr>
        <p:spPr>
          <a:xfrm>
            <a:off x="1005840" y="1188720"/>
            <a:ext cx="3931920" cy="548640"/>
          </a:xfrm>
          <a:prstGeom prst="rect">
            <a:avLst/>
          </a:prstGeom>
          <a:noFill/>
          <a:ln/>
        </p:spPr>
        <p:txBody>
          <a:bodyPr wrap="square" lIns="0" tIns="0" rIns="0" bIns="0" rtlCol="0" anchor="ctr"/>
          <a:lstStyle/>
          <a:p>
            <a:pPr marL="0" indent="0">
              <a:buNone/>
            </a:pPr>
            <a:r>
              <a:rPr lang="en-US" sz="1400" dirty="0">
                <a:solidFill>
                  <a:schemeClr val="tx1"/>
                </a:solidFill>
              </a:rPr>
              <a:t>Create a project in the Firebase console</a:t>
            </a:r>
            <a:endParaRPr lang="en-US" sz="1400" dirty="0"/>
          </a:p>
        </p:txBody>
      </p:sp>
      <p:sp>
        <p:nvSpPr>
          <p:cNvPr id="6" name="Number badge 263"/>
          <p:cNvSpPr/>
          <p:nvPr/>
        </p:nvSpPr>
        <p:spPr>
          <a:xfrm>
            <a:off x="457200" y="1938528"/>
            <a:ext cx="365760" cy="365760"/>
          </a:xfrm>
          <a:prstGeom prst="ellipse">
            <a:avLst/>
          </a:prstGeom>
          <a:solidFill>
            <a:schemeClr val="accent2"/>
          </a:solidFill>
          <a:ln/>
        </p:spPr>
      </p:sp>
      <p:sp>
        <p:nvSpPr>
          <p:cNvPr id="7" name="Text 264"/>
          <p:cNvSpPr txBox="1"/>
          <p:nvPr/>
        </p:nvSpPr>
        <p:spPr>
          <a:xfrm>
            <a:off x="457200" y="1938528"/>
            <a:ext cx="365760" cy="365760"/>
          </a:xfrm>
          <a:prstGeom prst="rect">
            <a:avLst/>
          </a:prstGeom>
          <a:noFill/>
          <a:ln/>
        </p:spPr>
        <p:txBody>
          <a:bodyPr wrap="square" lIns="0" tIns="0" rIns="0" bIns="0" rtlCol="0" anchor="ctr"/>
          <a:lstStyle/>
          <a:p>
            <a:pPr marL="0" indent="0" algn="ctr">
              <a:buNone/>
            </a:pPr>
            <a:r>
              <a:rPr lang="en-US" sz="1400" b="1" dirty="0">
                <a:solidFill>
                  <a:schemeClr val="tx1"/>
                </a:solidFill>
              </a:rPr>
              <a:t>2</a:t>
            </a:r>
            <a:endParaRPr lang="en-US" sz="1400" dirty="0"/>
          </a:p>
        </p:txBody>
      </p:sp>
      <p:sp>
        <p:nvSpPr>
          <p:cNvPr id="8" name="Text 265"/>
          <p:cNvSpPr txBox="1"/>
          <p:nvPr/>
        </p:nvSpPr>
        <p:spPr>
          <a:xfrm>
            <a:off x="1005840" y="1847088"/>
            <a:ext cx="3931920" cy="548640"/>
          </a:xfrm>
          <a:prstGeom prst="rect">
            <a:avLst/>
          </a:prstGeom>
          <a:noFill/>
          <a:ln/>
        </p:spPr>
        <p:txBody>
          <a:bodyPr wrap="square" lIns="0" tIns="0" rIns="0" bIns="0" rtlCol="0" anchor="ctr"/>
          <a:lstStyle/>
          <a:p>
            <a:pPr marL="0" indent="0">
              <a:buNone/>
            </a:pPr>
            <a:r>
              <a:rPr lang="en-US" sz="1400" dirty="0">
                <a:solidFill>
                  <a:schemeClr val="tx1"/>
                </a:solidFill>
              </a:rPr>
              <a:t>Register the Android or iOS app</a:t>
            </a:r>
            <a:endParaRPr lang="en-US" sz="1400" dirty="0"/>
          </a:p>
        </p:txBody>
      </p:sp>
      <p:sp>
        <p:nvSpPr>
          <p:cNvPr id="9" name="Number badge 266"/>
          <p:cNvSpPr/>
          <p:nvPr/>
        </p:nvSpPr>
        <p:spPr>
          <a:xfrm>
            <a:off x="457200" y="2596896"/>
            <a:ext cx="365760" cy="365760"/>
          </a:xfrm>
          <a:prstGeom prst="ellipse">
            <a:avLst/>
          </a:prstGeom>
          <a:solidFill>
            <a:schemeClr val="accent2"/>
          </a:solidFill>
          <a:ln/>
        </p:spPr>
      </p:sp>
      <p:sp>
        <p:nvSpPr>
          <p:cNvPr id="10" name="Text 267"/>
          <p:cNvSpPr txBox="1"/>
          <p:nvPr/>
        </p:nvSpPr>
        <p:spPr>
          <a:xfrm>
            <a:off x="457200" y="2596896"/>
            <a:ext cx="365760" cy="365760"/>
          </a:xfrm>
          <a:prstGeom prst="rect">
            <a:avLst/>
          </a:prstGeom>
          <a:noFill/>
          <a:ln/>
        </p:spPr>
        <p:txBody>
          <a:bodyPr wrap="square" lIns="0" tIns="0" rIns="0" bIns="0" rtlCol="0" anchor="ctr"/>
          <a:lstStyle/>
          <a:p>
            <a:pPr marL="0" indent="0" algn="ctr">
              <a:buNone/>
            </a:pPr>
            <a:r>
              <a:rPr lang="en-US" sz="1400" b="1" dirty="0">
                <a:solidFill>
                  <a:schemeClr val="tx1"/>
                </a:solidFill>
              </a:rPr>
              <a:t>3</a:t>
            </a:r>
            <a:endParaRPr lang="en-US" sz="1400" dirty="0"/>
          </a:p>
        </p:txBody>
      </p:sp>
      <p:sp>
        <p:nvSpPr>
          <p:cNvPr id="11" name="Text 268"/>
          <p:cNvSpPr txBox="1"/>
          <p:nvPr/>
        </p:nvSpPr>
        <p:spPr>
          <a:xfrm>
            <a:off x="1005840" y="2505456"/>
            <a:ext cx="3931920" cy="548640"/>
          </a:xfrm>
          <a:prstGeom prst="rect">
            <a:avLst/>
          </a:prstGeom>
          <a:noFill/>
          <a:ln/>
        </p:spPr>
        <p:txBody>
          <a:bodyPr wrap="square" lIns="0" tIns="0" rIns="0" bIns="0" rtlCol="0" anchor="ctr"/>
          <a:lstStyle/>
          <a:p>
            <a:pPr marL="0" indent="0">
              <a:buNone/>
            </a:pPr>
            <a:r>
              <a:rPr lang="en-US" sz="1400" dirty="0">
                <a:solidFill>
                  <a:schemeClr val="tx1"/>
                </a:solidFill>
              </a:rPr>
              <a:t>Run flutterfire configure to link the app</a:t>
            </a:r>
            <a:endParaRPr lang="en-US" sz="1400" dirty="0"/>
          </a:p>
        </p:txBody>
      </p:sp>
      <p:sp>
        <p:nvSpPr>
          <p:cNvPr id="12" name="Number badge 269"/>
          <p:cNvSpPr/>
          <p:nvPr/>
        </p:nvSpPr>
        <p:spPr>
          <a:xfrm>
            <a:off x="457200" y="3255264"/>
            <a:ext cx="365760" cy="365760"/>
          </a:xfrm>
          <a:prstGeom prst="ellipse">
            <a:avLst/>
          </a:prstGeom>
          <a:solidFill>
            <a:schemeClr val="accent2"/>
          </a:solidFill>
          <a:ln/>
        </p:spPr>
      </p:sp>
      <p:sp>
        <p:nvSpPr>
          <p:cNvPr id="13" name="Text 270"/>
          <p:cNvSpPr txBox="1"/>
          <p:nvPr/>
        </p:nvSpPr>
        <p:spPr>
          <a:xfrm>
            <a:off x="457200" y="3255264"/>
            <a:ext cx="365760" cy="365760"/>
          </a:xfrm>
          <a:prstGeom prst="rect">
            <a:avLst/>
          </a:prstGeom>
          <a:noFill/>
          <a:ln/>
        </p:spPr>
        <p:txBody>
          <a:bodyPr wrap="square" lIns="0" tIns="0" rIns="0" bIns="0" rtlCol="0" anchor="ctr"/>
          <a:lstStyle/>
          <a:p>
            <a:pPr marL="0" indent="0" algn="ctr">
              <a:buNone/>
            </a:pPr>
            <a:r>
              <a:rPr lang="en-US" sz="1400" b="1" dirty="0">
                <a:solidFill>
                  <a:schemeClr val="tx1"/>
                </a:solidFill>
              </a:rPr>
              <a:t>4</a:t>
            </a:r>
            <a:endParaRPr lang="en-US" sz="1400" dirty="0"/>
          </a:p>
        </p:txBody>
      </p:sp>
      <p:sp>
        <p:nvSpPr>
          <p:cNvPr id="14" name="Text 271"/>
          <p:cNvSpPr txBox="1"/>
          <p:nvPr/>
        </p:nvSpPr>
        <p:spPr>
          <a:xfrm>
            <a:off x="1005840" y="3163824"/>
            <a:ext cx="3931920" cy="548640"/>
          </a:xfrm>
          <a:prstGeom prst="rect">
            <a:avLst/>
          </a:prstGeom>
          <a:noFill/>
          <a:ln/>
        </p:spPr>
        <p:txBody>
          <a:bodyPr wrap="square" lIns="0" tIns="0" rIns="0" bIns="0" rtlCol="0" anchor="ctr"/>
          <a:lstStyle/>
          <a:p>
            <a:pPr marL="0" indent="0">
              <a:buNone/>
            </a:pPr>
            <a:r>
              <a:rPr lang="en-US" sz="1400" dirty="0">
                <a:solidFill>
                  <a:schemeClr val="tx1"/>
                </a:solidFill>
              </a:rPr>
              <a:t>Add firebase_auth and cloud_firestore</a:t>
            </a:r>
            <a:endParaRPr lang="en-US" sz="1400" dirty="0"/>
          </a:p>
        </p:txBody>
      </p:sp>
      <p:sp>
        <p:nvSpPr>
          <p:cNvPr id="15" name="Number badge 272"/>
          <p:cNvSpPr/>
          <p:nvPr/>
        </p:nvSpPr>
        <p:spPr>
          <a:xfrm>
            <a:off x="457200" y="3913632"/>
            <a:ext cx="365760" cy="365760"/>
          </a:xfrm>
          <a:prstGeom prst="ellipse">
            <a:avLst/>
          </a:prstGeom>
          <a:solidFill>
            <a:schemeClr val="accent2"/>
          </a:solidFill>
          <a:ln/>
        </p:spPr>
      </p:sp>
      <p:sp>
        <p:nvSpPr>
          <p:cNvPr id="16" name="Text 273"/>
          <p:cNvSpPr txBox="1"/>
          <p:nvPr/>
        </p:nvSpPr>
        <p:spPr>
          <a:xfrm>
            <a:off x="457200" y="3913632"/>
            <a:ext cx="365760" cy="365760"/>
          </a:xfrm>
          <a:prstGeom prst="rect">
            <a:avLst/>
          </a:prstGeom>
          <a:noFill/>
          <a:ln/>
        </p:spPr>
        <p:txBody>
          <a:bodyPr wrap="square" lIns="0" tIns="0" rIns="0" bIns="0" rtlCol="0" anchor="ctr"/>
          <a:lstStyle/>
          <a:p>
            <a:pPr marL="0" indent="0" algn="ctr">
              <a:buNone/>
            </a:pPr>
            <a:r>
              <a:rPr lang="en-US" sz="1400" b="1" dirty="0">
                <a:solidFill>
                  <a:schemeClr val="tx1"/>
                </a:solidFill>
              </a:rPr>
              <a:t>5</a:t>
            </a:r>
            <a:endParaRPr lang="en-US" sz="1400" dirty="0"/>
          </a:p>
        </p:txBody>
      </p:sp>
      <p:sp>
        <p:nvSpPr>
          <p:cNvPr id="17" name="Text 274"/>
          <p:cNvSpPr txBox="1"/>
          <p:nvPr/>
        </p:nvSpPr>
        <p:spPr>
          <a:xfrm>
            <a:off x="1005840" y="3822192"/>
            <a:ext cx="3931920" cy="548640"/>
          </a:xfrm>
          <a:prstGeom prst="rect">
            <a:avLst/>
          </a:prstGeom>
          <a:noFill/>
          <a:ln/>
        </p:spPr>
        <p:txBody>
          <a:bodyPr wrap="square" lIns="0" tIns="0" rIns="0" bIns="0" rtlCol="0" anchor="ctr"/>
          <a:lstStyle/>
          <a:p>
            <a:pPr marL="0" indent="0">
              <a:buNone/>
            </a:pPr>
            <a:r>
              <a:rPr lang="en-US" sz="1400" dirty="0">
                <a:solidFill>
                  <a:schemeClr val="tx1"/>
                </a:solidFill>
              </a:rPr>
              <a:t>Run on an emulator: sign in, add a task</a:t>
            </a:r>
            <a:endParaRPr lang="en-US" sz="1400" dirty="0"/>
          </a:p>
        </p:txBody>
      </p:sp>
      <p:sp>
        <p:nvSpPr>
          <p:cNvPr id="18" name="Phone body 275"/>
          <p:cNvSpPr/>
          <p:nvPr/>
        </p:nvSpPr>
        <p:spPr>
          <a:xfrm>
            <a:off x="5120640" y="1188720"/>
            <a:ext cx="1097280" cy="2286000"/>
          </a:xfrm>
          <a:prstGeom prst="roundRect">
            <a:avLst>
              <a:gd name="adj" fmla="val 12500"/>
            </a:avLst>
          </a:prstGeom>
          <a:solidFill>
            <a:schemeClr val="tx1"/>
          </a:solidFill>
          <a:ln/>
        </p:spPr>
      </p:sp>
      <p:sp>
        <p:nvSpPr>
          <p:cNvPr id="19" name="Phone screen 276"/>
          <p:cNvSpPr/>
          <p:nvPr/>
        </p:nvSpPr>
        <p:spPr>
          <a:xfrm>
            <a:off x="5184648" y="1298448"/>
            <a:ext cx="969264" cy="2066544"/>
          </a:xfrm>
          <a:prstGeom prst="roundRect">
            <a:avLst>
              <a:gd name="adj" fmla="val 7547"/>
            </a:avLst>
          </a:prstGeom>
          <a:solidFill>
            <a:schemeClr val="bg1"/>
          </a:solidFill>
          <a:ln/>
        </p:spPr>
      </p:sp>
      <p:sp>
        <p:nvSpPr>
          <p:cNvPr id="20" name="Text 277"/>
          <p:cNvSpPr txBox="1"/>
          <p:nvPr/>
        </p:nvSpPr>
        <p:spPr>
          <a:xfrm>
            <a:off x="5184648" y="1435608"/>
            <a:ext cx="969264" cy="228600"/>
          </a:xfrm>
          <a:prstGeom prst="rect">
            <a:avLst/>
          </a:prstGeom>
          <a:noFill/>
          <a:ln/>
        </p:spPr>
        <p:txBody>
          <a:bodyPr wrap="square" lIns="0" tIns="0" rIns="0" bIns="0" rtlCol="0" anchor="ctr"/>
          <a:lstStyle/>
          <a:p>
            <a:pPr marL="0" indent="0" algn="ctr">
              <a:buNone/>
            </a:pPr>
            <a:r>
              <a:rPr lang="en-US" sz="1000" b="1" dirty="0">
                <a:solidFill>
                  <a:schemeClr val="tx1"/>
                </a:solidFill>
              </a:rPr>
              <a:t>Sign in</a:t>
            </a:r>
            <a:endParaRPr lang="en-US" sz="1000" dirty="0"/>
          </a:p>
        </p:txBody>
      </p:sp>
      <p:sp>
        <p:nvSpPr>
          <p:cNvPr id="21" name="Input field 278"/>
          <p:cNvSpPr/>
          <p:nvPr/>
        </p:nvSpPr>
        <p:spPr>
          <a:xfrm>
            <a:off x="5276088" y="1801368"/>
            <a:ext cx="786384" cy="274320"/>
          </a:xfrm>
          <a:prstGeom prst="roundRect">
            <a:avLst>
              <a:gd name="adj" fmla="val 16667"/>
            </a:avLst>
          </a:prstGeom>
          <a:solidFill>
            <a:schemeClr val="bg2"/>
          </a:solidFill>
          <a:ln/>
        </p:spPr>
      </p:sp>
      <p:sp>
        <p:nvSpPr>
          <p:cNvPr id="22" name="Input field 279"/>
          <p:cNvSpPr/>
          <p:nvPr/>
        </p:nvSpPr>
        <p:spPr>
          <a:xfrm>
            <a:off x="5276088" y="2167128"/>
            <a:ext cx="786384" cy="274320"/>
          </a:xfrm>
          <a:prstGeom prst="roundRect">
            <a:avLst>
              <a:gd name="adj" fmla="val 16667"/>
            </a:avLst>
          </a:prstGeom>
          <a:solidFill>
            <a:schemeClr val="bg2"/>
          </a:solidFill>
          <a:ln/>
        </p:spPr>
      </p:sp>
      <p:sp>
        <p:nvSpPr>
          <p:cNvPr id="23" name="Login button 280"/>
          <p:cNvSpPr/>
          <p:nvPr/>
        </p:nvSpPr>
        <p:spPr>
          <a:xfrm>
            <a:off x="5276088" y="2624328"/>
            <a:ext cx="786384" cy="292608"/>
          </a:xfrm>
          <a:prstGeom prst="roundRect">
            <a:avLst>
              <a:gd name="adj" fmla="val 15625"/>
            </a:avLst>
          </a:prstGeom>
          <a:solidFill>
            <a:schemeClr val="accent2"/>
          </a:solidFill>
          <a:ln/>
        </p:spPr>
      </p:sp>
      <p:sp>
        <p:nvSpPr>
          <p:cNvPr id="24" name="Text 281"/>
          <p:cNvSpPr txBox="1"/>
          <p:nvPr/>
        </p:nvSpPr>
        <p:spPr>
          <a:xfrm>
            <a:off x="5276088" y="2624328"/>
            <a:ext cx="786384" cy="292608"/>
          </a:xfrm>
          <a:prstGeom prst="rect">
            <a:avLst/>
          </a:prstGeom>
          <a:noFill/>
          <a:ln/>
        </p:spPr>
        <p:txBody>
          <a:bodyPr wrap="square" lIns="0" tIns="0" rIns="0" bIns="0" rtlCol="0" anchor="ctr"/>
          <a:lstStyle/>
          <a:p>
            <a:pPr marL="0" indent="0" algn="ctr">
              <a:buNone/>
            </a:pPr>
            <a:r>
              <a:rPr lang="en-US" sz="1000" b="1" dirty="0">
                <a:solidFill>
                  <a:schemeClr val="tx1"/>
                </a:solidFill>
              </a:rPr>
              <a:t>Login</a:t>
            </a:r>
            <a:endParaRPr lang="en-US" sz="1000" dirty="0"/>
          </a:p>
        </p:txBody>
      </p:sp>
      <p:sp>
        <p:nvSpPr>
          <p:cNvPr id="25" name="Phone body 282"/>
          <p:cNvSpPr/>
          <p:nvPr/>
        </p:nvSpPr>
        <p:spPr>
          <a:xfrm>
            <a:off x="6355080" y="1188720"/>
            <a:ext cx="1097280" cy="2286000"/>
          </a:xfrm>
          <a:prstGeom prst="roundRect">
            <a:avLst>
              <a:gd name="adj" fmla="val 12500"/>
            </a:avLst>
          </a:prstGeom>
          <a:solidFill>
            <a:schemeClr val="tx1"/>
          </a:solidFill>
          <a:ln/>
        </p:spPr>
      </p:sp>
      <p:sp>
        <p:nvSpPr>
          <p:cNvPr id="26" name="Phone screen 283"/>
          <p:cNvSpPr/>
          <p:nvPr/>
        </p:nvSpPr>
        <p:spPr>
          <a:xfrm>
            <a:off x="6419088" y="1298448"/>
            <a:ext cx="969264" cy="2066544"/>
          </a:xfrm>
          <a:prstGeom prst="roundRect">
            <a:avLst>
              <a:gd name="adj" fmla="val 7547"/>
            </a:avLst>
          </a:prstGeom>
          <a:solidFill>
            <a:schemeClr val="bg1"/>
          </a:solidFill>
          <a:ln/>
        </p:spPr>
      </p:sp>
      <p:sp>
        <p:nvSpPr>
          <p:cNvPr id="27" name="Text 284"/>
          <p:cNvSpPr txBox="1"/>
          <p:nvPr/>
        </p:nvSpPr>
        <p:spPr>
          <a:xfrm>
            <a:off x="6419088" y="1408176"/>
            <a:ext cx="969264" cy="228600"/>
          </a:xfrm>
          <a:prstGeom prst="rect">
            <a:avLst/>
          </a:prstGeom>
          <a:noFill/>
          <a:ln/>
        </p:spPr>
        <p:txBody>
          <a:bodyPr wrap="square" lIns="0" tIns="0" rIns="0" bIns="0" rtlCol="0" anchor="ctr"/>
          <a:lstStyle/>
          <a:p>
            <a:pPr marL="0" indent="0" algn="ctr">
              <a:buNone/>
            </a:pPr>
            <a:r>
              <a:rPr lang="en-US" sz="1000" b="1" dirty="0">
                <a:solidFill>
                  <a:schemeClr val="tx1"/>
                </a:solidFill>
              </a:rPr>
              <a:t>Tasks</a:t>
            </a:r>
            <a:endParaRPr lang="en-US" sz="1000" dirty="0"/>
          </a:p>
        </p:txBody>
      </p:sp>
      <p:sp>
        <p:nvSpPr>
          <p:cNvPr id="28" name="Task row 285"/>
          <p:cNvSpPr/>
          <p:nvPr/>
        </p:nvSpPr>
        <p:spPr>
          <a:xfrm>
            <a:off x="6473952" y="1755648"/>
            <a:ext cx="859536" cy="310896"/>
          </a:xfrm>
          <a:prstGeom prst="roundRect">
            <a:avLst>
              <a:gd name="adj" fmla="val 14706"/>
            </a:avLst>
          </a:prstGeom>
          <a:solidFill>
            <a:schemeClr val="bg2"/>
          </a:solidFill>
          <a:ln/>
        </p:spPr>
      </p:sp>
      <p:sp>
        <p:nvSpPr>
          <p:cNvPr id="29" name="Checkbox 286"/>
          <p:cNvSpPr/>
          <p:nvPr/>
        </p:nvSpPr>
        <p:spPr>
          <a:xfrm>
            <a:off x="6547104" y="1837944"/>
            <a:ext cx="146304" cy="146304"/>
          </a:xfrm>
          <a:prstGeom prst="rect">
            <a:avLst/>
          </a:prstGeom>
          <a:solidFill>
            <a:schemeClr val="bg1"/>
          </a:solidFill>
          <a:ln w="12700">
            <a:solidFill>
              <a:schemeClr val="accent6"/>
            </a:solidFill>
            <a:prstDash val="solid"/>
          </a:ln>
        </p:spPr>
      </p:sp>
      <p:sp>
        <p:nvSpPr>
          <p:cNvPr id="30" name="Task text bar 287"/>
          <p:cNvSpPr/>
          <p:nvPr/>
        </p:nvSpPr>
        <p:spPr>
          <a:xfrm>
            <a:off x="6766560" y="1865376"/>
            <a:ext cx="457200" cy="91440"/>
          </a:xfrm>
          <a:prstGeom prst="roundRect">
            <a:avLst>
              <a:gd name="adj" fmla="val 30000"/>
            </a:avLst>
          </a:prstGeom>
          <a:solidFill>
            <a:schemeClr val="accent6"/>
          </a:solidFill>
          <a:ln/>
        </p:spPr>
      </p:sp>
      <p:sp>
        <p:nvSpPr>
          <p:cNvPr id="31" name="Task row 288"/>
          <p:cNvSpPr/>
          <p:nvPr/>
        </p:nvSpPr>
        <p:spPr>
          <a:xfrm>
            <a:off x="6473952" y="2148840"/>
            <a:ext cx="859536" cy="310896"/>
          </a:xfrm>
          <a:prstGeom prst="roundRect">
            <a:avLst>
              <a:gd name="adj" fmla="val 14706"/>
            </a:avLst>
          </a:prstGeom>
          <a:solidFill>
            <a:schemeClr val="bg2"/>
          </a:solidFill>
          <a:ln/>
        </p:spPr>
      </p:sp>
      <p:sp>
        <p:nvSpPr>
          <p:cNvPr id="32" name="Checkbox 289"/>
          <p:cNvSpPr/>
          <p:nvPr/>
        </p:nvSpPr>
        <p:spPr>
          <a:xfrm>
            <a:off x="6547104" y="2231136"/>
            <a:ext cx="146304" cy="146304"/>
          </a:xfrm>
          <a:prstGeom prst="rect">
            <a:avLst/>
          </a:prstGeom>
          <a:solidFill>
            <a:schemeClr val="bg1"/>
          </a:solidFill>
          <a:ln w="12700">
            <a:solidFill>
              <a:schemeClr val="accent6"/>
            </a:solidFill>
            <a:prstDash val="solid"/>
          </a:ln>
        </p:spPr>
      </p:sp>
      <p:sp>
        <p:nvSpPr>
          <p:cNvPr id="33" name="Task text bar 290"/>
          <p:cNvSpPr/>
          <p:nvPr/>
        </p:nvSpPr>
        <p:spPr>
          <a:xfrm>
            <a:off x="6766560" y="2258568"/>
            <a:ext cx="457200" cy="91440"/>
          </a:xfrm>
          <a:prstGeom prst="roundRect">
            <a:avLst>
              <a:gd name="adj" fmla="val 30000"/>
            </a:avLst>
          </a:prstGeom>
          <a:solidFill>
            <a:schemeClr val="accent6"/>
          </a:solidFill>
          <a:ln/>
        </p:spPr>
      </p:sp>
      <p:sp>
        <p:nvSpPr>
          <p:cNvPr id="34" name="Task row 291"/>
          <p:cNvSpPr/>
          <p:nvPr/>
        </p:nvSpPr>
        <p:spPr>
          <a:xfrm>
            <a:off x="6473952" y="2542032"/>
            <a:ext cx="859536" cy="310896"/>
          </a:xfrm>
          <a:prstGeom prst="roundRect">
            <a:avLst>
              <a:gd name="adj" fmla="val 14706"/>
            </a:avLst>
          </a:prstGeom>
          <a:solidFill>
            <a:schemeClr val="bg2"/>
          </a:solidFill>
          <a:ln/>
        </p:spPr>
      </p:sp>
      <p:sp>
        <p:nvSpPr>
          <p:cNvPr id="35" name="Checkbox 292"/>
          <p:cNvSpPr/>
          <p:nvPr/>
        </p:nvSpPr>
        <p:spPr>
          <a:xfrm>
            <a:off x="6547104" y="2624328"/>
            <a:ext cx="146304" cy="146304"/>
          </a:xfrm>
          <a:prstGeom prst="rect">
            <a:avLst/>
          </a:prstGeom>
          <a:solidFill>
            <a:schemeClr val="bg1"/>
          </a:solidFill>
          <a:ln w="12700">
            <a:solidFill>
              <a:schemeClr val="accent6"/>
            </a:solidFill>
            <a:prstDash val="solid"/>
          </a:ln>
        </p:spPr>
      </p:sp>
      <p:sp>
        <p:nvSpPr>
          <p:cNvPr id="36" name="Task text bar 293"/>
          <p:cNvSpPr/>
          <p:nvPr/>
        </p:nvSpPr>
        <p:spPr>
          <a:xfrm>
            <a:off x="6766560" y="2651760"/>
            <a:ext cx="457200" cy="91440"/>
          </a:xfrm>
          <a:prstGeom prst="roundRect">
            <a:avLst>
              <a:gd name="adj" fmla="val 30000"/>
            </a:avLst>
          </a:prstGeom>
          <a:solidFill>
            <a:schemeClr val="accent6"/>
          </a:solidFill>
          <a:ln/>
        </p:spPr>
      </p:sp>
      <p:sp>
        <p:nvSpPr>
          <p:cNvPr id="37" name="Task row 294"/>
          <p:cNvSpPr/>
          <p:nvPr/>
        </p:nvSpPr>
        <p:spPr>
          <a:xfrm>
            <a:off x="6473952" y="2935224"/>
            <a:ext cx="859536" cy="310896"/>
          </a:xfrm>
          <a:prstGeom prst="roundRect">
            <a:avLst>
              <a:gd name="adj" fmla="val 14706"/>
            </a:avLst>
          </a:prstGeom>
          <a:solidFill>
            <a:schemeClr val="bg2"/>
          </a:solidFill>
          <a:ln/>
        </p:spPr>
      </p:sp>
      <p:sp>
        <p:nvSpPr>
          <p:cNvPr id="38" name="Checkbox 295"/>
          <p:cNvSpPr/>
          <p:nvPr/>
        </p:nvSpPr>
        <p:spPr>
          <a:xfrm>
            <a:off x="6547104" y="3017520"/>
            <a:ext cx="146304" cy="146304"/>
          </a:xfrm>
          <a:prstGeom prst="rect">
            <a:avLst/>
          </a:prstGeom>
          <a:solidFill>
            <a:schemeClr val="bg1"/>
          </a:solidFill>
          <a:ln w="12700">
            <a:solidFill>
              <a:schemeClr val="accent6"/>
            </a:solidFill>
            <a:prstDash val="solid"/>
          </a:ln>
        </p:spPr>
      </p:sp>
      <p:sp>
        <p:nvSpPr>
          <p:cNvPr id="39" name="Task text bar 296"/>
          <p:cNvSpPr/>
          <p:nvPr/>
        </p:nvSpPr>
        <p:spPr>
          <a:xfrm>
            <a:off x="6766560" y="3044952"/>
            <a:ext cx="457200" cy="91440"/>
          </a:xfrm>
          <a:prstGeom prst="roundRect">
            <a:avLst>
              <a:gd name="adj" fmla="val 30000"/>
            </a:avLst>
          </a:prstGeom>
          <a:solidFill>
            <a:schemeClr val="accent6"/>
          </a:solidFill>
          <a:ln/>
        </p:spPr>
      </p:sp>
      <p:sp>
        <p:nvSpPr>
          <p:cNvPr id="40" name="Phone body 297"/>
          <p:cNvSpPr/>
          <p:nvPr/>
        </p:nvSpPr>
        <p:spPr>
          <a:xfrm>
            <a:off x="7589520" y="1188720"/>
            <a:ext cx="1097280" cy="2286000"/>
          </a:xfrm>
          <a:prstGeom prst="roundRect">
            <a:avLst>
              <a:gd name="adj" fmla="val 12500"/>
            </a:avLst>
          </a:prstGeom>
          <a:solidFill>
            <a:schemeClr val="tx1"/>
          </a:solidFill>
          <a:ln/>
        </p:spPr>
      </p:sp>
      <p:sp>
        <p:nvSpPr>
          <p:cNvPr id="41" name="Phone screen 298"/>
          <p:cNvSpPr/>
          <p:nvPr/>
        </p:nvSpPr>
        <p:spPr>
          <a:xfrm>
            <a:off x="7653528" y="1298448"/>
            <a:ext cx="969264" cy="2066544"/>
          </a:xfrm>
          <a:prstGeom prst="roundRect">
            <a:avLst>
              <a:gd name="adj" fmla="val 7547"/>
            </a:avLst>
          </a:prstGeom>
          <a:solidFill>
            <a:schemeClr val="bg1"/>
          </a:solidFill>
          <a:ln/>
        </p:spPr>
      </p:sp>
      <p:sp>
        <p:nvSpPr>
          <p:cNvPr id="42" name="Text 299"/>
          <p:cNvSpPr txBox="1"/>
          <p:nvPr/>
        </p:nvSpPr>
        <p:spPr>
          <a:xfrm>
            <a:off x="7653528" y="1408176"/>
            <a:ext cx="969264" cy="228600"/>
          </a:xfrm>
          <a:prstGeom prst="rect">
            <a:avLst/>
          </a:prstGeom>
          <a:noFill/>
          <a:ln/>
        </p:spPr>
        <p:txBody>
          <a:bodyPr wrap="square" lIns="0" tIns="0" rIns="0" bIns="0" rtlCol="0" anchor="ctr"/>
          <a:lstStyle/>
          <a:p>
            <a:pPr marL="0" indent="0" algn="ctr">
              <a:buNone/>
            </a:pPr>
            <a:r>
              <a:rPr lang="en-US" sz="1000" b="1" dirty="0">
                <a:solidFill>
                  <a:schemeClr val="tx1"/>
                </a:solidFill>
              </a:rPr>
              <a:t>Tasks</a:t>
            </a:r>
            <a:endParaRPr lang="en-US" sz="1000" dirty="0"/>
          </a:p>
        </p:txBody>
      </p:sp>
      <p:sp>
        <p:nvSpPr>
          <p:cNvPr id="43" name="Task row 300"/>
          <p:cNvSpPr/>
          <p:nvPr/>
        </p:nvSpPr>
        <p:spPr>
          <a:xfrm>
            <a:off x="7708392" y="1755648"/>
            <a:ext cx="859536" cy="310896"/>
          </a:xfrm>
          <a:prstGeom prst="roundRect">
            <a:avLst>
              <a:gd name="adj" fmla="val 14706"/>
            </a:avLst>
          </a:prstGeom>
          <a:solidFill>
            <a:schemeClr val="accent2"/>
          </a:solidFill>
          <a:ln/>
        </p:spPr>
      </p:sp>
      <p:sp>
        <p:nvSpPr>
          <p:cNvPr id="44" name="Text 301"/>
          <p:cNvSpPr txBox="1"/>
          <p:nvPr/>
        </p:nvSpPr>
        <p:spPr>
          <a:xfrm>
            <a:off x="7708392" y="1755648"/>
            <a:ext cx="859536" cy="310896"/>
          </a:xfrm>
          <a:prstGeom prst="rect">
            <a:avLst/>
          </a:prstGeom>
          <a:noFill/>
          <a:ln/>
        </p:spPr>
        <p:txBody>
          <a:bodyPr wrap="square" lIns="0" tIns="0" rIns="0" bIns="0" rtlCol="0" anchor="ctr"/>
          <a:lstStyle/>
          <a:p>
            <a:pPr marL="0" indent="0" algn="ctr">
              <a:buNone/>
            </a:pPr>
            <a:r>
              <a:rPr lang="en-US" sz="1000" b="1" dirty="0">
                <a:solidFill>
                  <a:schemeClr val="tx1"/>
                </a:solidFill>
              </a:rPr>
              <a:t>New!</a:t>
            </a:r>
            <a:endParaRPr lang="en-US" sz="1000" dirty="0"/>
          </a:p>
        </p:txBody>
      </p:sp>
      <p:sp>
        <p:nvSpPr>
          <p:cNvPr id="45" name="Task row 302"/>
          <p:cNvSpPr/>
          <p:nvPr/>
        </p:nvSpPr>
        <p:spPr>
          <a:xfrm>
            <a:off x="7708392" y="2148840"/>
            <a:ext cx="859536" cy="310896"/>
          </a:xfrm>
          <a:prstGeom prst="roundRect">
            <a:avLst>
              <a:gd name="adj" fmla="val 14706"/>
            </a:avLst>
          </a:prstGeom>
          <a:solidFill>
            <a:schemeClr val="bg2"/>
          </a:solidFill>
          <a:ln/>
        </p:spPr>
      </p:sp>
      <p:sp>
        <p:nvSpPr>
          <p:cNvPr id="46" name="Checkbox 303"/>
          <p:cNvSpPr/>
          <p:nvPr/>
        </p:nvSpPr>
        <p:spPr>
          <a:xfrm>
            <a:off x="7781544" y="2231136"/>
            <a:ext cx="146304" cy="146304"/>
          </a:xfrm>
          <a:prstGeom prst="rect">
            <a:avLst/>
          </a:prstGeom>
          <a:solidFill>
            <a:schemeClr val="bg1"/>
          </a:solidFill>
          <a:ln w="12700">
            <a:solidFill>
              <a:schemeClr val="accent6"/>
            </a:solidFill>
            <a:prstDash val="solid"/>
          </a:ln>
        </p:spPr>
      </p:sp>
      <p:sp>
        <p:nvSpPr>
          <p:cNvPr id="47" name="Task text bar 304"/>
          <p:cNvSpPr/>
          <p:nvPr/>
        </p:nvSpPr>
        <p:spPr>
          <a:xfrm>
            <a:off x="8001000" y="2258568"/>
            <a:ext cx="457200" cy="91440"/>
          </a:xfrm>
          <a:prstGeom prst="roundRect">
            <a:avLst>
              <a:gd name="adj" fmla="val 30000"/>
            </a:avLst>
          </a:prstGeom>
          <a:solidFill>
            <a:schemeClr val="accent6"/>
          </a:solidFill>
          <a:ln/>
        </p:spPr>
      </p:sp>
      <p:sp>
        <p:nvSpPr>
          <p:cNvPr id="48" name="Task row 305"/>
          <p:cNvSpPr/>
          <p:nvPr/>
        </p:nvSpPr>
        <p:spPr>
          <a:xfrm>
            <a:off x="7708392" y="2542032"/>
            <a:ext cx="859536" cy="310896"/>
          </a:xfrm>
          <a:prstGeom prst="roundRect">
            <a:avLst>
              <a:gd name="adj" fmla="val 14706"/>
            </a:avLst>
          </a:prstGeom>
          <a:solidFill>
            <a:schemeClr val="bg2"/>
          </a:solidFill>
          <a:ln/>
        </p:spPr>
      </p:sp>
      <p:sp>
        <p:nvSpPr>
          <p:cNvPr id="49" name="Checkbox 306"/>
          <p:cNvSpPr/>
          <p:nvPr/>
        </p:nvSpPr>
        <p:spPr>
          <a:xfrm>
            <a:off x="7781544" y="2624328"/>
            <a:ext cx="146304" cy="146304"/>
          </a:xfrm>
          <a:prstGeom prst="rect">
            <a:avLst/>
          </a:prstGeom>
          <a:solidFill>
            <a:schemeClr val="bg1"/>
          </a:solidFill>
          <a:ln w="12700">
            <a:solidFill>
              <a:schemeClr val="accent6"/>
            </a:solidFill>
            <a:prstDash val="solid"/>
          </a:ln>
        </p:spPr>
      </p:sp>
      <p:sp>
        <p:nvSpPr>
          <p:cNvPr id="50" name="Task text bar 307"/>
          <p:cNvSpPr/>
          <p:nvPr/>
        </p:nvSpPr>
        <p:spPr>
          <a:xfrm>
            <a:off x="8001000" y="2651760"/>
            <a:ext cx="457200" cy="91440"/>
          </a:xfrm>
          <a:prstGeom prst="roundRect">
            <a:avLst>
              <a:gd name="adj" fmla="val 30000"/>
            </a:avLst>
          </a:prstGeom>
          <a:solidFill>
            <a:schemeClr val="accent6"/>
          </a:solidFill>
          <a:ln/>
        </p:spPr>
      </p:sp>
      <p:sp>
        <p:nvSpPr>
          <p:cNvPr id="51" name="Task row 308"/>
          <p:cNvSpPr/>
          <p:nvPr/>
        </p:nvSpPr>
        <p:spPr>
          <a:xfrm>
            <a:off x="7708392" y="2935224"/>
            <a:ext cx="859536" cy="310896"/>
          </a:xfrm>
          <a:prstGeom prst="roundRect">
            <a:avLst>
              <a:gd name="adj" fmla="val 14706"/>
            </a:avLst>
          </a:prstGeom>
          <a:solidFill>
            <a:schemeClr val="bg2"/>
          </a:solidFill>
          <a:ln/>
        </p:spPr>
      </p:sp>
      <p:sp>
        <p:nvSpPr>
          <p:cNvPr id="52" name="Checkbox 309"/>
          <p:cNvSpPr/>
          <p:nvPr/>
        </p:nvSpPr>
        <p:spPr>
          <a:xfrm>
            <a:off x="7781544" y="3017520"/>
            <a:ext cx="146304" cy="146304"/>
          </a:xfrm>
          <a:prstGeom prst="rect">
            <a:avLst/>
          </a:prstGeom>
          <a:solidFill>
            <a:schemeClr val="bg1"/>
          </a:solidFill>
          <a:ln w="12700">
            <a:solidFill>
              <a:schemeClr val="accent6"/>
            </a:solidFill>
            <a:prstDash val="solid"/>
          </a:ln>
        </p:spPr>
      </p:sp>
      <p:sp>
        <p:nvSpPr>
          <p:cNvPr id="53" name="Task text bar 310"/>
          <p:cNvSpPr/>
          <p:nvPr/>
        </p:nvSpPr>
        <p:spPr>
          <a:xfrm>
            <a:off x="8001000" y="3044952"/>
            <a:ext cx="457200" cy="91440"/>
          </a:xfrm>
          <a:prstGeom prst="roundRect">
            <a:avLst>
              <a:gd name="adj" fmla="val 30000"/>
            </a:avLst>
          </a:prstGeom>
          <a:solidFill>
            <a:schemeClr val="accent6"/>
          </a:solidFill>
          <a:ln/>
        </p:spPr>
      </p:sp>
      <p:sp>
        <p:nvSpPr>
          <p:cNvPr id="54" name="Text 311"/>
          <p:cNvSpPr txBox="1"/>
          <p:nvPr/>
        </p:nvSpPr>
        <p:spPr>
          <a:xfrm>
            <a:off x="5120640" y="3566160"/>
            <a:ext cx="1097280" cy="274320"/>
          </a:xfrm>
          <a:prstGeom prst="rect">
            <a:avLst/>
          </a:prstGeom>
          <a:noFill/>
          <a:ln/>
        </p:spPr>
        <p:txBody>
          <a:bodyPr wrap="square" lIns="0" tIns="0" rIns="0" bIns="0" rtlCol="0" anchor="ctr"/>
          <a:lstStyle/>
          <a:p>
            <a:pPr marL="0" indent="0" algn="ctr">
              <a:buNone/>
            </a:pPr>
            <a:r>
              <a:rPr lang="en-US" sz="1200" b="1" dirty="0">
                <a:solidFill>
                  <a:schemeClr val="tx1"/>
                </a:solidFill>
              </a:rPr>
              <a:t>1  Sign in</a:t>
            </a:r>
            <a:endParaRPr lang="en-US" sz="1200" dirty="0"/>
          </a:p>
        </p:txBody>
      </p:sp>
      <p:sp>
        <p:nvSpPr>
          <p:cNvPr id="55" name="Text 312"/>
          <p:cNvSpPr txBox="1"/>
          <p:nvPr/>
        </p:nvSpPr>
        <p:spPr>
          <a:xfrm>
            <a:off x="6355080" y="3566160"/>
            <a:ext cx="1097280" cy="274320"/>
          </a:xfrm>
          <a:prstGeom prst="rect">
            <a:avLst/>
          </a:prstGeom>
          <a:noFill/>
          <a:ln/>
        </p:spPr>
        <p:txBody>
          <a:bodyPr wrap="square" lIns="0" tIns="0" rIns="0" bIns="0" rtlCol="0" anchor="ctr"/>
          <a:lstStyle/>
          <a:p>
            <a:pPr marL="0" indent="0" algn="ctr">
              <a:buNone/>
            </a:pPr>
            <a:r>
              <a:rPr lang="en-US" sz="1200" b="1" dirty="0">
                <a:solidFill>
                  <a:schemeClr val="tx1"/>
                </a:solidFill>
              </a:rPr>
              <a:t>2  Add task</a:t>
            </a:r>
            <a:endParaRPr lang="en-US" sz="1200" dirty="0"/>
          </a:p>
        </p:txBody>
      </p:sp>
      <p:sp>
        <p:nvSpPr>
          <p:cNvPr id="56" name="Text 313"/>
          <p:cNvSpPr txBox="1"/>
          <p:nvPr/>
        </p:nvSpPr>
        <p:spPr>
          <a:xfrm>
            <a:off x="7589520" y="3566160"/>
            <a:ext cx="1097280" cy="274320"/>
          </a:xfrm>
          <a:prstGeom prst="rect">
            <a:avLst/>
          </a:prstGeom>
          <a:noFill/>
          <a:ln/>
        </p:spPr>
        <p:txBody>
          <a:bodyPr wrap="square" lIns="0" tIns="0" rIns="0" bIns="0" rtlCol="0" anchor="ctr"/>
          <a:lstStyle/>
          <a:p>
            <a:pPr marL="0" indent="0" algn="ctr">
              <a:buNone/>
            </a:pPr>
            <a:r>
              <a:rPr lang="en-US" sz="1200" b="1" dirty="0">
                <a:solidFill>
                  <a:schemeClr val="tx1"/>
                </a:solidFill>
              </a:rPr>
              <a:t>3  Live sync</a:t>
            </a:r>
            <a:endParaRPr lang="en-US" sz="1200" dirty="0"/>
          </a:p>
        </p:txBody>
      </p:sp>
      <p:sp>
        <p:nvSpPr>
          <p:cNvPr id="57" name="Text 314"/>
          <p:cNvSpPr txBox="1"/>
          <p:nvPr/>
        </p:nvSpPr>
        <p:spPr>
          <a:xfrm>
            <a:off x="5120640" y="3977640"/>
            <a:ext cx="3566160" cy="502920"/>
          </a:xfrm>
          <a:prstGeom prst="rect">
            <a:avLst/>
          </a:prstGeom>
          <a:noFill/>
          <a:ln/>
        </p:spPr>
        <p:txBody>
          <a:bodyPr wrap="square" lIns="0" tIns="0" rIns="0" bIns="0" rtlCol="0" anchor="t"/>
          <a:lstStyle/>
          <a:p>
            <a:pPr marL="0" indent="0">
              <a:buNone/>
            </a:pPr>
            <a:r>
              <a:rPr lang="en-US" sz="1200" i="1" dirty="0">
                <a:solidFill>
                  <a:schemeClr val="tx2"/>
                </a:solidFill>
              </a:rPr>
              <a:t>Wireframes only: replace with your own screenshots or a screen recording of the real app.</a:t>
            </a:r>
            <a:endParaRPr lang="en-US" sz="1200" dirty="0"/>
          </a:p>
        </p:txBody>
      </p:sp>
      <p:sp>
        <p:nvSpPr>
          <p:cNvPr id="58"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200" b="1" dirty="0">
                <a:solidFill>
                  <a:schemeClr val="tx1"/>
                </a:solidFill>
              </a:rPr>
              <a:t>Recent developments (2026)</a:t>
            </a:r>
            <a:endParaRPr lang="en-US" sz="3200" dirty="0"/>
          </a:p>
        </p:txBody>
      </p:sp>
      <p:sp>
        <p:nvSpPr>
          <p:cNvPr id="3" name="Card 315"/>
          <p:cNvSpPr/>
          <p:nvPr/>
        </p:nvSpPr>
        <p:spPr>
          <a:xfrm>
            <a:off x="457200" y="1188720"/>
            <a:ext cx="2560320" cy="1600200"/>
          </a:xfrm>
          <a:prstGeom prst="roundRect">
            <a:avLst>
              <a:gd name="adj" fmla="val 5714"/>
            </a:avLst>
          </a:prstGeom>
          <a:solidFill>
            <a:schemeClr val="bg2"/>
          </a:solidFill>
          <a:ln/>
          <a:effectLst>
            <a:outerShdw blurRad="76200" dist="25400" dir="5400000" algn="bl" rotWithShape="0">
              <a:srgbClr val="000000">
                <a:alpha val="12000"/>
              </a:srgbClr>
            </a:outerShdw>
          </a:effectLst>
        </p:spPr>
      </p:sp>
      <p:sp>
        <p:nvSpPr>
          <p:cNvPr id="4" name="Icon circle 316"/>
          <p:cNvSpPr/>
          <p:nvPr/>
        </p:nvSpPr>
        <p:spPr>
          <a:xfrm>
            <a:off x="640080" y="1371600"/>
            <a:ext cx="502920" cy="502920"/>
          </a:xfrm>
          <a:prstGeom prst="ellipse">
            <a:avLst/>
          </a:prstGeom>
          <a:solidFill>
            <a:schemeClr val="accent2"/>
          </a:solidFill>
          <a:ln/>
        </p:spPr>
      </p:sp>
      <p:pic>
        <p:nvPicPr>
          <p:cNvPr id="5" name="Icon 317" descr="Database icon"/>
          <p:cNvPicPr>
            <a:picLocks noChangeAspect="1"/>
          </p:cNvPicPr>
          <p:nvPr/>
        </p:nvPicPr>
        <p:blipFill>
          <a:blip r:embed="rId3"/>
          <a:stretch>
            <a:fillRect/>
          </a:stretch>
        </p:blipFill>
        <p:spPr>
          <a:xfrm>
            <a:off x="750722" y="1482242"/>
            <a:ext cx="281635" cy="281635"/>
          </a:xfrm>
          <a:prstGeom prst="rect">
            <a:avLst/>
          </a:prstGeom>
        </p:spPr>
      </p:pic>
      <p:sp>
        <p:nvSpPr>
          <p:cNvPr id="6" name="Text 318"/>
          <p:cNvSpPr txBox="1"/>
          <p:nvPr/>
        </p:nvSpPr>
        <p:spPr>
          <a:xfrm>
            <a:off x="1280160" y="1371600"/>
            <a:ext cx="1645920" cy="502920"/>
          </a:xfrm>
          <a:prstGeom prst="rect">
            <a:avLst/>
          </a:prstGeom>
          <a:noFill/>
          <a:ln/>
        </p:spPr>
        <p:txBody>
          <a:bodyPr wrap="square" lIns="0" tIns="0" rIns="0" bIns="0" rtlCol="0" anchor="ctr"/>
          <a:lstStyle/>
          <a:p>
            <a:pPr marL="0" indent="0">
              <a:buNone/>
            </a:pPr>
            <a:r>
              <a:rPr lang="en-US" sz="1600" b="1" dirty="0">
                <a:solidFill>
                  <a:schemeClr val="tx1"/>
                </a:solidFill>
              </a:rPr>
              <a:t>SQL Connect</a:t>
            </a:r>
            <a:endParaRPr lang="en-US" sz="1600" dirty="0"/>
          </a:p>
        </p:txBody>
      </p:sp>
      <p:sp>
        <p:nvSpPr>
          <p:cNvPr id="7" name="Text 319"/>
          <p:cNvSpPr txBox="1"/>
          <p:nvPr/>
        </p:nvSpPr>
        <p:spPr>
          <a:xfrm>
            <a:off x="640080" y="2011680"/>
            <a:ext cx="2194560" cy="685800"/>
          </a:xfrm>
          <a:prstGeom prst="rect">
            <a:avLst/>
          </a:prstGeom>
          <a:noFill/>
          <a:ln/>
        </p:spPr>
        <p:txBody>
          <a:bodyPr wrap="square" lIns="0" tIns="0" rIns="0" bIns="0" rtlCol="0" anchor="t"/>
          <a:lstStyle/>
          <a:p>
            <a:pPr marL="0" indent="0">
              <a:buNone/>
            </a:pPr>
            <a:r>
              <a:rPr lang="en-US" sz="1400" dirty="0">
                <a:solidFill>
                  <a:schemeClr val="tx1"/>
                </a:solidFill>
              </a:rPr>
              <a:t>Data Connect evolves: PostgreSQL with realtime sync</a:t>
            </a:r>
            <a:endParaRPr lang="en-US" sz="1400" dirty="0"/>
          </a:p>
        </p:txBody>
      </p:sp>
      <p:sp>
        <p:nvSpPr>
          <p:cNvPr id="8" name="Card 320"/>
          <p:cNvSpPr/>
          <p:nvPr/>
        </p:nvSpPr>
        <p:spPr>
          <a:xfrm>
            <a:off x="3291840" y="1188720"/>
            <a:ext cx="2560320" cy="1600200"/>
          </a:xfrm>
          <a:prstGeom prst="roundRect">
            <a:avLst>
              <a:gd name="adj" fmla="val 5714"/>
            </a:avLst>
          </a:prstGeom>
          <a:solidFill>
            <a:schemeClr val="bg2"/>
          </a:solidFill>
          <a:ln/>
          <a:effectLst>
            <a:outerShdw blurRad="76200" dist="25400" dir="5400000" algn="bl" rotWithShape="0">
              <a:srgbClr val="000000">
                <a:alpha val="12000"/>
              </a:srgbClr>
            </a:outerShdw>
          </a:effectLst>
        </p:spPr>
      </p:sp>
      <p:sp>
        <p:nvSpPr>
          <p:cNvPr id="9" name="Icon circle 321"/>
          <p:cNvSpPr/>
          <p:nvPr/>
        </p:nvSpPr>
        <p:spPr>
          <a:xfrm>
            <a:off x="3474720" y="1371600"/>
            <a:ext cx="502920" cy="502920"/>
          </a:xfrm>
          <a:prstGeom prst="ellipse">
            <a:avLst/>
          </a:prstGeom>
          <a:solidFill>
            <a:schemeClr val="accent2"/>
          </a:solidFill>
          <a:ln/>
        </p:spPr>
      </p:sp>
      <p:pic>
        <p:nvPicPr>
          <p:cNvPr id="10" name="Icon 322" descr="Brain icon"/>
          <p:cNvPicPr>
            <a:picLocks noChangeAspect="1"/>
          </p:cNvPicPr>
          <p:nvPr/>
        </p:nvPicPr>
        <p:blipFill>
          <a:blip r:embed="rId4"/>
          <a:stretch>
            <a:fillRect/>
          </a:stretch>
        </p:blipFill>
        <p:spPr>
          <a:xfrm>
            <a:off x="3585362" y="1482242"/>
            <a:ext cx="281635" cy="281635"/>
          </a:xfrm>
          <a:prstGeom prst="rect">
            <a:avLst/>
          </a:prstGeom>
        </p:spPr>
      </p:pic>
      <p:sp>
        <p:nvSpPr>
          <p:cNvPr id="11" name="Text 323"/>
          <p:cNvSpPr txBox="1"/>
          <p:nvPr/>
        </p:nvSpPr>
        <p:spPr>
          <a:xfrm>
            <a:off x="4114800" y="1371600"/>
            <a:ext cx="1645920" cy="502920"/>
          </a:xfrm>
          <a:prstGeom prst="rect">
            <a:avLst/>
          </a:prstGeom>
          <a:noFill/>
          <a:ln/>
        </p:spPr>
        <p:txBody>
          <a:bodyPr wrap="square" lIns="0" tIns="0" rIns="0" bIns="0" rtlCol="0" anchor="ctr"/>
          <a:lstStyle/>
          <a:p>
            <a:pPr marL="0" indent="0">
              <a:buNone/>
            </a:pPr>
            <a:r>
              <a:rPr lang="en-US" sz="1600" b="1" dirty="0">
                <a:solidFill>
                  <a:schemeClr val="tx1"/>
                </a:solidFill>
              </a:rPr>
              <a:t>AI Logic</a:t>
            </a:r>
            <a:endParaRPr lang="en-US" sz="1600" dirty="0"/>
          </a:p>
        </p:txBody>
      </p:sp>
      <p:sp>
        <p:nvSpPr>
          <p:cNvPr id="12" name="Text 324"/>
          <p:cNvSpPr txBox="1"/>
          <p:nvPr/>
        </p:nvSpPr>
        <p:spPr>
          <a:xfrm>
            <a:off x="3474720" y="2011680"/>
            <a:ext cx="2194560" cy="685800"/>
          </a:xfrm>
          <a:prstGeom prst="rect">
            <a:avLst/>
          </a:prstGeom>
          <a:noFill/>
          <a:ln/>
        </p:spPr>
        <p:txBody>
          <a:bodyPr wrap="square" lIns="0" tIns="0" rIns="0" bIns="0" rtlCol="0" anchor="t"/>
          <a:lstStyle/>
          <a:p>
            <a:pPr marL="0" indent="0">
              <a:buNone/>
            </a:pPr>
            <a:r>
              <a:rPr lang="en-US" sz="1400" dirty="0">
                <a:solidFill>
                  <a:schemeClr val="tx1"/>
                </a:solidFill>
              </a:rPr>
              <a:t>Gemini 3.x models inside client apps, no server setup</a:t>
            </a:r>
            <a:endParaRPr lang="en-US" sz="1400" dirty="0"/>
          </a:p>
        </p:txBody>
      </p:sp>
      <p:sp>
        <p:nvSpPr>
          <p:cNvPr id="13" name="Card 325"/>
          <p:cNvSpPr/>
          <p:nvPr/>
        </p:nvSpPr>
        <p:spPr>
          <a:xfrm>
            <a:off x="6126480" y="1188720"/>
            <a:ext cx="2560320" cy="1600200"/>
          </a:xfrm>
          <a:prstGeom prst="roundRect">
            <a:avLst>
              <a:gd name="adj" fmla="val 5714"/>
            </a:avLst>
          </a:prstGeom>
          <a:solidFill>
            <a:schemeClr val="bg2"/>
          </a:solidFill>
          <a:ln/>
          <a:effectLst>
            <a:outerShdw blurRad="76200" dist="25400" dir="5400000" algn="bl" rotWithShape="0">
              <a:srgbClr val="000000">
                <a:alpha val="12000"/>
              </a:srgbClr>
            </a:outerShdw>
          </a:effectLst>
        </p:spPr>
      </p:sp>
      <p:sp>
        <p:nvSpPr>
          <p:cNvPr id="14" name="Icon circle 326"/>
          <p:cNvSpPr/>
          <p:nvPr/>
        </p:nvSpPr>
        <p:spPr>
          <a:xfrm>
            <a:off x="6309360" y="1371600"/>
            <a:ext cx="502920" cy="502920"/>
          </a:xfrm>
          <a:prstGeom prst="ellipse">
            <a:avLst/>
          </a:prstGeom>
          <a:solidFill>
            <a:schemeClr val="accent2"/>
          </a:solidFill>
          <a:ln/>
        </p:spPr>
      </p:sp>
      <p:pic>
        <p:nvPicPr>
          <p:cNvPr id="15" name="Icon 327" descr="PhoneAlt icon"/>
          <p:cNvPicPr>
            <a:picLocks noChangeAspect="1"/>
          </p:cNvPicPr>
          <p:nvPr/>
        </p:nvPicPr>
        <p:blipFill>
          <a:blip r:embed="rId5"/>
          <a:stretch>
            <a:fillRect/>
          </a:stretch>
        </p:blipFill>
        <p:spPr>
          <a:xfrm>
            <a:off x="6420002" y="1482242"/>
            <a:ext cx="281635" cy="281635"/>
          </a:xfrm>
          <a:prstGeom prst="rect">
            <a:avLst/>
          </a:prstGeom>
        </p:spPr>
      </p:pic>
      <p:sp>
        <p:nvSpPr>
          <p:cNvPr id="16" name="Text 328"/>
          <p:cNvSpPr txBox="1"/>
          <p:nvPr/>
        </p:nvSpPr>
        <p:spPr>
          <a:xfrm>
            <a:off x="6949440" y="1371600"/>
            <a:ext cx="1645920" cy="502920"/>
          </a:xfrm>
          <a:prstGeom prst="rect">
            <a:avLst/>
          </a:prstGeom>
          <a:noFill/>
          <a:ln/>
        </p:spPr>
        <p:txBody>
          <a:bodyPr wrap="square" lIns="0" tIns="0" rIns="0" bIns="0" rtlCol="0" anchor="ctr"/>
          <a:lstStyle/>
          <a:p>
            <a:pPr marL="0" indent="0">
              <a:buNone/>
            </a:pPr>
            <a:r>
              <a:rPr lang="en-US" sz="1600" b="1" dirty="0">
                <a:solidFill>
                  <a:schemeClr val="tx1"/>
                </a:solidFill>
              </a:rPr>
              <a:t>Phone Verification</a:t>
            </a:r>
            <a:endParaRPr lang="en-US" sz="1600" dirty="0"/>
          </a:p>
        </p:txBody>
      </p:sp>
      <p:sp>
        <p:nvSpPr>
          <p:cNvPr id="17" name="Text 329"/>
          <p:cNvSpPr txBox="1"/>
          <p:nvPr/>
        </p:nvSpPr>
        <p:spPr>
          <a:xfrm>
            <a:off x="6309360" y="2011680"/>
            <a:ext cx="2194560" cy="685800"/>
          </a:xfrm>
          <a:prstGeom prst="rect">
            <a:avLst/>
          </a:prstGeom>
          <a:noFill/>
          <a:ln/>
        </p:spPr>
        <p:txBody>
          <a:bodyPr wrap="square" lIns="0" tIns="0" rIns="0" bIns="0" rtlCol="0" anchor="t"/>
          <a:lstStyle/>
          <a:p>
            <a:pPr marL="0" indent="0">
              <a:buNone/>
            </a:pPr>
            <a:r>
              <a:rPr lang="en-US" sz="1400" dirty="0">
                <a:solidFill>
                  <a:schemeClr val="tx1"/>
                </a:solidFill>
              </a:rPr>
              <a:t>Generally available since May 2026</a:t>
            </a:r>
            <a:endParaRPr lang="en-US" sz="1400" dirty="0"/>
          </a:p>
        </p:txBody>
      </p:sp>
      <p:sp>
        <p:nvSpPr>
          <p:cNvPr id="18" name="Card 330"/>
          <p:cNvSpPr/>
          <p:nvPr/>
        </p:nvSpPr>
        <p:spPr>
          <a:xfrm>
            <a:off x="457200" y="2971800"/>
            <a:ext cx="2560320" cy="1600200"/>
          </a:xfrm>
          <a:prstGeom prst="roundRect">
            <a:avLst>
              <a:gd name="adj" fmla="val 5714"/>
            </a:avLst>
          </a:prstGeom>
          <a:solidFill>
            <a:schemeClr val="bg2"/>
          </a:solidFill>
          <a:ln/>
          <a:effectLst>
            <a:outerShdw blurRad="76200" dist="25400" dir="5400000" algn="bl" rotWithShape="0">
              <a:srgbClr val="000000">
                <a:alpha val="12000"/>
              </a:srgbClr>
            </a:outerShdw>
          </a:effectLst>
        </p:spPr>
      </p:sp>
      <p:sp>
        <p:nvSpPr>
          <p:cNvPr id="19" name="Icon circle 331"/>
          <p:cNvSpPr/>
          <p:nvPr/>
        </p:nvSpPr>
        <p:spPr>
          <a:xfrm>
            <a:off x="640080" y="3154680"/>
            <a:ext cx="502920" cy="502920"/>
          </a:xfrm>
          <a:prstGeom prst="ellipse">
            <a:avLst/>
          </a:prstGeom>
          <a:solidFill>
            <a:schemeClr val="accent2"/>
          </a:solidFill>
          <a:ln/>
        </p:spPr>
      </p:sp>
      <p:pic>
        <p:nvPicPr>
          <p:cNvPr id="20" name="Icon 332" descr="Robot icon"/>
          <p:cNvPicPr>
            <a:picLocks noChangeAspect="1"/>
          </p:cNvPicPr>
          <p:nvPr/>
        </p:nvPicPr>
        <p:blipFill>
          <a:blip r:embed="rId6"/>
          <a:stretch>
            <a:fillRect/>
          </a:stretch>
        </p:blipFill>
        <p:spPr>
          <a:xfrm>
            <a:off x="750722" y="3265322"/>
            <a:ext cx="281635" cy="281635"/>
          </a:xfrm>
          <a:prstGeom prst="rect">
            <a:avLst/>
          </a:prstGeom>
        </p:spPr>
      </p:pic>
      <p:sp>
        <p:nvSpPr>
          <p:cNvPr id="21" name="Text 333"/>
          <p:cNvSpPr txBox="1"/>
          <p:nvPr/>
        </p:nvSpPr>
        <p:spPr>
          <a:xfrm>
            <a:off x="1280160" y="3154680"/>
            <a:ext cx="1645920" cy="502920"/>
          </a:xfrm>
          <a:prstGeom prst="rect">
            <a:avLst/>
          </a:prstGeom>
          <a:noFill/>
          <a:ln/>
        </p:spPr>
        <p:txBody>
          <a:bodyPr wrap="square" lIns="0" tIns="0" rIns="0" bIns="0" rtlCol="0" anchor="ctr"/>
          <a:lstStyle/>
          <a:p>
            <a:pPr marL="0" indent="0">
              <a:buNone/>
            </a:pPr>
            <a:r>
              <a:rPr lang="en-US" sz="1600" b="1" dirty="0">
                <a:solidFill>
                  <a:schemeClr val="tx1"/>
                </a:solidFill>
              </a:rPr>
              <a:t>Agent Skills</a:t>
            </a:r>
            <a:endParaRPr lang="en-US" sz="1600" dirty="0"/>
          </a:p>
        </p:txBody>
      </p:sp>
      <p:sp>
        <p:nvSpPr>
          <p:cNvPr id="22" name="Text 334"/>
          <p:cNvSpPr txBox="1"/>
          <p:nvPr/>
        </p:nvSpPr>
        <p:spPr>
          <a:xfrm>
            <a:off x="640080" y="3794760"/>
            <a:ext cx="2194560" cy="685800"/>
          </a:xfrm>
          <a:prstGeom prst="rect">
            <a:avLst/>
          </a:prstGeom>
          <a:noFill/>
          <a:ln/>
        </p:spPr>
        <p:txBody>
          <a:bodyPr wrap="square" lIns="0" tIns="0" rIns="0" bIns="0" rtlCol="0" anchor="t"/>
          <a:lstStyle/>
          <a:p>
            <a:pPr marL="0" indent="0">
              <a:buNone/>
            </a:pPr>
            <a:r>
              <a:rPr lang="en-US" sz="1400" dirty="0">
                <a:solidFill>
                  <a:schemeClr val="tx1"/>
                </a:solidFill>
              </a:rPr>
              <a:t>AI coding agents in Android Studio and Antigravity</a:t>
            </a:r>
            <a:endParaRPr lang="en-US" sz="1400" dirty="0"/>
          </a:p>
        </p:txBody>
      </p:sp>
      <p:sp>
        <p:nvSpPr>
          <p:cNvPr id="23" name="Card 335"/>
          <p:cNvSpPr/>
          <p:nvPr/>
        </p:nvSpPr>
        <p:spPr>
          <a:xfrm>
            <a:off x="3291840" y="2971800"/>
            <a:ext cx="2560320" cy="1600200"/>
          </a:xfrm>
          <a:prstGeom prst="roundRect">
            <a:avLst>
              <a:gd name="adj" fmla="val 5714"/>
            </a:avLst>
          </a:prstGeom>
          <a:solidFill>
            <a:schemeClr val="bg2"/>
          </a:solidFill>
          <a:ln/>
          <a:effectLst>
            <a:outerShdw blurRad="76200" dist="25400" dir="5400000" algn="bl" rotWithShape="0">
              <a:srgbClr val="000000">
                <a:alpha val="12000"/>
              </a:srgbClr>
            </a:outerShdw>
          </a:effectLst>
        </p:spPr>
      </p:sp>
      <p:sp>
        <p:nvSpPr>
          <p:cNvPr id="24" name="Icon circle 336"/>
          <p:cNvSpPr/>
          <p:nvPr/>
        </p:nvSpPr>
        <p:spPr>
          <a:xfrm>
            <a:off x="3474720" y="3154680"/>
            <a:ext cx="502920" cy="502920"/>
          </a:xfrm>
          <a:prstGeom prst="ellipse">
            <a:avLst/>
          </a:prstGeom>
          <a:solidFill>
            <a:schemeClr val="accent2"/>
          </a:solidFill>
          <a:ln/>
        </p:spPr>
      </p:sp>
      <p:pic>
        <p:nvPicPr>
          <p:cNvPr id="25" name="Icon 337" descr="Code icon"/>
          <p:cNvPicPr>
            <a:picLocks noChangeAspect="1"/>
          </p:cNvPicPr>
          <p:nvPr/>
        </p:nvPicPr>
        <p:blipFill>
          <a:blip r:embed="rId7"/>
          <a:stretch>
            <a:fillRect/>
          </a:stretch>
        </p:blipFill>
        <p:spPr>
          <a:xfrm>
            <a:off x="3585362" y="3265322"/>
            <a:ext cx="281635" cy="281635"/>
          </a:xfrm>
          <a:prstGeom prst="rect">
            <a:avLst/>
          </a:prstGeom>
        </p:spPr>
      </p:pic>
      <p:sp>
        <p:nvSpPr>
          <p:cNvPr id="26" name="Text 338"/>
          <p:cNvSpPr txBox="1"/>
          <p:nvPr/>
        </p:nvSpPr>
        <p:spPr>
          <a:xfrm>
            <a:off x="4114800" y="3154680"/>
            <a:ext cx="1645920" cy="502920"/>
          </a:xfrm>
          <a:prstGeom prst="rect">
            <a:avLst/>
          </a:prstGeom>
          <a:noFill/>
          <a:ln/>
        </p:spPr>
        <p:txBody>
          <a:bodyPr wrap="square" lIns="0" tIns="0" rIns="0" bIns="0" rtlCol="0" anchor="ctr"/>
          <a:lstStyle/>
          <a:p>
            <a:pPr marL="0" indent="0">
              <a:buNone/>
            </a:pPr>
            <a:r>
              <a:rPr lang="en-US" sz="1600" b="1" dirty="0">
                <a:solidFill>
                  <a:schemeClr val="tx1"/>
                </a:solidFill>
              </a:rPr>
              <a:t>Dart Functions</a:t>
            </a:r>
            <a:endParaRPr lang="en-US" sz="1600" dirty="0"/>
          </a:p>
        </p:txBody>
      </p:sp>
      <p:sp>
        <p:nvSpPr>
          <p:cNvPr id="27" name="Text 339"/>
          <p:cNvSpPr txBox="1"/>
          <p:nvPr/>
        </p:nvSpPr>
        <p:spPr>
          <a:xfrm>
            <a:off x="3474720" y="3794760"/>
            <a:ext cx="2194560" cy="685800"/>
          </a:xfrm>
          <a:prstGeom prst="rect">
            <a:avLst/>
          </a:prstGeom>
          <a:noFill/>
          <a:ln/>
        </p:spPr>
        <p:txBody>
          <a:bodyPr wrap="square" lIns="0" tIns="0" rIns="0" bIns="0" rtlCol="0" anchor="t"/>
          <a:lstStyle/>
          <a:p>
            <a:pPr marL="0" indent="0">
              <a:buNone/>
            </a:pPr>
            <a:r>
              <a:rPr lang="en-US" sz="1400" dirty="0">
                <a:solidFill>
                  <a:schemeClr val="tx1"/>
                </a:solidFill>
              </a:rPr>
              <a:t>Cloud Functions in Dart (experimental)</a:t>
            </a:r>
            <a:endParaRPr lang="en-US" sz="1400" dirty="0"/>
          </a:p>
        </p:txBody>
      </p:sp>
      <p:sp>
        <p:nvSpPr>
          <p:cNvPr id="28" name="Card 340"/>
          <p:cNvSpPr/>
          <p:nvPr/>
        </p:nvSpPr>
        <p:spPr>
          <a:xfrm>
            <a:off x="6126480" y="2971800"/>
            <a:ext cx="2560320" cy="1600200"/>
          </a:xfrm>
          <a:prstGeom prst="roundRect">
            <a:avLst>
              <a:gd name="adj" fmla="val 5714"/>
            </a:avLst>
          </a:prstGeom>
          <a:solidFill>
            <a:schemeClr val="bg2"/>
          </a:solidFill>
          <a:ln/>
          <a:effectLst>
            <a:outerShdw blurRad="76200" dist="25400" dir="5400000" algn="bl" rotWithShape="0">
              <a:srgbClr val="000000">
                <a:alpha val="12000"/>
              </a:srgbClr>
            </a:outerShdw>
          </a:effectLst>
        </p:spPr>
      </p:sp>
      <p:sp>
        <p:nvSpPr>
          <p:cNvPr id="29" name="Icon circle 341"/>
          <p:cNvSpPr/>
          <p:nvPr/>
        </p:nvSpPr>
        <p:spPr>
          <a:xfrm>
            <a:off x="6309360" y="3154680"/>
            <a:ext cx="502920" cy="502920"/>
          </a:xfrm>
          <a:prstGeom prst="ellipse">
            <a:avLst/>
          </a:prstGeom>
          <a:solidFill>
            <a:schemeClr val="accent2"/>
          </a:solidFill>
          <a:ln/>
        </p:spPr>
      </p:sp>
      <p:pic>
        <p:nvPicPr>
          <p:cNvPr id="30" name="Icon 342" descr="Lock icon"/>
          <p:cNvPicPr>
            <a:picLocks noChangeAspect="1"/>
          </p:cNvPicPr>
          <p:nvPr/>
        </p:nvPicPr>
        <p:blipFill>
          <a:blip r:embed="rId8"/>
          <a:stretch>
            <a:fillRect/>
          </a:stretch>
        </p:blipFill>
        <p:spPr>
          <a:xfrm>
            <a:off x="6420002" y="3265322"/>
            <a:ext cx="281635" cy="281635"/>
          </a:xfrm>
          <a:prstGeom prst="rect">
            <a:avLst/>
          </a:prstGeom>
        </p:spPr>
      </p:pic>
      <p:sp>
        <p:nvSpPr>
          <p:cNvPr id="31" name="Text 343"/>
          <p:cNvSpPr txBox="1"/>
          <p:nvPr/>
        </p:nvSpPr>
        <p:spPr>
          <a:xfrm>
            <a:off x="6949440" y="3154680"/>
            <a:ext cx="1645920" cy="502920"/>
          </a:xfrm>
          <a:prstGeom prst="rect">
            <a:avLst/>
          </a:prstGeom>
          <a:noFill/>
          <a:ln/>
        </p:spPr>
        <p:txBody>
          <a:bodyPr wrap="square" lIns="0" tIns="0" rIns="0" bIns="0" rtlCol="0" anchor="ctr"/>
          <a:lstStyle/>
          <a:p>
            <a:pPr marL="0" indent="0">
              <a:buNone/>
            </a:pPr>
            <a:r>
              <a:rPr lang="en-US" sz="1600" b="1" dirty="0">
                <a:solidFill>
                  <a:schemeClr val="tx1"/>
                </a:solidFill>
              </a:rPr>
              <a:t>Tighter security</a:t>
            </a:r>
            <a:endParaRPr lang="en-US" sz="1600" dirty="0"/>
          </a:p>
        </p:txBody>
      </p:sp>
      <p:sp>
        <p:nvSpPr>
          <p:cNvPr id="32" name="Text 344"/>
          <p:cNvSpPr txBox="1"/>
          <p:nvPr/>
        </p:nvSpPr>
        <p:spPr>
          <a:xfrm>
            <a:off x="6309360" y="3794760"/>
            <a:ext cx="2194560" cy="685800"/>
          </a:xfrm>
          <a:prstGeom prst="rect">
            <a:avLst/>
          </a:prstGeom>
          <a:noFill/>
          <a:ln/>
        </p:spPr>
        <p:txBody>
          <a:bodyPr wrap="square" lIns="0" tIns="0" rIns="0" bIns="0" rtlCol="0" anchor="t"/>
          <a:lstStyle/>
          <a:p>
            <a:pPr marL="0" indent="0">
              <a:buNone/>
            </a:pPr>
            <a:r>
              <a:rPr lang="en-US" sz="1400" dirty="0">
                <a:solidFill>
                  <a:schemeClr val="tx1"/>
                </a:solidFill>
              </a:rPr>
              <a:t>App Check replay-attack protection</a:t>
            </a:r>
            <a:endParaRPr lang="en-US" sz="1400" dirty="0"/>
          </a:p>
        </p:txBody>
      </p:sp>
      <p:sp>
        <p:nvSpPr>
          <p:cNvPr id="33"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200" b="1" dirty="0">
                <a:solidFill>
                  <a:schemeClr val="tx1"/>
                </a:solidFill>
              </a:rPr>
              <a:t>Future opportunities</a:t>
            </a:r>
            <a:endParaRPr lang="en-US" sz="3200" dirty="0"/>
          </a:p>
        </p:txBody>
      </p:sp>
      <p:sp>
        <p:nvSpPr>
          <p:cNvPr id="3" name="Icon circle 345"/>
          <p:cNvSpPr/>
          <p:nvPr/>
        </p:nvSpPr>
        <p:spPr>
          <a:xfrm>
            <a:off x="457200" y="1188720"/>
            <a:ext cx="594360" cy="594360"/>
          </a:xfrm>
          <a:prstGeom prst="ellipse">
            <a:avLst/>
          </a:prstGeom>
          <a:solidFill>
            <a:schemeClr val="accent2"/>
          </a:solidFill>
          <a:ln/>
        </p:spPr>
      </p:sp>
      <p:pic>
        <p:nvPicPr>
          <p:cNvPr id="4" name="Icon 346" descr="Brain icon"/>
          <p:cNvPicPr>
            <a:picLocks noChangeAspect="1"/>
          </p:cNvPicPr>
          <p:nvPr/>
        </p:nvPicPr>
        <p:blipFill>
          <a:blip r:embed="rId3"/>
          <a:stretch>
            <a:fillRect/>
          </a:stretch>
        </p:blipFill>
        <p:spPr>
          <a:xfrm>
            <a:off x="587959" y="1319479"/>
            <a:ext cx="332842" cy="332842"/>
          </a:xfrm>
          <a:prstGeom prst="rect">
            <a:avLst/>
          </a:prstGeom>
        </p:spPr>
      </p:pic>
      <p:sp>
        <p:nvSpPr>
          <p:cNvPr id="5" name="Text 347"/>
          <p:cNvSpPr txBox="1"/>
          <p:nvPr/>
        </p:nvSpPr>
        <p:spPr>
          <a:xfrm>
            <a:off x="1234440" y="1188720"/>
            <a:ext cx="3931920" cy="594360"/>
          </a:xfrm>
          <a:prstGeom prst="rect">
            <a:avLst/>
          </a:prstGeom>
          <a:noFill/>
          <a:ln/>
        </p:spPr>
        <p:txBody>
          <a:bodyPr wrap="square" lIns="0" tIns="0" rIns="0" bIns="0" rtlCol="0" anchor="ctr"/>
          <a:lstStyle/>
          <a:p>
            <a:pPr marL="0" indent="0">
              <a:buNone/>
            </a:pPr>
            <a:r>
              <a:rPr lang="en-US" sz="1600" b="1" dirty="0">
                <a:solidFill>
                  <a:schemeClr val="tx1"/>
                </a:solidFill>
              </a:rPr>
              <a:t>AI-first apps</a:t>
            </a:r>
            <a:endParaRPr lang="en-US" sz="1600" dirty="0"/>
          </a:p>
          <a:p>
            <a:pPr marL="0" indent="0">
              <a:buNone/>
            </a:pPr>
            <a:r>
              <a:rPr lang="en-US" sz="1400" dirty="0">
                <a:solidFill>
                  <a:schemeClr val="tx2"/>
                </a:solidFill>
              </a:rPr>
              <a:t>Generative features without your own server</a:t>
            </a:r>
            <a:endParaRPr lang="en-US" sz="1600" dirty="0"/>
          </a:p>
        </p:txBody>
      </p:sp>
      <p:sp>
        <p:nvSpPr>
          <p:cNvPr id="6" name="Icon circle 348"/>
          <p:cNvSpPr/>
          <p:nvPr/>
        </p:nvSpPr>
        <p:spPr>
          <a:xfrm>
            <a:off x="457200" y="2029968"/>
            <a:ext cx="594360" cy="594360"/>
          </a:xfrm>
          <a:prstGeom prst="ellipse">
            <a:avLst/>
          </a:prstGeom>
          <a:solidFill>
            <a:schemeClr val="accent2"/>
          </a:solidFill>
          <a:ln/>
        </p:spPr>
      </p:sp>
      <p:pic>
        <p:nvPicPr>
          <p:cNvPr id="7" name="Icon 349" descr="Robot icon"/>
          <p:cNvPicPr>
            <a:picLocks noChangeAspect="1"/>
          </p:cNvPicPr>
          <p:nvPr/>
        </p:nvPicPr>
        <p:blipFill>
          <a:blip r:embed="rId4"/>
          <a:stretch>
            <a:fillRect/>
          </a:stretch>
        </p:blipFill>
        <p:spPr>
          <a:xfrm>
            <a:off x="587959" y="2160727"/>
            <a:ext cx="332842" cy="332842"/>
          </a:xfrm>
          <a:prstGeom prst="rect">
            <a:avLst/>
          </a:prstGeom>
        </p:spPr>
      </p:pic>
      <p:sp>
        <p:nvSpPr>
          <p:cNvPr id="8" name="Text 350"/>
          <p:cNvSpPr txBox="1"/>
          <p:nvPr/>
        </p:nvSpPr>
        <p:spPr>
          <a:xfrm>
            <a:off x="1234440" y="2029968"/>
            <a:ext cx="3931920" cy="594360"/>
          </a:xfrm>
          <a:prstGeom prst="rect">
            <a:avLst/>
          </a:prstGeom>
          <a:noFill/>
          <a:ln/>
        </p:spPr>
        <p:txBody>
          <a:bodyPr wrap="square" lIns="0" tIns="0" rIns="0" bIns="0" rtlCol="0" anchor="ctr"/>
          <a:lstStyle/>
          <a:p>
            <a:pPr marL="0" indent="0">
              <a:buNone/>
            </a:pPr>
            <a:r>
              <a:rPr lang="en-US" sz="1600" b="1" dirty="0">
                <a:solidFill>
                  <a:schemeClr val="tx1"/>
                </a:solidFill>
              </a:rPr>
              <a:t>AI-assisted development</a:t>
            </a:r>
            <a:endParaRPr lang="en-US" sz="1600" dirty="0"/>
          </a:p>
          <a:p>
            <a:pPr marL="0" indent="0">
              <a:buNone/>
            </a:pPr>
            <a:r>
              <a:rPr lang="en-US" sz="1400" dirty="0">
                <a:solidFill>
                  <a:schemeClr val="tx2"/>
                </a:solidFill>
              </a:rPr>
              <a:t>Agents that configure backends and rules</a:t>
            </a:r>
            <a:endParaRPr lang="en-US" sz="1600" dirty="0"/>
          </a:p>
        </p:txBody>
      </p:sp>
      <p:sp>
        <p:nvSpPr>
          <p:cNvPr id="9" name="Icon circle 351"/>
          <p:cNvSpPr/>
          <p:nvPr/>
        </p:nvSpPr>
        <p:spPr>
          <a:xfrm>
            <a:off x="457200" y="2871216"/>
            <a:ext cx="594360" cy="594360"/>
          </a:xfrm>
          <a:prstGeom prst="ellipse">
            <a:avLst/>
          </a:prstGeom>
          <a:solidFill>
            <a:schemeClr val="accent2"/>
          </a:solidFill>
          <a:ln/>
        </p:spPr>
      </p:sp>
      <p:pic>
        <p:nvPicPr>
          <p:cNvPr id="10" name="Icon 352" descr="Database icon"/>
          <p:cNvPicPr>
            <a:picLocks noChangeAspect="1"/>
          </p:cNvPicPr>
          <p:nvPr/>
        </p:nvPicPr>
        <p:blipFill>
          <a:blip r:embed="rId5"/>
          <a:stretch>
            <a:fillRect/>
          </a:stretch>
        </p:blipFill>
        <p:spPr>
          <a:xfrm>
            <a:off x="587959" y="3001975"/>
            <a:ext cx="332842" cy="332842"/>
          </a:xfrm>
          <a:prstGeom prst="rect">
            <a:avLst/>
          </a:prstGeom>
        </p:spPr>
      </p:pic>
      <p:sp>
        <p:nvSpPr>
          <p:cNvPr id="11" name="Text 353"/>
          <p:cNvSpPr txBox="1"/>
          <p:nvPr/>
        </p:nvSpPr>
        <p:spPr>
          <a:xfrm>
            <a:off x="1234440" y="2871216"/>
            <a:ext cx="3931920" cy="594360"/>
          </a:xfrm>
          <a:prstGeom prst="rect">
            <a:avLst/>
          </a:prstGeom>
          <a:noFill/>
          <a:ln/>
        </p:spPr>
        <p:txBody>
          <a:bodyPr wrap="square" lIns="0" tIns="0" rIns="0" bIns="0" rtlCol="0" anchor="ctr"/>
          <a:lstStyle/>
          <a:p>
            <a:pPr marL="0" indent="0">
              <a:buNone/>
            </a:pPr>
            <a:r>
              <a:rPr lang="en-US" sz="1600" b="1" dirty="0">
                <a:solidFill>
                  <a:schemeClr val="tx1"/>
                </a:solidFill>
              </a:rPr>
              <a:t>SQL plus realtime</a:t>
            </a:r>
            <a:endParaRPr lang="en-US" sz="1600" dirty="0"/>
          </a:p>
          <a:p>
            <a:pPr marL="0" indent="0">
              <a:buNone/>
            </a:pPr>
            <a:r>
              <a:rPr lang="en-US" sz="1400" dirty="0">
                <a:solidFill>
                  <a:schemeClr val="tx2"/>
                </a:solidFill>
              </a:rPr>
              <a:t>Relational data with live updates</a:t>
            </a:r>
            <a:endParaRPr lang="en-US" sz="1600" dirty="0"/>
          </a:p>
        </p:txBody>
      </p:sp>
      <p:sp>
        <p:nvSpPr>
          <p:cNvPr id="12" name="Icon circle 354"/>
          <p:cNvSpPr/>
          <p:nvPr/>
        </p:nvSpPr>
        <p:spPr>
          <a:xfrm>
            <a:off x="457200" y="3712464"/>
            <a:ext cx="594360" cy="594360"/>
          </a:xfrm>
          <a:prstGeom prst="ellipse">
            <a:avLst/>
          </a:prstGeom>
          <a:solidFill>
            <a:schemeClr val="accent2"/>
          </a:solidFill>
          <a:ln/>
        </p:spPr>
      </p:sp>
      <p:pic>
        <p:nvPicPr>
          <p:cNvPr id="13" name="Icon 355" descr="Key icon"/>
          <p:cNvPicPr>
            <a:picLocks noChangeAspect="1"/>
          </p:cNvPicPr>
          <p:nvPr/>
        </p:nvPicPr>
        <p:blipFill>
          <a:blip r:embed="rId6"/>
          <a:stretch>
            <a:fillRect/>
          </a:stretch>
        </p:blipFill>
        <p:spPr>
          <a:xfrm>
            <a:off x="587959" y="3843223"/>
            <a:ext cx="332842" cy="332842"/>
          </a:xfrm>
          <a:prstGeom prst="rect">
            <a:avLst/>
          </a:prstGeom>
        </p:spPr>
      </p:pic>
      <p:sp>
        <p:nvSpPr>
          <p:cNvPr id="14" name="Text 356"/>
          <p:cNvSpPr txBox="1"/>
          <p:nvPr/>
        </p:nvSpPr>
        <p:spPr>
          <a:xfrm>
            <a:off x="1234440" y="3712464"/>
            <a:ext cx="3931920" cy="594360"/>
          </a:xfrm>
          <a:prstGeom prst="rect">
            <a:avLst/>
          </a:prstGeom>
          <a:noFill/>
          <a:ln/>
        </p:spPr>
        <p:txBody>
          <a:bodyPr wrap="square" lIns="0" tIns="0" rIns="0" bIns="0" rtlCol="0" anchor="ctr"/>
          <a:lstStyle/>
          <a:p>
            <a:pPr marL="0" indent="0">
              <a:buNone/>
            </a:pPr>
            <a:r>
              <a:rPr lang="en-US" sz="1600" b="1" dirty="0">
                <a:solidFill>
                  <a:schemeClr val="tx1"/>
                </a:solidFill>
              </a:rPr>
              <a:t>Passwordless sign-in</a:t>
            </a:r>
            <a:endParaRPr lang="en-US" sz="1600" dirty="0"/>
          </a:p>
          <a:p>
            <a:pPr marL="0" indent="0">
              <a:buNone/>
            </a:pPr>
            <a:r>
              <a:rPr lang="en-US" sz="1400" dirty="0">
                <a:solidFill>
                  <a:schemeClr val="tx2"/>
                </a:solidFill>
              </a:rPr>
              <a:t>Carrier-based phone verification</a:t>
            </a:r>
            <a:endParaRPr lang="en-US" sz="1600" dirty="0"/>
          </a:p>
        </p:txBody>
      </p:sp>
      <p:sp>
        <p:nvSpPr>
          <p:cNvPr id="15" name="Alternatives card 357"/>
          <p:cNvSpPr/>
          <p:nvPr/>
        </p:nvSpPr>
        <p:spPr>
          <a:xfrm>
            <a:off x="5486400" y="1188720"/>
            <a:ext cx="3200400" cy="3337560"/>
          </a:xfrm>
          <a:prstGeom prst="roundRect">
            <a:avLst>
              <a:gd name="adj" fmla="val 2857"/>
            </a:avLst>
          </a:prstGeom>
          <a:solidFill>
            <a:schemeClr val="tx1"/>
          </a:solidFill>
          <a:ln/>
          <a:effectLst>
            <a:outerShdw blurRad="76200" dist="25400" dir="5400000" algn="bl" rotWithShape="0">
              <a:srgbClr val="000000">
                <a:alpha val="12000"/>
              </a:srgbClr>
            </a:outerShdw>
          </a:effectLst>
        </p:spPr>
      </p:sp>
      <p:sp>
        <p:nvSpPr>
          <p:cNvPr id="16" name="Text 358"/>
          <p:cNvSpPr txBox="1"/>
          <p:nvPr/>
        </p:nvSpPr>
        <p:spPr>
          <a:xfrm>
            <a:off x="5715000" y="1371600"/>
            <a:ext cx="2743200" cy="365760"/>
          </a:xfrm>
          <a:prstGeom prst="rect">
            <a:avLst/>
          </a:prstGeom>
          <a:noFill/>
          <a:ln/>
        </p:spPr>
        <p:txBody>
          <a:bodyPr wrap="square" lIns="0" tIns="0" rIns="0" bIns="0" rtlCol="0" anchor="ctr"/>
          <a:lstStyle/>
          <a:p>
            <a:pPr marL="0" indent="0">
              <a:buNone/>
            </a:pPr>
            <a:r>
              <a:rPr lang="en-US" sz="1800" b="1" dirty="0">
                <a:solidFill>
                  <a:schemeClr val="accent2"/>
                </a:solidFill>
              </a:rPr>
              <a:t>Alternatives to know</a:t>
            </a:r>
            <a:endParaRPr lang="en-US" sz="1800" dirty="0"/>
          </a:p>
        </p:txBody>
      </p:sp>
      <p:sp>
        <p:nvSpPr>
          <p:cNvPr id="17" name="Text 359"/>
          <p:cNvSpPr txBox="1"/>
          <p:nvPr/>
        </p:nvSpPr>
        <p:spPr>
          <a:xfrm>
            <a:off x="5715000" y="1920240"/>
            <a:ext cx="2743200" cy="2468880"/>
          </a:xfrm>
          <a:prstGeom prst="rect">
            <a:avLst/>
          </a:prstGeom>
          <a:noFill/>
          <a:ln/>
        </p:spPr>
        <p:txBody>
          <a:bodyPr wrap="square" lIns="0" tIns="0" rIns="0" bIns="0" rtlCol="0" anchor="t"/>
          <a:lstStyle/>
          <a:p>
            <a:pPr marL="0" indent="0">
              <a:buNone/>
            </a:pPr>
            <a:r>
              <a:rPr lang="en-US" sz="1400" b="1" dirty="0">
                <a:solidFill>
                  <a:schemeClr val="bg1"/>
                </a:solidFill>
              </a:rPr>
              <a:t>Supabase</a:t>
            </a:r>
            <a:endParaRPr lang="en-US" sz="1400" dirty="0"/>
          </a:p>
          <a:p>
            <a:pPr marL="0" indent="0">
              <a:spcAft>
                <a:spcPts val="1200"/>
              </a:spcAft>
              <a:buNone/>
            </a:pPr>
            <a:r>
              <a:rPr lang="en-US" sz="1400" dirty="0">
                <a:solidFill>
                  <a:schemeClr val="accent6"/>
                </a:solidFill>
              </a:rPr>
              <a:t>Open source, built on PostgreSQL</a:t>
            </a:r>
            <a:endParaRPr lang="en-US" sz="1400" dirty="0"/>
          </a:p>
          <a:p>
            <a:pPr marL="0" indent="0">
              <a:buNone/>
            </a:pPr>
            <a:r>
              <a:rPr lang="en-US" sz="1400" b="1" dirty="0">
                <a:solidFill>
                  <a:schemeClr val="bg1"/>
                </a:solidFill>
              </a:rPr>
              <a:t>AWS Amplify</a:t>
            </a:r>
            <a:endParaRPr lang="en-US" sz="1400" dirty="0"/>
          </a:p>
          <a:p>
            <a:pPr marL="0" indent="0">
              <a:spcAft>
                <a:spcPts val="1200"/>
              </a:spcAft>
              <a:buNone/>
            </a:pPr>
            <a:r>
              <a:rPr lang="en-US" sz="1400" dirty="0">
                <a:solidFill>
                  <a:schemeClr val="accent6"/>
                </a:solidFill>
              </a:rPr>
              <a:t>Backend tools in the AWS ecosystem</a:t>
            </a:r>
            <a:endParaRPr lang="en-US" sz="1400" dirty="0"/>
          </a:p>
          <a:p>
            <a:pPr marL="0" indent="0">
              <a:buNone/>
            </a:pPr>
            <a:r>
              <a:rPr lang="en-US" sz="1400" b="1" dirty="0">
                <a:solidFill>
                  <a:schemeClr val="bg1"/>
                </a:solidFill>
              </a:rPr>
              <a:t>Appwrite</a:t>
            </a:r>
            <a:endParaRPr lang="en-US" sz="1400" dirty="0"/>
          </a:p>
          <a:p>
            <a:pPr marL="0" indent="0">
              <a:buNone/>
            </a:pPr>
            <a:r>
              <a:rPr lang="en-US" sz="1400" dirty="0">
                <a:solidFill>
                  <a:schemeClr val="accent6"/>
                </a:solidFill>
              </a:rPr>
              <a:t>Open source and self-hostable</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200" b="1" dirty="0">
                <a:solidFill>
                  <a:schemeClr val="bg1"/>
                </a:solidFill>
              </a:rPr>
              <a:t>Key takeaways</a:t>
            </a:r>
            <a:endParaRPr lang="en-US" sz="3200" dirty="0"/>
          </a:p>
        </p:txBody>
      </p:sp>
      <p:sp>
        <p:nvSpPr>
          <p:cNvPr id="3" name="Text 360"/>
          <p:cNvSpPr txBox="1"/>
          <p:nvPr/>
        </p:nvSpPr>
        <p:spPr>
          <a:xfrm>
            <a:off x="457200" y="1188720"/>
            <a:ext cx="640080" cy="548640"/>
          </a:xfrm>
          <a:prstGeom prst="rect">
            <a:avLst/>
          </a:prstGeom>
          <a:noFill/>
          <a:ln/>
        </p:spPr>
        <p:txBody>
          <a:bodyPr wrap="square" lIns="0" tIns="0" rIns="0" bIns="0" rtlCol="0" anchor="ctr"/>
          <a:lstStyle/>
          <a:p>
            <a:pPr marL="0" indent="0">
              <a:buNone/>
            </a:pPr>
            <a:r>
              <a:rPr lang="en-US" sz="3200" b="1" dirty="0">
                <a:solidFill>
                  <a:schemeClr val="accent2"/>
                </a:solidFill>
                <a:latin typeface="+mj-lt" pitchFamily="34" charset="0"/>
                <a:ea typeface="+mj-lt" pitchFamily="34" charset="-122"/>
                <a:cs typeface="+mj-lt" pitchFamily="34" charset="-120"/>
              </a:rPr>
              <a:t>1</a:t>
            </a:r>
            <a:endParaRPr lang="en-US" sz="3200" dirty="0"/>
          </a:p>
        </p:txBody>
      </p:sp>
      <p:sp>
        <p:nvSpPr>
          <p:cNvPr id="4" name="Text 361"/>
          <p:cNvSpPr txBox="1"/>
          <p:nvPr/>
        </p:nvSpPr>
        <p:spPr>
          <a:xfrm>
            <a:off x="1188720" y="1188720"/>
            <a:ext cx="7498080" cy="548640"/>
          </a:xfrm>
          <a:prstGeom prst="rect">
            <a:avLst/>
          </a:prstGeom>
          <a:noFill/>
          <a:ln/>
        </p:spPr>
        <p:txBody>
          <a:bodyPr wrap="square" lIns="0" tIns="0" rIns="0" bIns="0" rtlCol="0" anchor="ctr"/>
          <a:lstStyle/>
          <a:p>
            <a:pPr marL="0" indent="0">
              <a:buNone/>
            </a:pPr>
            <a:r>
              <a:rPr lang="en-US" sz="1600" dirty="0">
                <a:solidFill>
                  <a:schemeClr val="bg1"/>
                </a:solidFill>
              </a:rPr>
              <a:t>Firebase is Google's BaaS: login, database, storage and messaging through SDKs</a:t>
            </a:r>
            <a:endParaRPr lang="en-US" sz="1600" dirty="0"/>
          </a:p>
        </p:txBody>
      </p:sp>
      <p:sp>
        <p:nvSpPr>
          <p:cNvPr id="5" name="Text 362"/>
          <p:cNvSpPr txBox="1"/>
          <p:nvPr/>
        </p:nvSpPr>
        <p:spPr>
          <a:xfrm>
            <a:off x="457200" y="1874520"/>
            <a:ext cx="640080" cy="548640"/>
          </a:xfrm>
          <a:prstGeom prst="rect">
            <a:avLst/>
          </a:prstGeom>
          <a:noFill/>
          <a:ln/>
        </p:spPr>
        <p:txBody>
          <a:bodyPr wrap="square" lIns="0" tIns="0" rIns="0" bIns="0" rtlCol="0" anchor="ctr"/>
          <a:lstStyle/>
          <a:p>
            <a:pPr marL="0" indent="0">
              <a:buNone/>
            </a:pPr>
            <a:r>
              <a:rPr lang="en-US" sz="3200" b="1" dirty="0">
                <a:solidFill>
                  <a:schemeClr val="accent2"/>
                </a:solidFill>
                <a:latin typeface="+mj-lt" pitchFamily="34" charset="0"/>
                <a:ea typeface="+mj-lt" pitchFamily="34" charset="-122"/>
                <a:cs typeface="+mj-lt" pitchFamily="34" charset="-120"/>
              </a:rPr>
              <a:t>2</a:t>
            </a:r>
            <a:endParaRPr lang="en-US" sz="3200" dirty="0"/>
          </a:p>
        </p:txBody>
      </p:sp>
      <p:sp>
        <p:nvSpPr>
          <p:cNvPr id="6" name="Text 363"/>
          <p:cNvSpPr txBox="1"/>
          <p:nvPr/>
        </p:nvSpPr>
        <p:spPr>
          <a:xfrm>
            <a:off x="1188720" y="1874520"/>
            <a:ext cx="7498080" cy="548640"/>
          </a:xfrm>
          <a:prstGeom prst="rect">
            <a:avLst/>
          </a:prstGeom>
          <a:noFill/>
          <a:ln/>
        </p:spPr>
        <p:txBody>
          <a:bodyPr wrap="square" lIns="0" tIns="0" rIns="0" bIns="0" rtlCol="0" anchor="ctr"/>
          <a:lstStyle/>
          <a:p>
            <a:pPr marL="0" indent="0">
              <a:buNone/>
            </a:pPr>
            <a:r>
              <a:rPr lang="en-US" sz="1600" dirty="0">
                <a:solidFill>
                  <a:schemeClr val="bg1"/>
                </a:solidFill>
              </a:rPr>
              <a:t>Apps talk to Firebase directly; security rules protect the data</a:t>
            </a:r>
            <a:endParaRPr lang="en-US" sz="1600" dirty="0"/>
          </a:p>
        </p:txBody>
      </p:sp>
      <p:sp>
        <p:nvSpPr>
          <p:cNvPr id="7" name="Text 364"/>
          <p:cNvSpPr txBox="1"/>
          <p:nvPr/>
        </p:nvSpPr>
        <p:spPr>
          <a:xfrm>
            <a:off x="457200" y="2560320"/>
            <a:ext cx="640080" cy="548640"/>
          </a:xfrm>
          <a:prstGeom prst="rect">
            <a:avLst/>
          </a:prstGeom>
          <a:noFill/>
          <a:ln/>
        </p:spPr>
        <p:txBody>
          <a:bodyPr wrap="square" lIns="0" tIns="0" rIns="0" bIns="0" rtlCol="0" anchor="ctr"/>
          <a:lstStyle/>
          <a:p>
            <a:pPr marL="0" indent="0">
              <a:buNone/>
            </a:pPr>
            <a:r>
              <a:rPr lang="en-US" sz="3200" b="1" dirty="0">
                <a:solidFill>
                  <a:schemeClr val="accent2"/>
                </a:solidFill>
                <a:latin typeface="+mj-lt" pitchFamily="34" charset="0"/>
                <a:ea typeface="+mj-lt" pitchFamily="34" charset="-122"/>
                <a:cs typeface="+mj-lt" pitchFamily="34" charset="-120"/>
              </a:rPr>
              <a:t>3</a:t>
            </a:r>
            <a:endParaRPr lang="en-US" sz="3200" dirty="0"/>
          </a:p>
        </p:txBody>
      </p:sp>
      <p:sp>
        <p:nvSpPr>
          <p:cNvPr id="8" name="Text 365"/>
          <p:cNvSpPr txBox="1"/>
          <p:nvPr/>
        </p:nvSpPr>
        <p:spPr>
          <a:xfrm>
            <a:off x="1188720" y="2560320"/>
            <a:ext cx="7498080" cy="548640"/>
          </a:xfrm>
          <a:prstGeom prst="rect">
            <a:avLst/>
          </a:prstGeom>
          <a:noFill/>
          <a:ln/>
        </p:spPr>
        <p:txBody>
          <a:bodyPr wrap="square" lIns="0" tIns="0" rIns="0" bIns="0" rtlCol="0" anchor="ctr"/>
          <a:lstStyle/>
          <a:p>
            <a:pPr marL="0" indent="0">
              <a:buNone/>
            </a:pPr>
            <a:r>
              <a:rPr lang="en-US" sz="1600" dirty="0">
                <a:solidFill>
                  <a:schemeClr val="bg1"/>
                </a:solidFill>
              </a:rPr>
              <a:t>Realtime sync, offline mode and auto-scaling save months of backend work</a:t>
            </a:r>
            <a:endParaRPr lang="en-US" sz="1600" dirty="0"/>
          </a:p>
        </p:txBody>
      </p:sp>
      <p:sp>
        <p:nvSpPr>
          <p:cNvPr id="9" name="Text 366"/>
          <p:cNvSpPr txBox="1"/>
          <p:nvPr/>
        </p:nvSpPr>
        <p:spPr>
          <a:xfrm>
            <a:off x="457200" y="3246120"/>
            <a:ext cx="640080" cy="548640"/>
          </a:xfrm>
          <a:prstGeom prst="rect">
            <a:avLst/>
          </a:prstGeom>
          <a:noFill/>
          <a:ln/>
        </p:spPr>
        <p:txBody>
          <a:bodyPr wrap="square" lIns="0" tIns="0" rIns="0" bIns="0" rtlCol="0" anchor="ctr"/>
          <a:lstStyle/>
          <a:p>
            <a:pPr marL="0" indent="0">
              <a:buNone/>
            </a:pPr>
            <a:r>
              <a:rPr lang="en-US" sz="3200" b="1" dirty="0">
                <a:solidFill>
                  <a:schemeClr val="accent2"/>
                </a:solidFill>
                <a:latin typeface="+mj-lt" pitchFamily="34" charset="0"/>
                <a:ea typeface="+mj-lt" pitchFamily="34" charset="-122"/>
                <a:cs typeface="+mj-lt" pitchFamily="34" charset="-120"/>
              </a:rPr>
              <a:t>4</a:t>
            </a:r>
            <a:endParaRPr lang="en-US" sz="3200" dirty="0"/>
          </a:p>
        </p:txBody>
      </p:sp>
      <p:sp>
        <p:nvSpPr>
          <p:cNvPr id="10" name="Text 367"/>
          <p:cNvSpPr txBox="1"/>
          <p:nvPr/>
        </p:nvSpPr>
        <p:spPr>
          <a:xfrm>
            <a:off x="1188720" y="3246120"/>
            <a:ext cx="7498080" cy="548640"/>
          </a:xfrm>
          <a:prstGeom prst="rect">
            <a:avLst/>
          </a:prstGeom>
          <a:noFill/>
          <a:ln/>
        </p:spPr>
        <p:txBody>
          <a:bodyPr wrap="square" lIns="0" tIns="0" rIns="0" bIns="0" rtlCol="0" anchor="ctr"/>
          <a:lstStyle/>
          <a:p>
            <a:pPr marL="0" indent="0">
              <a:buNone/>
            </a:pPr>
            <a:r>
              <a:rPr lang="en-US" sz="1600" dirty="0">
                <a:solidFill>
                  <a:schemeClr val="bg1"/>
                </a:solidFill>
              </a:rPr>
              <a:t>Start free on Spark; watch costs and lock-in as you grow</a:t>
            </a:r>
            <a:endParaRPr lang="en-US" sz="1600" dirty="0"/>
          </a:p>
        </p:txBody>
      </p:sp>
      <p:sp>
        <p:nvSpPr>
          <p:cNvPr id="11" name="Text 368"/>
          <p:cNvSpPr txBox="1"/>
          <p:nvPr/>
        </p:nvSpPr>
        <p:spPr>
          <a:xfrm>
            <a:off x="457200" y="3931920"/>
            <a:ext cx="640080" cy="548640"/>
          </a:xfrm>
          <a:prstGeom prst="rect">
            <a:avLst/>
          </a:prstGeom>
          <a:noFill/>
          <a:ln/>
        </p:spPr>
        <p:txBody>
          <a:bodyPr wrap="square" lIns="0" tIns="0" rIns="0" bIns="0" rtlCol="0" anchor="ctr"/>
          <a:lstStyle/>
          <a:p>
            <a:pPr marL="0" indent="0">
              <a:buNone/>
            </a:pPr>
            <a:r>
              <a:rPr lang="en-US" sz="3200" b="1" dirty="0">
                <a:solidFill>
                  <a:schemeClr val="accent2"/>
                </a:solidFill>
                <a:latin typeface="+mj-lt" pitchFamily="34" charset="0"/>
                <a:ea typeface="+mj-lt" pitchFamily="34" charset="-122"/>
                <a:cs typeface="+mj-lt" pitchFamily="34" charset="-120"/>
              </a:rPr>
              <a:t>5</a:t>
            </a:r>
            <a:endParaRPr lang="en-US" sz="3200" dirty="0"/>
          </a:p>
        </p:txBody>
      </p:sp>
      <p:sp>
        <p:nvSpPr>
          <p:cNvPr id="12" name="Text 369"/>
          <p:cNvSpPr txBox="1"/>
          <p:nvPr/>
        </p:nvSpPr>
        <p:spPr>
          <a:xfrm>
            <a:off x="1188720" y="3931920"/>
            <a:ext cx="7498080" cy="548640"/>
          </a:xfrm>
          <a:prstGeom prst="rect">
            <a:avLst/>
          </a:prstGeom>
          <a:noFill/>
          <a:ln/>
        </p:spPr>
        <p:txBody>
          <a:bodyPr wrap="square" lIns="0" tIns="0" rIns="0" bIns="0" rtlCol="0" anchor="ctr"/>
          <a:lstStyle/>
          <a:p>
            <a:pPr marL="0" indent="0">
              <a:buNone/>
            </a:pPr>
            <a:r>
              <a:rPr lang="en-US" sz="1600" dirty="0">
                <a:solidFill>
                  <a:schemeClr val="bg1"/>
                </a:solidFill>
              </a:rPr>
              <a:t>2026 focus: SQL Connect, AI Logic and agent-assisted development</a:t>
            </a:r>
            <a:endParaRPr lang="en-US" sz="16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200" b="1" dirty="0">
                <a:solidFill>
                  <a:schemeClr val="tx1"/>
                </a:solidFill>
              </a:rPr>
              <a:t>References</a:t>
            </a:r>
            <a:endParaRPr lang="en-US" sz="3200" dirty="0"/>
          </a:p>
        </p:txBody>
      </p:sp>
      <p:sp>
        <p:nvSpPr>
          <p:cNvPr id="3" name="Text 380"/>
          <p:cNvSpPr txBox="1"/>
          <p:nvPr/>
        </p:nvSpPr>
        <p:spPr>
          <a:xfrm>
            <a:off x="457200" y="1143000"/>
            <a:ext cx="8229600" cy="32461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Firebase Documentation: firebase.google.com/docs</a:t>
            </a:r>
            <a:endParaRPr lang="en-US" sz="1200" dirty="0"/>
          </a:p>
          <a:p>
            <a:pPr marL="342900" indent="-342900">
              <a:spcAft>
                <a:spcPts val="300"/>
              </a:spcAft>
              <a:buSzPct val="100000"/>
              <a:buChar char="•"/>
            </a:pPr>
            <a:r>
              <a:rPr lang="en-US" sz="1200" dirty="0">
                <a:solidFill>
                  <a:schemeClr val="tx1"/>
                </a:solidFill>
              </a:rPr>
              <a:t>Firebase Release Notes (SDK and CLI versions): firebase.google.com/support/releases</a:t>
            </a:r>
            <a:endParaRPr lang="en-US" sz="1200" dirty="0"/>
          </a:p>
          <a:p>
            <a:pPr marL="342900" indent="-342900">
              <a:spcAft>
                <a:spcPts val="300"/>
              </a:spcAft>
              <a:buSzPct val="100000"/>
              <a:buChar char="•"/>
            </a:pPr>
            <a:r>
              <a:rPr lang="en-US" sz="1200" dirty="0">
                <a:solidFill>
                  <a:schemeClr val="tx1"/>
                </a:solidFill>
              </a:rPr>
              <a:t>"What's new from Firebase at Google I/O 2026": firebase.blog/posts/2026/05/google-io-2026-announcements</a:t>
            </a:r>
            <a:endParaRPr lang="en-US" sz="1200" dirty="0"/>
          </a:p>
          <a:p>
            <a:pPr marL="342900" indent="-342900">
              <a:spcAft>
                <a:spcPts val="300"/>
              </a:spcAft>
              <a:buSzPct val="100000"/>
              <a:buChar char="•"/>
            </a:pPr>
            <a:r>
              <a:rPr lang="en-US" sz="1200" dirty="0">
                <a:solidFill>
                  <a:schemeClr val="tx1"/>
                </a:solidFill>
              </a:rPr>
              <a:t>"What's new from Firebase at Cloud Next 2026": firebase.blog/posts/2026/04/Cloud-Next-2026-announcements</a:t>
            </a:r>
            <a:endParaRPr lang="en-US" sz="1200" dirty="0"/>
          </a:p>
          <a:p>
            <a:pPr marL="342900" indent="-342900">
              <a:spcAft>
                <a:spcPts val="300"/>
              </a:spcAft>
              <a:buSzPct val="100000"/>
              <a:buChar char="•"/>
            </a:pPr>
            <a:r>
              <a:rPr lang="en-US" sz="1200" dirty="0">
                <a:solidFill>
                  <a:schemeClr val="tx1"/>
                </a:solidFill>
              </a:rPr>
              <a:t>"Firebase" (history): en.wikipedia.org/wiki/Firebase</a:t>
            </a:r>
            <a:endParaRPr lang="en-US" sz="1200" dirty="0"/>
          </a:p>
          <a:p>
            <a:pPr marL="342900" indent="-342900">
              <a:spcAft>
                <a:spcPts val="300"/>
              </a:spcAft>
              <a:buSzPct val="100000"/>
              <a:buChar char="•"/>
            </a:pPr>
            <a:r>
              <a:rPr lang="en-US" sz="1200" dirty="0">
                <a:solidFill>
                  <a:schemeClr val="tx1"/>
                </a:solidFill>
              </a:rPr>
              <a:t>"Adding free usage to Blaze pricing plan": firebase.googleblog.com/2018/03/adding-free-usage-to-blaze-pricing-plan.html</a:t>
            </a:r>
            <a:endParaRPr lang="en-US" sz="1200" dirty="0"/>
          </a:p>
          <a:p>
            <a:pPr marL="342900" indent="-342900">
              <a:spcAft>
                <a:spcPts val="300"/>
              </a:spcAft>
              <a:buSzPct val="100000"/>
              <a:buChar char="•"/>
            </a:pPr>
            <a:r>
              <a:rPr lang="en-US" sz="1200" dirty="0">
                <a:solidFill>
                  <a:schemeClr val="tx1"/>
                </a:solidFill>
              </a:rPr>
              <a:t>"Firebase Pricing for Dummies": blog.back4app.com/firebase-pricing</a:t>
            </a:r>
            <a:endParaRPr lang="en-US" sz="1200" dirty="0"/>
          </a:p>
          <a:p>
            <a:pPr marL="342900" indent="-342900">
              <a:spcAft>
                <a:spcPts val="300"/>
              </a:spcAft>
              <a:buSzPct val="100000"/>
              <a:buChar char="•"/>
            </a:pPr>
            <a:r>
              <a:rPr lang="en-US" sz="1200" dirty="0">
                <a:solidFill>
                  <a:schemeClr val="tx1"/>
                </a:solidFill>
              </a:rPr>
              <a:t>"Firebase Success Stories": blog.back4app.com/firebase-success-stories</a:t>
            </a:r>
            <a:endParaRPr lang="en-US" sz="1200" dirty="0"/>
          </a:p>
          <a:p>
            <a:pPr marL="342900" indent="-342900">
              <a:spcAft>
                <a:spcPts val="300"/>
              </a:spcAft>
              <a:buSzPct val="100000"/>
              <a:buChar char="•"/>
            </a:pPr>
            <a:r>
              <a:rPr lang="en-US" sz="1200" dirty="0">
                <a:solidFill>
                  <a:schemeClr val="tx1"/>
                </a:solidFill>
              </a:rPr>
              <a:t>"Companies That Use Firebase": careerkarma.com/blog/companies-that-use-firebase</a:t>
            </a:r>
            <a:endParaRPr lang="en-US" sz="1200" dirty="0"/>
          </a:p>
          <a:p>
            <a:pPr marL="342900" indent="-342900">
              <a:spcAft>
                <a:spcPts val="300"/>
              </a:spcAft>
              <a:buSzPct val="100000"/>
              <a:buChar char="•"/>
            </a:pPr>
            <a:r>
              <a:rPr lang="en-US" sz="1200" dirty="0">
                <a:solidFill>
                  <a:schemeClr val="tx1"/>
                </a:solidFill>
              </a:rPr>
              <a:t>Firebase case study (Noroff): library.noroff.dev/baas/firebase</a:t>
            </a:r>
            <a:endParaRPr lang="en-US" sz="1200" dirty="0"/>
          </a:p>
          <a:p>
            <a:pPr marL="342900" indent="-342900">
              <a:spcAft>
                <a:spcPts val="300"/>
              </a:spcAft>
              <a:buSzPct val="100000"/>
              <a:buChar char="•"/>
            </a:pPr>
            <a:r>
              <a:rPr lang="en-US" sz="1200" dirty="0">
                <a:solidFill>
                  <a:schemeClr val="tx1"/>
                </a:solidFill>
              </a:rPr>
              <a:t>FlutterFire documentation: firebase.flutter.dev</a:t>
            </a:r>
            <a:endParaRPr lang="en-US" sz="1200" dirty="0"/>
          </a:p>
        </p:txBody>
      </p:sp>
      <p:sp>
        <p:nvSpPr>
          <p:cNvPr id="4" name="Text 381"/>
          <p:cNvSpPr txBox="1"/>
          <p:nvPr/>
        </p:nvSpPr>
        <p:spPr>
          <a:xfrm>
            <a:off x="457200" y="4434840"/>
            <a:ext cx="8229600" cy="274320"/>
          </a:xfrm>
          <a:prstGeom prst="rect">
            <a:avLst/>
          </a:prstGeom>
          <a:noFill/>
          <a:ln/>
        </p:spPr>
        <p:txBody>
          <a:bodyPr wrap="square" lIns="0" tIns="0" rIns="0" bIns="0" rtlCol="0" anchor="ctr"/>
          <a:lstStyle/>
          <a:p>
            <a:pPr marL="0" indent="0">
              <a:buNone/>
            </a:pPr>
            <a:r>
              <a:rPr lang="en-US" sz="1200" i="1" dirty="0">
                <a:solidFill>
                  <a:schemeClr val="tx2"/>
                </a:solidFill>
              </a:rPr>
              <a:t>Diagrams and wireframes in this deck are original. Pricing and version details change often; verify on the official Firebase site.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822960"/>
            <a:ext cx="4937760" cy="2194560"/>
          </a:xfrm>
          <a:prstGeom prst="rect">
            <a:avLst/>
          </a:prstGeom>
          <a:noFill/>
          <a:ln/>
        </p:spPr>
        <p:txBody>
          <a:bodyPr wrap="square" lIns="0" tIns="0" rIns="0" bIns="0" rtlCol="0" anchor="b"/>
          <a:lstStyle/>
          <a:p>
            <a:pPr marL="0" indent="0" algn="l">
              <a:buNone/>
            </a:pPr>
            <a:r>
              <a:rPr lang="en-US" sz="3800" b="1" dirty="0">
                <a:solidFill>
                  <a:schemeClr val="bg1"/>
                </a:solidFill>
              </a:rPr>
              <a:t>Thank you</a:t>
            </a:r>
            <a:endParaRPr lang="en-US" sz="3800" dirty="0"/>
          </a:p>
        </p:txBody>
      </p:sp>
      <p:sp>
        <p:nvSpPr>
          <p:cNvPr id="3" name="Text 1"/>
          <p:cNvSpPr>
            <a:spLocks noGrp="1"/>
          </p:cNvSpPr>
          <p:nvPr>
            <p:ph type="body" idx="102" hasCustomPrompt="1"/>
          </p:nvPr>
        </p:nvSpPr>
        <p:spPr>
          <a:xfrm>
            <a:off x="548640" y="3246120"/>
            <a:ext cx="4937760" cy="1188720"/>
          </a:xfrm>
          <a:prstGeom prst="rect">
            <a:avLst/>
          </a:prstGeom>
          <a:noFill/>
          <a:ln/>
        </p:spPr>
        <p:txBody>
          <a:bodyPr wrap="square" lIns="0" tIns="0" rIns="0" bIns="0" rtlCol="0" anchor="t"/>
          <a:lstStyle/>
          <a:p>
            <a:pPr marL="0" indent="0">
              <a:spcAft>
                <a:spcPts val="600"/>
              </a:spcAft>
              <a:buNone/>
            </a:pPr>
            <a:r>
              <a:rPr lang="en-US" sz="2400" b="1" dirty="0">
                <a:solidFill>
                  <a:schemeClr val="accent2"/>
                </a:solidFill>
              </a:rPr>
              <a:t>Questions?</a:t>
            </a:r>
            <a:endParaRPr lang="en-US" sz="1600" dirty="0"/>
          </a:p>
          <a:p>
            <a:pPr marL="0" indent="0">
              <a:buNone/>
            </a:pPr>
            <a:r>
              <a:rPr lang="en-US" sz="1400" dirty="0">
                <a:solidFill>
                  <a:schemeClr val="accent6"/>
                </a:solidFill>
              </a:rPr>
              <a:t>Each speaker answers questions on their own section.</a:t>
            </a:r>
            <a:endParaRPr lang="en-US" sz="1600" dirty="0"/>
          </a:p>
        </p:txBody>
      </p:sp>
      <p:sp>
        <p:nvSpPr>
          <p:cNvPr id="4" name="Hero circle 370"/>
          <p:cNvSpPr/>
          <p:nvPr/>
        </p:nvSpPr>
        <p:spPr>
          <a:xfrm>
            <a:off x="6400800" y="1371600"/>
            <a:ext cx="2194560" cy="2194560"/>
          </a:xfrm>
          <a:prstGeom prst="ellipse">
            <a:avLst/>
          </a:prstGeom>
          <a:solidFill>
            <a:schemeClr val="accent2"/>
          </a:solidFill>
          <a:ln/>
        </p:spPr>
      </p:sp>
      <p:pic>
        <p:nvPicPr>
          <p:cNvPr id="5" name="Hero icon 371" descr="Fire icon (Firebase flame)"/>
          <p:cNvPicPr>
            <a:picLocks noChangeAspect="1"/>
          </p:cNvPicPr>
          <p:nvPr/>
        </p:nvPicPr>
        <p:blipFill>
          <a:blip r:embed="rId3"/>
          <a:stretch>
            <a:fillRect/>
          </a:stretch>
        </p:blipFill>
        <p:spPr>
          <a:xfrm>
            <a:off x="6949440" y="1920240"/>
            <a:ext cx="1097280" cy="1097280"/>
          </a:xfrm>
          <a:prstGeom prst="rect">
            <a:avLst/>
          </a:prstGeom>
        </p:spPr>
      </p:pic>
      <p:sp>
        <p:nvSpPr>
          <p:cNvPr id="6" name="Icon circle 372"/>
          <p:cNvSpPr/>
          <p:nvPr/>
        </p:nvSpPr>
        <p:spPr>
          <a:xfrm>
            <a:off x="5669280" y="914400"/>
            <a:ext cx="731520" cy="731520"/>
          </a:xfrm>
          <a:prstGeom prst="ellipse">
            <a:avLst/>
          </a:prstGeom>
          <a:solidFill>
            <a:schemeClr val="accent4"/>
          </a:solidFill>
          <a:ln/>
        </p:spPr>
      </p:sp>
      <p:pic>
        <p:nvPicPr>
          <p:cNvPr id="7" name="Icon 373" descr="UserShield icon"/>
          <p:cNvPicPr>
            <a:picLocks noChangeAspect="1"/>
          </p:cNvPicPr>
          <p:nvPr/>
        </p:nvPicPr>
        <p:blipFill>
          <a:blip r:embed="rId4"/>
          <a:stretch>
            <a:fillRect/>
          </a:stretch>
        </p:blipFill>
        <p:spPr>
          <a:xfrm>
            <a:off x="5830214" y="1075334"/>
            <a:ext cx="409651" cy="409651"/>
          </a:xfrm>
          <a:prstGeom prst="rect">
            <a:avLst/>
          </a:prstGeom>
        </p:spPr>
      </p:pic>
      <p:sp>
        <p:nvSpPr>
          <p:cNvPr id="8" name="Icon circle 374"/>
          <p:cNvSpPr/>
          <p:nvPr/>
        </p:nvSpPr>
        <p:spPr>
          <a:xfrm>
            <a:off x="8138160" y="640080"/>
            <a:ext cx="731520" cy="731520"/>
          </a:xfrm>
          <a:prstGeom prst="ellipse">
            <a:avLst/>
          </a:prstGeom>
          <a:solidFill>
            <a:schemeClr val="accent3"/>
          </a:solidFill>
          <a:ln/>
        </p:spPr>
      </p:sp>
      <p:pic>
        <p:nvPicPr>
          <p:cNvPr id="9" name="Icon 375" descr="Database icon"/>
          <p:cNvPicPr>
            <a:picLocks noChangeAspect="1"/>
          </p:cNvPicPr>
          <p:nvPr/>
        </p:nvPicPr>
        <p:blipFill>
          <a:blip r:embed="rId5"/>
          <a:stretch>
            <a:fillRect/>
          </a:stretch>
        </p:blipFill>
        <p:spPr>
          <a:xfrm>
            <a:off x="8299094" y="801014"/>
            <a:ext cx="409651" cy="409651"/>
          </a:xfrm>
          <a:prstGeom prst="rect">
            <a:avLst/>
          </a:prstGeom>
        </p:spPr>
      </p:pic>
      <p:sp>
        <p:nvSpPr>
          <p:cNvPr id="10" name="Icon circle 376"/>
          <p:cNvSpPr/>
          <p:nvPr/>
        </p:nvSpPr>
        <p:spPr>
          <a:xfrm>
            <a:off x="5760720" y="3611880"/>
            <a:ext cx="731520" cy="731520"/>
          </a:xfrm>
          <a:prstGeom prst="ellipse">
            <a:avLst/>
          </a:prstGeom>
          <a:solidFill>
            <a:schemeClr val="accent1"/>
          </a:solidFill>
          <a:ln/>
        </p:spPr>
      </p:sp>
      <p:pic>
        <p:nvPicPr>
          <p:cNvPr id="11" name="Icon 377" descr="Bell icon"/>
          <p:cNvPicPr>
            <a:picLocks noChangeAspect="1"/>
          </p:cNvPicPr>
          <p:nvPr/>
        </p:nvPicPr>
        <p:blipFill>
          <a:blip r:embed="rId6"/>
          <a:stretch>
            <a:fillRect/>
          </a:stretch>
        </p:blipFill>
        <p:spPr>
          <a:xfrm>
            <a:off x="5921654" y="3772814"/>
            <a:ext cx="409651" cy="409651"/>
          </a:xfrm>
          <a:prstGeom prst="rect">
            <a:avLst/>
          </a:prstGeom>
        </p:spPr>
      </p:pic>
      <p:sp>
        <p:nvSpPr>
          <p:cNvPr id="12" name="Icon circle 378"/>
          <p:cNvSpPr/>
          <p:nvPr/>
        </p:nvSpPr>
        <p:spPr>
          <a:xfrm>
            <a:off x="8046720" y="3840480"/>
            <a:ext cx="731520" cy="731520"/>
          </a:xfrm>
          <a:prstGeom prst="ellipse">
            <a:avLst/>
          </a:prstGeom>
          <a:solidFill>
            <a:schemeClr val="accent4"/>
          </a:solidFill>
          <a:ln/>
        </p:spPr>
      </p:sp>
      <p:pic>
        <p:nvPicPr>
          <p:cNvPr id="13" name="Icon 379" descr="CloudUploadAlt icon"/>
          <p:cNvPicPr>
            <a:picLocks noChangeAspect="1"/>
          </p:cNvPicPr>
          <p:nvPr/>
        </p:nvPicPr>
        <p:blipFill>
          <a:blip r:embed="rId7"/>
          <a:stretch>
            <a:fillRect/>
          </a:stretch>
        </p:blipFill>
        <p:spPr>
          <a:xfrm>
            <a:off x="8207654" y="4001414"/>
            <a:ext cx="409651" cy="409651"/>
          </a:xfrm>
          <a:prstGeom prst="rect">
            <a:avLst/>
          </a:prstGeom>
        </p:spPr>
      </p:pic>
    </p:spTree>
  </p:cSld>
  <p:clrMapOvr>
    <a:masterClrMapping/>
  </p:clrMapOvr>
</p:sld>
</file>

<file path=ppt/theme/theme1.xml><?xml version="1.0" encoding="utf-8"?>
<a:theme xmlns:a="http://schemas.openxmlformats.org/drawingml/2006/main" name="Firebase Seminar">
  <a:themeElements>
    <a:clrScheme name="Firebase Seminar">
      <a:dk1>
        <a:srgbClr val="1B1F2A"/>
      </a:dk1>
      <a:lt1>
        <a:srgbClr val="FFFFFF"/>
      </a:lt1>
      <a:dk2>
        <a:srgbClr val="4B5563"/>
      </a:dk2>
      <a:lt2>
        <a:srgbClr val="F3F4F6"/>
      </a:lt2>
      <a:accent1>
        <a:srgbClr val="F57C00"/>
      </a:accent1>
      <a:accent2>
        <a:srgbClr val="FFCA28"/>
      </a:accent2>
      <a:accent3>
        <a:srgbClr val="0F9D8A"/>
      </a:accent3>
      <a:accent4>
        <a:srgbClr val="3949AB"/>
      </a:accent4>
      <a:accent5>
        <a:srgbClr val="D84315"/>
      </a:accent5>
      <a:accent6>
        <a:srgbClr val="78909C"/>
      </a:accent6>
      <a:hlink>
        <a:srgbClr val="F57C00"/>
      </a:hlink>
      <a:folHlink>
        <a:srgbClr val="78909C"/>
      </a:folHlink>
    </a:clrScheme>
    <a:fontScheme name="Firebase Semina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2477</Words>
  <Application>Microsoft Office PowerPoint</Application>
  <PresentationFormat>On-screen Show (16:9)</PresentationFormat>
  <Paragraphs>316</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vt:lpstr>
      <vt:lpstr>Courier New</vt:lpstr>
      <vt:lpstr>Firebase Seminar</vt:lpstr>
      <vt:lpstr>Firebase and Mobile Backend-as-a-Service</vt:lpstr>
      <vt:lpstr>Roadmap and speaker split</vt:lpstr>
      <vt:lpstr>What is Firebase?</vt:lpstr>
      <vt:lpstr>A brief history of Firebase</vt:lpstr>
      <vt:lpstr>Key characteristics</vt:lpstr>
      <vt:lpstr>Firebase service families</vt:lpstr>
      <vt:lpstr>How Firebase works</vt:lpstr>
      <vt:lpstr>Languages, SDKs and tools</vt:lpstr>
      <vt:lpstr>Real-world applications</vt:lpstr>
      <vt:lpstr>Benefits and challenges</vt:lpstr>
      <vt:lpstr>Demo: Auth and Firestore code</vt:lpstr>
      <vt:lpstr>Demo: build and run a task app</vt:lpstr>
      <vt:lpstr>Recent developments (2026)</vt:lpstr>
      <vt:lpstr>Future opportunities</vt:lpstr>
      <vt:lpstr>Key takeaways</vt:lpstr>
      <vt:lpstr>References</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Firebase and Mobile Backend-as-a-Service</dc:title>
  <dc:subject>Mobile Application Development seminar</dc:subject>
  <dc:creator>PptxGenJS</dc:creator>
  <cp:lastModifiedBy>PURVANSHU PATEL</cp:lastModifiedBy>
  <cp:revision>3</cp:revision>
  <dcterms:created xsi:type="dcterms:W3CDTF">2026-10-23T04:27:03Z</dcterms:created>
  <dcterms:modified xsi:type="dcterms:W3CDTF">2026-10-26T03:23:28Z</dcterms:modified>
</cp:coreProperties>
</file>